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2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2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2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2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3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3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3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openxmlformats.org/officeDocument/2006/relationships/image" Target="../media/image3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🌱 我的生命花園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800" b="0">
                <a:solidFill>
                  <a:srgbClr val="EDE7FF"/>
                </a:solidFill>
                <a:latin typeface="微軟正黑體"/>
                <a:ea typeface="微軟正黑體"/>
                <a:cs typeface="微軟正黑體"/>
              </a:rPr>
              <a:t>16 週兒童藝術 × 生命教育課程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3931920"/>
            <a:ext cx="6126480" cy="1737360"/>
          </a:xfrm>
          <a:prstGeom prst="rect">
            <a:avLst/>
          </a:prstGeom>
          <a:solidFill>
            <a:srgbClr val="6A57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4069080"/>
            <a:ext cx="576072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適用：國小一、二年級（6–8 歲）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16 週．每週 2 小時．8 件作品（每件 2 堂課 4 小時）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媒材：紙黏土・兒童繪畫・押花・拼貼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6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上課用簡報 ｜ 教師版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57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課程總覽 ｜ 8 件作品的生命旅程</a:t>
            </a:r>
          </a:p>
        </p:txBody>
      </p:sp>
      <p:pic>
        <p:nvPicPr>
          <p:cNvPr id="5" name="Picture 4" descr="00-課程總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488" y="1051560"/>
            <a:ext cx="2192718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生命教育四大主軸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2697480" cy="4206240"/>
          </a:xfrm>
          <a:prstGeom prst="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2697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697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7E57C2"/>
                </a:solidFill>
                <a:latin typeface="微軟正黑體"/>
                <a:ea typeface="微軟正黑體"/>
                <a:cs typeface="微軟正黑體"/>
              </a:rPr>
              <a:t>第1階段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7E57C2"/>
                </a:solidFill>
                <a:latin typeface="微軟正黑體"/>
                <a:ea typeface="微軟正黑體"/>
                <a:cs typeface="微軟正黑體"/>
              </a:rPr>
              <a:t>人與自己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242316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認識與接納自己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作品 1、2　情緒・自我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2152" y="1554480"/>
            <a:ext cx="2697480" cy="420624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2152" y="1554480"/>
            <a:ext cx="2697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719072"/>
            <a:ext cx="2697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第2階段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人與他人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834640"/>
            <a:ext cx="242316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愛與歸屬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作品 3、4　友誼・家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1554480"/>
            <a:ext cx="2697480" cy="420624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4224" y="1554480"/>
            <a:ext cx="2697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719072"/>
            <a:ext cx="2697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第3階段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人與自然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834640"/>
            <a:ext cx="242316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感恩與責任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作品 5、6　珍惜・環保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1554480"/>
            <a:ext cx="2697480" cy="420624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26296" y="1554480"/>
            <a:ext cx="269748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1719072"/>
            <a:ext cx="269748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第4階段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人與生命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2834640"/>
            <a:ext cx="2423160" cy="2743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蛻變與希望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1600" b="0">
                <a:solidFill>
                  <a:srgbClr val="F5F0FF"/>
                </a:solidFill>
                <a:latin typeface="微軟正黑體"/>
                <a:ea typeface="微軟正黑體"/>
                <a:cs typeface="微軟正黑體"/>
              </a:rPr>
              <a:t>作品 7、8　成長・夢想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每堂課固定節奏 ｜ 120 分鐘 = 100 分上課 + 20 分整理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27048"/>
            <a:ext cx="27432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① 心靈登陸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27048"/>
            <a:ext cx="20116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0–12 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27048"/>
            <a:ext cx="52120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故事／心情圈，安定情緒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04872"/>
            <a:ext cx="10515600" cy="9144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27432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② 技法魔法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14600"/>
            <a:ext cx="20116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12–27 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14600"/>
            <a:ext cx="52120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老師示範技法（好玩、步驟少）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392424"/>
            <a:ext cx="10515600" cy="9144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02152"/>
            <a:ext cx="27432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③ 沉浸創作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02152"/>
            <a:ext cx="20116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27–85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502152"/>
            <a:ext cx="52120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動手做（中間穿插伸展）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379976"/>
            <a:ext cx="10515600" cy="91440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489704"/>
            <a:ext cx="27432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④ 收心分享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89704"/>
            <a:ext cx="20116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85–100 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489704"/>
            <a:ext cx="52120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圍圈分享最喜歡的地方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367528"/>
            <a:ext cx="10515600" cy="91440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477256"/>
            <a:ext cx="27432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⑤ 整理環境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477256"/>
            <a:ext cx="20116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100–120 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477256"/>
            <a:ext cx="521208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收拾清潔、物歸原位、洗手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EB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1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我的魔法小宇宙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兒童繪畫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情緒覺察・自我肯定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W1–W2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E6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每個人心裡都住著一個專屬自己的小宇宙。用顏色表達心情，把喜歡的、在乎的放進星球裡——「我的世界，由我作主」。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「住在你的星球上，是什麼感覺？」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1｜我的魔法小宇宙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CDC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心情顏色圈：今天的心情是什麼顏色的星星？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示範渲染星空背景＋畫一顆圓圓的星球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畫專屬自己的魔法星球，放上喜歡的東西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分享：星球上住著什麼讓你最安心？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CDC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用白色顏料點出星星、流星、光點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為星球取名，背面寫「我的星球叫＿＿」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DEDA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5A48B0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把星球畫很小、孤零零，或整片塗黑不留光，可能反映信心或情緒低落。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接受所有樣子的宇宙；可邀請孩子放一顆只屬於自己的小光點。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1｜我的魔法小宇宙 — 學生作品範例（小一／小二）</a:t>
            </a:r>
          </a:p>
        </p:txBody>
      </p:sp>
      <p:pic>
        <p:nvPicPr>
          <p:cNvPr id="5" name="Picture 4" descr="work-01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EF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種子寶寶的家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紙黏土＋押花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生命的起點・等待與成長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W3–W4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EB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每一顆種子裡都藏著一棵大樹的夢想。我現在雖然小，但我正在長大。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「你的種子寶寶在等待長成什麼？」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2｜種子寶寶的家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D7E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故事：一顆種子的旅行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示範搓圓、壓扁、捏出小巢／小盆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捏一個家＋一顆有表情的種子寶寶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分享後陰乾一週（★下週才上色）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D7E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乾刷上色，呈現泥土的自然質感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用押花裝飾邊緣，為種子寶寶取名寫小牌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E4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7CB342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孩子對「捏歪、壓痕」的反應，有些孩子求好心切會焦慮。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痕跡就像種子的胎記；現在小小的，是因為還在長大。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2｜種子寶寶的家 — 學生作品範例（小一／小二）</a:t>
            </a:r>
          </a:p>
        </p:txBody>
      </p:sp>
      <p:pic>
        <p:nvPicPr>
          <p:cNvPr id="5" name="Picture 4" descr="work-02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3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手牽手好朋友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拼貼（撕紙）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友誼・合作・接納不同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W5–W6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E2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不同顏色、不同形狀的紙，拼在一起更漂亮。每個人都不一樣，但我們可以是好朋友。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「你朋友哪裡和你不一樣？為什麼還是喜歡他？」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3｜手牽手好朋友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C6E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聊聊：好朋友長什麼樣子？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示範手指撕紙，撕出有機毛邊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撕貼「我」和「好朋友」手牽手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分享我朋友最棒的一個地方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C6E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把每個人的小人接起來，貼成友誼鏈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在人與人之間貼上愛心、花朵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D9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42A5F5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習慣用剪刀的孩子可能對撕破焦慮；是否願意把作品接給別人。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差異是力量；撕壞的形狀剛好可以變成新創意。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3｜手牽手好朋友 — 學生作品範例（小一／小二）</a:t>
            </a:r>
          </a:p>
        </p:txBody>
      </p:sp>
      <p:pic>
        <p:nvPicPr>
          <p:cNvPr id="5" name="Picture 4" descr="work-03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FDE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4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我的溫暖小屋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紙黏土＋多媒材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家・愛與歸屬・安全感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W7–W8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FC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房子是「心理的避風港」。我有一個被愛的地方，可以安放珍貴的回憶。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「如果小屋會說話，它會怎麼安慰難過的你？」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4｜我的溫暖小屋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F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聊聊：家裡哪個角落讓你最安心？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示範做牆、屋頂、門、窗（結構加固）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搭出自己的小屋外型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分享門開或關？陰乾一週（★）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FAD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上色，用鈕扣、布、押花裝飾門窗花園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屋裡放一個最珍貴的小物（⚠️熱熔槍老師操作）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FBE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EF7043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門窗是開放還是緊閉？屋內放具象（家人）還是抽象（顏色）？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尊重隱私；不願分享就稱讚他很會保護自己的寶物。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4｜我的溫暖小屋 — 學生作品範例（小一／小二）</a:t>
            </a:r>
          </a:p>
        </p:txBody>
      </p:sp>
      <p:pic>
        <p:nvPicPr>
          <p:cNvPr id="5" name="Picture 4" descr="work-04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5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大自然的禮物書籤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押花＋繪畫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感恩・珍惜當下・四季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W9–W10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F2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一朵花被壓乾，把最美的樣子留下來。珍惜眼前，對大自然心懷感謝。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「這朵花換一種方式陪著你，你想對它說什麼？」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5｜大自然的禮物書籤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E5D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大自然尋寶（撿落葉、小花）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認識押花：為什麼花會變平變乾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畫出「我最喜歡的季節」底色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分享今天最感謝大自然的什麼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E5D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排列、黏貼押花成一幅小風景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護貝、穿緞帶（當堂完成可帶回）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EEE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AB7DF0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孩子排花是「滿滿塞」還是「留白」，反映內在節奏。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溫柔談無常——花謝了不是消失，是變成另一種美；重點是珍惜與感謝。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5｜大自然的禮物書籤 — 學生作品範例（小一／小二）</a:t>
            </a:r>
          </a:p>
        </p:txBody>
      </p:sp>
      <p:pic>
        <p:nvPicPr>
          <p:cNvPr id="5" name="Picture 4" descr="work-05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E0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6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海底好朋友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紙黏土＋繪畫（混媒）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愛護環境・保護生命・責任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W11–W12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D9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海洋裡住著好多生命，牠們需要乾淨的家。我可以保護比我更小的生命。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「小魚迷路了，你的畫裡哪裡可以當牠安全的家？」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6｜海底好朋友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B3E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聊聊：海裡都是垃圾，魚會怎樣？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示範藍綠漸層背景＋黏土魚、龜、珊瑚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畫海洋背景（黏土小物陰乾★）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分享想保護海裡的哪個朋友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B3E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黏土生物上色、組合，加泡泡海草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一起說一句「我會做到的環保小事」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CC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孩子是否願意留乾淨的空間給海洋生物。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把環保連到保護一個具體的小生命，比口號更打動孩子。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6｜海底好朋友 — 學生作品範例（小一／小二）</a:t>
            </a:r>
          </a:p>
        </p:txBody>
      </p:sp>
      <p:pic>
        <p:nvPicPr>
          <p:cNvPr id="5" name="Picture 4" descr="work-06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F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7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毛毛蟲變蝴蝶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拼貼＋押花（混媒）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成長蛻變・勇氣・希望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W13–W14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毛毛蟲要在黑黑的繭裡等待，才能長出翅膀。改變需要勇氣，也帶著盼望。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「蝴蝶在繭裡看不到外面，只能相信自己會長出翅膀，你也有需要這種勇氣的事嗎？」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7｜毛毛蟲變蝴蝶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F9D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看毛毛蟲變蝴蝶短片（或老師口述故事）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示範拼貼毛毛蟲＋做一個繭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做出毛毛蟲與繭，貼在左半邊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分享最近在等待或努力長大的事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F9D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右半邊做蝴蝶，押花拼貼對稱翅膀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完成「毛毛蟲→繭→蝴蝶」三格故事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FB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EC6FA0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做「繭（黑暗、等待）」這段時，孩子是否急著跳過。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蛻變伴隨等待與孤獨，但終會換來自由的翅膀。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7｜毛毛蟲變蝴蝶 — 學生作品範例（小一／小二）</a:t>
            </a:r>
          </a:p>
        </p:txBody>
      </p:sp>
      <p:pic>
        <p:nvPicPr>
          <p:cNvPr id="5" name="Picture 4" descr="work-07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E8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f-work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02920"/>
            <a:ext cx="4702629" cy="58521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640080"/>
            <a:ext cx="5486400" cy="13716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749808"/>
            <a:ext cx="512064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作品 8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我的生命樹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240280"/>
            <a:ext cx="548640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全混合媒材．總結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生命主題：</a:t>
            </a:r>
            <a:r>
              <a:rPr sz="1500" b="1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統整・感恩・夢想・圓滿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週次：</a:t>
            </a:r>
            <a:r>
              <a:rPr sz="15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W15–W16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3657600"/>
            <a:ext cx="5486400" cy="1371600"/>
          </a:xfrm>
          <a:prstGeom prst="rect">
            <a:avLst/>
          </a:prstGeom>
          <a:solidFill>
            <a:srgbClr val="E2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749039"/>
            <a:ext cx="5120640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生命連結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一棵樹有看不見的根、穩穩的幹、向上的枝、開花結果。我從哪裡來、靠誰支撐、想長成什麼樣子。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5257800"/>
            <a:ext cx="5486400" cy="109728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349240"/>
            <a:ext cx="512064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💬 對話金句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「你的根上有誰在支撐你？果實上的夢想是什麼？」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8｜我的生命樹 — 兩堂課流程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440680" cy="548640"/>
          </a:xfrm>
          <a:prstGeom prst="rect">
            <a:avLst/>
          </a:prstGeom>
          <a:solidFill>
            <a:srgbClr val="C6E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第 1 堂（100 分上課＋20 分整理）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回顧前 7 件作品照片牆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示範畫／拼貼樹的根、幹、枝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3. 根（拼貼）寫支撐我的人；幹（繪畫）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4. 分享：你的根上有誰？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440680" cy="548640"/>
          </a:xfrm>
          <a:prstGeom prst="rect">
            <a:avLst/>
          </a:prstGeom>
          <a:solidFill>
            <a:srgbClr val="C6E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43584"/>
            <a:ext cx="507492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第 2 堂（100 分上課＋20 分整理）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5166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1. 押花當葉與花、紙黏土果實寫夢想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 上台介紹生命樹＋頒「小園丁」證書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709160"/>
            <a:ext cx="11201400" cy="1783080"/>
          </a:xfrm>
          <a:prstGeom prst="rect">
            <a:avLst/>
          </a:prstGeom>
          <a:solidFill>
            <a:srgbClr val="D9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789920" cy="1645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43A047"/>
                </a:solidFill>
                <a:latin typeface="微軟正黑體"/>
                <a:ea typeface="微軟正黑體"/>
                <a:cs typeface="微軟正黑體"/>
              </a:rPr>
              <a:t>💡 講師備忘錄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觀察重點：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根上寫了誰？果實（夢想）務實或天馬行空都珍貴。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生命提醒：</a:t>
            </a:r>
            <a:r>
              <a:rPr sz="14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總結不在作品完美，而在能說出「我是被很多愛支撐著長大的」。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"/>
            <a:ext cx="1124712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 8｜我的生命樹 — 學生作品範例（小一／小二）</a:t>
            </a:r>
          </a:p>
        </p:txBody>
      </p:sp>
      <p:pic>
        <p:nvPicPr>
          <p:cNvPr id="5" name="Picture 4" descr="work-08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57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16 週學期行事曆（★=作品需陰乾跨週）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743200" cy="1737360"/>
          </a:xfrm>
          <a:prstGeom prst="rect">
            <a:avLst/>
          </a:prstGeom>
          <a:solidFill>
            <a:srgbClr val="5A4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W1–2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作品1 魔法小宇宙</a:t>
            </a:r>
          </a:p>
        </p:txBody>
      </p:sp>
      <p:sp>
        <p:nvSpPr>
          <p:cNvPr id="7" name="Rectangle 6"/>
          <p:cNvSpPr/>
          <p:nvPr/>
        </p:nvSpPr>
        <p:spPr>
          <a:xfrm>
            <a:off x="3547872" y="1417320"/>
            <a:ext cx="2743200" cy="1737360"/>
          </a:xfrm>
          <a:prstGeom prst="rect">
            <a:avLst/>
          </a:prstGeom>
          <a:solidFill>
            <a:srgbClr val="7CB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60020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W3–4 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作品2 種子寶寶的家</a:t>
            </a:r>
          </a:p>
        </p:txBody>
      </p:sp>
      <p:sp>
        <p:nvSpPr>
          <p:cNvPr id="9" name="Rectangle 8"/>
          <p:cNvSpPr/>
          <p:nvPr/>
        </p:nvSpPr>
        <p:spPr>
          <a:xfrm>
            <a:off x="6455664" y="1417320"/>
            <a:ext cx="2743200" cy="173736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2824" y="160020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W5–6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作品3 手牽手好朋友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63456" y="1417320"/>
            <a:ext cx="2743200" cy="1737360"/>
          </a:xfrm>
          <a:prstGeom prst="rect">
            <a:avLst/>
          </a:prstGeom>
          <a:solidFill>
            <a:srgbClr val="EF7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0616" y="160020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W7–8 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作品4 溫暖小屋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2743200" cy="1737360"/>
          </a:xfrm>
          <a:prstGeom prst="rect">
            <a:avLst/>
          </a:prstGeom>
          <a:solidFill>
            <a:srgbClr val="AB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W9–10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作品5 大自然書籤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3383280"/>
            <a:ext cx="2743200" cy="17373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356616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W11–12 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作品6 海底好朋友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55664" y="3383280"/>
            <a:ext cx="2743200" cy="1737360"/>
          </a:xfrm>
          <a:prstGeom prst="rect">
            <a:avLst/>
          </a:prstGeom>
          <a:solidFill>
            <a:srgbClr val="EC6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92824" y="356616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W13–14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作品7 毛毛蟲變蝴蝶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3456" y="3383280"/>
            <a:ext cx="2743200" cy="17373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0616" y="3566160"/>
            <a:ext cx="2468880" cy="1371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W15–16 ★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作品8 生命樹＋成果展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2560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🌻 我們的約定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2400" b="0">
                <a:solidFill>
                  <a:srgbClr val="EAFBEA"/>
                </a:solidFill>
                <a:latin typeface="微軟正黑體"/>
                <a:ea typeface="微軟正黑體"/>
                <a:cs typeface="微軟正黑體"/>
              </a:rPr>
              <a:t>這 16 週，孩子不只帶走 8 件作品，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2400" b="0">
                <a:solidFill>
                  <a:srgbClr val="EAFBEA"/>
                </a:solidFill>
                <a:latin typeface="微軟正黑體"/>
                <a:ea typeface="微軟正黑體"/>
                <a:cs typeface="微軟正黑體"/>
              </a:rPr>
              <a:t>更帶走一座「屬於自己的生命花園」——</a:t>
            </a: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sz="2400" b="1">
                <a:solidFill>
                  <a:srgbClr val="FFF9C4"/>
                </a:solidFill>
                <a:latin typeface="微軟正黑體"/>
                <a:ea typeface="微軟正黑體"/>
                <a:cs typeface="微軟正黑體"/>
              </a:rPr>
              <a:t>知道自己有光、會長大、被愛著，也能去愛人與這個世界。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