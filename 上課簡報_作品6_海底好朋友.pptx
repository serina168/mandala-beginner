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4" r:id="rId15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B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4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今天我們要一起做～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852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999999"/>
                </a:solidFill>
                <a:latin typeface="微軟正黑體"/>
                <a:ea typeface="微軟正黑體"/>
                <a:cs typeface="微軟正黑體"/>
              </a:rPr>
              <a:t>作品 6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海底好朋友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657600"/>
            <a:ext cx="5486400" cy="1554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媒材：</a:t>
            </a:r>
            <a:r>
              <a:rPr sz="1800" b="0">
                <a:solidFill>
                  <a:srgbClr val="444444"/>
                </a:solidFill>
                <a:latin typeface="微軟正黑體"/>
                <a:ea typeface="微軟正黑體"/>
                <a:cs typeface="微軟正黑體"/>
              </a:rPr>
              <a:t>紙黏土＋繪畫</a:t>
            </a:r>
          </a:p>
        </p:txBody>
      </p:sp>
      <p:pic>
        <p:nvPicPr>
          <p:cNvPr id="9" name="Picture 8" descr="ref-work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86" y="502920"/>
            <a:ext cx="4702629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先聊一聊～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CCE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</a:pPr>
            <a:r>
              <a:rPr sz="4000" b="1">
                <a:solidFill>
                  <a:srgbClr val="039BE5"/>
                </a:solidFill>
                <a:latin typeface="微軟正黑體"/>
                <a:ea typeface="微軟正黑體"/>
                <a:cs typeface="微軟正黑體"/>
              </a:rPr>
              <a:t>如果海裡都是垃圾，小魚會怎麼樣？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我們要用的材料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水彩</a:t>
            </a:r>
          </a:p>
        </p:txBody>
      </p:sp>
      <p:sp>
        <p:nvSpPr>
          <p:cNvPr id="7" name="Rectangle 6"/>
          <p:cNvSpPr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紙黏土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白膠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6207" y="2286000"/>
            <a:ext cx="246888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圖畫紙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2200" b="0">
                <a:solidFill>
                  <a:srgbClr val="888888"/>
                </a:solidFill>
                <a:latin typeface="微軟正黑體"/>
                <a:ea typeface="微軟正黑體"/>
                <a:cs typeface="微軟正黑體"/>
              </a:rPr>
              <a:t>（老師會先示範給大家看喔！）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第一次上課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聊聊海洋和牠的朋友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畫藍藍的海做背景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712464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4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712464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捏小魚、海龜和珊瑚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第二次上課　怎麼做？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2860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FFF3C4"/>
                </a:solidFill>
                <a:latin typeface="微軟正黑體"/>
                <a:ea typeface="微軟正黑體"/>
                <a:cs typeface="微軟正黑體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554480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幫海洋朋友上色、貼上去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33472"/>
            <a:ext cx="868680" cy="868680"/>
          </a:xfrm>
          <a:prstGeom prst="ellipse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33472"/>
            <a:ext cx="91440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加上泡泡，說一件環保小事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看看別的小朋友做的～</a:t>
            </a:r>
          </a:p>
        </p:txBody>
      </p:sp>
      <p:pic>
        <p:nvPicPr>
          <p:cNvPr id="5" name="Picture 4" descr="work-06-compar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687" y="1572768"/>
            <a:ext cx="71323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6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一起想一想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828800"/>
            <a:ext cx="9966960" cy="3108960"/>
          </a:xfrm>
          <a:prstGeom prst="rect">
            <a:avLst/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41832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800"/>
              </a:spcAft>
            </a:pPr>
            <a:r>
              <a:rPr sz="3800" b="1">
                <a:solidFill>
                  <a:srgbClr val="C0392B"/>
                </a:solidFill>
                <a:latin typeface="微軟正黑體"/>
                <a:ea typeface="微軟正黑體"/>
                <a:cs typeface="微軟正黑體"/>
              </a:rPr>
              <a:t>小魚迷路了，你的畫裡哪裡可以當牠的家？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9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C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4400" b="1">
                <a:solidFill>
                  <a:srgbClr val="FFE082"/>
                </a:solidFill>
                <a:latin typeface="微軟正黑體"/>
                <a:ea typeface="微軟正黑體"/>
                <a:cs typeface="微軟正黑體"/>
              </a:rPr>
              <a:t>我們完成了！　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一起把桌子收拾乾淨、工具放回家，</a:t>
            </a:r>
          </a:p>
          <a:p>
            <a:pPr algn="ctr">
              <a:lnSpc>
                <a:spcPct val="120000"/>
              </a:lnSpc>
              <a:spcAft>
                <a:spcPts val="1400"/>
              </a:spcAft>
            </a:pPr>
            <a:r>
              <a:rPr sz="2600" b="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rPr>
              <a:t>再跟大家分享：我最喜歡自己作品的哪裡？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5B3A8E"/>
                </a:solidFill>
              </a:rPr>
              <a:t>🔧 製作步驟（圖解）</a:t>
            </a:r>
          </a:p>
        </p:txBody>
      </p:sp>
      <p:pic>
        <p:nvPicPr>
          <p:cNvPr id="3" name="Picture 2" descr="work-06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600200"/>
            <a:ext cx="11521440" cy="4215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