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trai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097" y="0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　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0" cy="521208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第一篇　教學理念與方法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1. 才藝老師的角色與信念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2. 認識孩子：小一小二發展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3. 教學三大原則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4. 生命教育四大主軸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5. 四大媒材教學要點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6. 一堂課的流程節奏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7. 對話引導與回應技巧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8. 班級經營與狀況處理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9. 安全衛生・評量・試教評核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86400" cy="521208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325880"/>
            <a:ext cx="51206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第二篇　課程實作（16 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課程總覽 ・ 四大主軸 ・ 節奏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作品1 我的魔法小宇宙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作品4 我的溫暖小屋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作品8 我的生命樹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學期行事曆 ・ 成果展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3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第一篇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教學理念與方法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F3EEFF"/>
                </a:solidFill>
                <a:latin typeface="微軟正黑體"/>
                <a:ea typeface="微軟正黑體"/>
                <a:cs typeface="微軟正黑體"/>
              </a:rPr>
              <a:t>講師培訓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才藝老師：三種身分 × 三大原則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3566160" cy="201168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示範者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技法教學時：步驟少、誇張、好玩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234440"/>
            <a:ext cx="3566160" cy="20116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觀察者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孩子創作時：退到旁邊，看見每個孩子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1234440"/>
            <a:ext cx="3566160" cy="20116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71600"/>
            <a:ext cx="32004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陪伴者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卡關／情緒時：接住情緒、提好問題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11880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85032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① 手作優先、語言其次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先動手體驗，再用問句引導，不說教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07992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81144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② 沒有失敗的作品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畫歪捏破都是「獨一無二的痕跡」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04104"/>
            <a:ext cx="11109960" cy="77724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77256"/>
            <a:ext cx="10607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③ 每件作品都能帶回家　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完成度＞精緻度，帶著成就感回家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認識孩子：小一・小二發展特質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394960" cy="219456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認知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具體運思起點——先做再說、喜歡故事與擬人化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394960" cy="21945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動作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手部精細動作發展中——留大塊面、可容錯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5394960" cy="21945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專注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單一活動約 15–20 分鐘——分段、可預期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57600"/>
            <a:ext cx="539496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840480"/>
            <a:ext cx="493776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情緒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在意被看見與肯定——需練習分享與接納不同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生命教育四大主軸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697480" cy="420624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第1階段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7E57C2"/>
                </a:solidFill>
                <a:latin typeface="微軟正黑體"/>
                <a:ea typeface="微軟正黑體"/>
                <a:cs typeface="微軟正黑體"/>
              </a:rPr>
              <a:t>人與自己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認識與接納自己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1、2　情緒・自我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2152" y="1554480"/>
            <a:ext cx="2697480" cy="420624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2152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第2階段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人與他人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愛與歸屬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3、4　友誼・家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4224" y="1554480"/>
            <a:ext cx="2697480" cy="420624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4224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第3階段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人與自然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感恩與責任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5、6　珍惜・環保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554480"/>
            <a:ext cx="2697480" cy="420624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26296" y="1554480"/>
            <a:ext cx="26974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1719072"/>
            <a:ext cx="269748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第4階段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人與生命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834640"/>
            <a:ext cx="242316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蛻變與希望</a:t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ctr">
              <a:lnSpc>
                <a:spcPct val="100000"/>
              </a:lnSpc>
              <a:spcAft>
                <a:spcPts val="1000"/>
              </a:spcAft>
            </a:pPr>
            <a:r>
              <a:rPr sz="1600" b="0">
                <a:solidFill>
                  <a:srgbClr val="F5F0FF"/>
                </a:solidFill>
                <a:latin typeface="微軟正黑體"/>
                <a:ea typeface="微軟正黑體"/>
                <a:cs typeface="微軟正黑體"/>
              </a:rPr>
              <a:t>作品 7、8　成長・夢想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每堂課固定節奏 ｜ 120 分鐘 = 100 分上課 + 20 分整理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① 心靈登陸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27048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0–12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527048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故事／心情圈，安定情緒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404872"/>
            <a:ext cx="10515600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② 技法魔法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12–27 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14600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老師示範技法（好玩、步驟少）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92424"/>
            <a:ext cx="10515600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02152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③ 沉浸創作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502152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27–85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502152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動手做（中間穿插伸展）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379976"/>
            <a:ext cx="10515600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489704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④ 收心分享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89704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85–100 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89704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圍圈分享最喜歡的地方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67528"/>
            <a:ext cx="10515600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477256"/>
            <a:ext cx="274320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⑤ 整理環境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477256"/>
            <a:ext cx="20116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100–120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477256"/>
            <a:ext cx="52120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收拾清潔、物歸原位、洗手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四大媒材教學要點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2697480" cy="4937760"/>
          </a:xfrm>
          <a:prstGeom prst="rect">
            <a:avLst/>
          </a:prstGeom>
          <a:solidFill>
            <a:srgbClr val="C49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C49A6C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搓圓壓扁捏合・接合沾水/牙籤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立體需陰乾5–7天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接納不完美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234440"/>
            <a:ext cx="2697480" cy="49377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5848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濕畫渲染、疊色、點刷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不敢下筆→陪畫第一筆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用顏色表達情緒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8776" y="1234440"/>
            <a:ext cx="2697480" cy="49377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8776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鑷子輕點輕放、護貝保護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提前2–3週壓製・易碎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珍惜當下與感恩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1234440"/>
            <a:ext cx="2697480" cy="49377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61704" y="1234440"/>
            <a:ext cx="269748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1704" y="1325880"/>
            <a:ext cx="26974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拼貼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103120"/>
            <a:ext cx="2377440" cy="3931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技法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手指撕紙、大塊面構圖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常見問題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怕撕破→破口變創意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3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接納差異與合作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對話引導：不評價，要好奇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5486400" cy="548640"/>
          </a:xfrm>
          <a:prstGeom prst="rect">
            <a:avLst/>
          </a:prstGeom>
          <a:solidFill>
            <a:srgbClr val="E57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1206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別說（評價）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234440"/>
            <a:ext cx="5486400" cy="54864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1206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改說（好奇與連結）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023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「畫得好漂亮！」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7451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3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「這裡是什麼感覺？你想說什麼故事？」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9747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4319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「畫得好像喔！」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69747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74319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「這看起來很有你的精神。」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39"/>
            <a:ext cx="5486400" cy="731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6615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「太陽要畫黃色啦」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520439"/>
            <a:ext cx="5486400" cy="731520"/>
          </a:xfrm>
          <a:prstGeom prst="rect">
            <a:avLst/>
          </a:prstGeom>
          <a:solidFill>
            <a:srgbClr val="EA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566159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「你的太陽在休息嗎？還是在保護你？」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6280"/>
            <a:ext cx="11109960" cy="1737360"/>
          </a:xfrm>
          <a:prstGeom prst="rect">
            <a:avLst/>
          </a:prstGeom>
          <a:solidFill>
            <a:srgbClr val="F2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617720"/>
            <a:ext cx="1060704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提問四式：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感受／故事／連結／選擇（把主導權還給孩子）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6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回應三步驟：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① 接住情緒 → ② 好奇發生什麼 → ③ 把決定還給孩子（不替他完成）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班級經營與常見狀況處理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4572000" cy="50292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2062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狀況</a:t>
            </a:r>
          </a:p>
        </p:txBody>
      </p:sp>
      <p:sp>
        <p:nvSpPr>
          <p:cNvPr id="7" name="Rectangle 6"/>
          <p:cNvSpPr/>
          <p:nvPr/>
        </p:nvSpPr>
        <p:spPr>
          <a:xfrm>
            <a:off x="5166360" y="1234440"/>
            <a:ext cx="6492240" cy="50292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280160"/>
            <a:ext cx="612648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處理方式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不敢下筆／畫很小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66360" y="181051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185623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陪畫第一筆、淡淡定位、強調沒有失敗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457200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919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「我畫壞了！」要重來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2633472"/>
            <a:ext cx="649224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67919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把失誤轉成創意，示範痕跡的故事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5643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0215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搶材料／不願分享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66360" y="345643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0" y="350215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事前分配、計時器輪流、合作前約定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457200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情緒崩潰、放棄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4279392"/>
            <a:ext cx="6492240" cy="749808"/>
          </a:xfrm>
          <a:prstGeom prst="rect">
            <a:avLst/>
          </a:prstGeom>
          <a:solidFill>
            <a:srgbClr val="F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0" y="432511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先離開作品、陪伴情緒，不急著回任務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2"/>
            <a:ext cx="45720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148072"/>
            <a:ext cx="42062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A3FB0"/>
                </a:solidFill>
                <a:latin typeface="微軟正黑體"/>
                <a:ea typeface="微軟正黑體"/>
                <a:cs typeface="微軟正黑體"/>
              </a:rPr>
              <a:t>整片塗黑、畫面陰暗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66360" y="5102352"/>
            <a:ext cx="649224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49240" y="5148072"/>
            <a:ext cx="612648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不驚慌、溫柔好奇，必要時與導師溝通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989320"/>
            <a:ext cx="11109960" cy="50292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016752"/>
            <a:ext cx="1060704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⚠ 紅線：</a:t>
            </a:r>
            <a:r>
              <a:rPr sz="14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作品／言語反覆出現傷害或疑似受虐，務必記錄並依規定通報。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4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安全衛生 ・ 評量 ・ 試教評核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3566160" cy="484632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安全與衛生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無毒安全標章媒材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小物注意誤食/過敏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剪刀・熱熔槍老師操作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鋪桌墊、課後清潔歸位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566160" cy="484632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評量（不打分）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重歷程：拍照＋一句觀察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投入度・情緒表達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同儕互動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面對不完美的能力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34440"/>
            <a:ext cx="3566160" cy="484632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234440"/>
            <a:ext cx="3566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307592"/>
            <a:ext cx="35661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試教評核重點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課程準備與示範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節奏與時間掌握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對話引導不評價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1600" b="1">
                <a:solidFill>
                  <a:srgbClr val="FFF59D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sz="16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班級經營與安全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3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第二篇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課程實作教案</a:t>
            </a:r>
          </a:p>
          <a:p>
            <a:pPr algn="ctr">
              <a:lnSpc>
                <a:spcPct val="100000"/>
              </a:lnSpc>
              <a:spcAft>
                <a:spcPts val="1400"/>
              </a:spcAft>
            </a:pPr>
            <a:r>
              <a:rPr sz="2200" b="0">
                <a:solidFill>
                  <a:srgbClr val="F3EEFF"/>
                </a:solidFill>
                <a:latin typeface="微軟正黑體"/>
                <a:ea typeface="微軟正黑體"/>
                <a:cs typeface="微軟正黑體"/>
              </a:rPr>
              <a:t>我的生命花園 ・ 16 週 8 件作品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課程總覽 ｜ 8 件作品的生命旅程</a:t>
            </a:r>
          </a:p>
        </p:txBody>
      </p:sp>
      <p:pic>
        <p:nvPicPr>
          <p:cNvPr id="5" name="Picture 4" descr="00-課程總覽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8" y="1051560"/>
            <a:ext cx="219271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B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我的魔法小宇宙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兒童繪畫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情緒覺察・自我肯定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W1–W2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6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每個人心裡都住著一個專屬自己的小宇宙。用顏色表達心情，把喜歡的、在乎的放進星球裡——「我的世界，由我作主」。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「住在你的星球上，是什麼感覺？」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心情顏色圈：今天的心情是什麼顏色的星星？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示範渲染星空背景＋畫一顆圓圓的星球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畫專屬自己的魔法星球，放上喜歡的東西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分享：星球上住著什麼讓你最安心？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用白色顏料點出星星、流星、光點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為星球取名，背面寫「我的星球叫＿＿」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ED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把星球畫很小、孤零零，或整片塗黑不留光，可能反映信心或情緒低落。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接受所有樣子的宇宙；可邀請孩子放一顆只屬於自己的小光點。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1｜我的魔法小宇宙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小一範例（單一星球・造型簡單）</a:t>
            </a:r>
          </a:p>
        </p:txBody>
      </p:sp>
      <p:pic>
        <p:nvPicPr>
          <p:cNvPr id="7" name="Picture 6" descr="work-01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28800"/>
            <a:ext cx="429768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DC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5A48B0"/>
                </a:solidFill>
                <a:latin typeface="微軟正黑體"/>
                <a:ea typeface="微軟正黑體"/>
                <a:cs typeface="微軟正黑體"/>
              </a:rPr>
              <a:t>小二範例（太空人・火箭・多星球）</a:t>
            </a:r>
          </a:p>
        </p:txBody>
      </p:sp>
      <p:pic>
        <p:nvPicPr>
          <p:cNvPr id="10" name="Picture 9" descr="work-01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875" y="1828800"/>
            <a:ext cx="4689929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F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生命的起點・等待與成長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W3–W4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每一顆種子裡都藏著一棵大樹的夢想。我現在雖然小，但我正在長大。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「你的種子寶寶在等待長成什麼？」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故事：一顆種子的旅行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示範搓圓、壓扁、捏出小巢／小盆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捏一個家＋一顆有表情的種子寶寶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分享後陰乾一週（★下週才上色）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乾刷上色，呈現泥土的自然質感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用押花裝飾邊緣，為種子寶寶取名寫小牌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孩子對「捏歪、壓痕」的反應，有些孩子求好心切會焦慮。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痕跡就像種子的胎記；現在小小的，是因為還在長大。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2｜種子寶寶的家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小一範例（盆身單純・幾朵小花）</a:t>
            </a:r>
          </a:p>
        </p:txBody>
      </p:sp>
      <p:pic>
        <p:nvPicPr>
          <p:cNvPr id="7" name="Picture 6" descr="work-02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D7E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小二範例（藤蔓・石門・蘑菇細節）</a:t>
            </a:r>
          </a:p>
        </p:txBody>
      </p:sp>
      <p:pic>
        <p:nvPicPr>
          <p:cNvPr id="10" name="Picture 9" descr="work-02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友誼・合作・接納不同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W5–W6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不同顏色、不同形狀的紙，拼在一起更漂亮。每個人都不一樣，但我們可以是好朋友。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「你朋友哪裡和你不一樣？為什麼還是喜歡他？」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聊聊：好朋友長什麼樣子？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示範手指撕紙，撕出有機毛邊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撕貼「我」和「好朋友」手牽手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分享我朋友最棒的一個地方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把每個人的小人接起來，貼成友誼鏈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在人與人之間貼上愛心、花朵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習慣用剪刀的孩子可能對撕破焦慮；是否願意把作品接給別人。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差異是力量；撕壞的形狀剛好可以變成新創意。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3｜手牽手好朋友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小一範例（兩人手牽手・構圖單純）</a:t>
            </a:r>
          </a:p>
        </p:txBody>
      </p:sp>
      <p:pic>
        <p:nvPicPr>
          <p:cNvPr id="7" name="Picture 6" descr="work-03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595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6E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小二範例（五人友誼鏈・更熱鬧）</a:t>
            </a:r>
          </a:p>
        </p:txBody>
      </p:sp>
      <p:pic>
        <p:nvPicPr>
          <p:cNvPr id="10" name="Picture 9" descr="work-03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D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4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我的溫暖小屋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紙黏土＋多媒材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家・愛與歸屬・安全感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W7–W8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房子是「心理的避風港」。我有一個被愛的地方，可以安放珍貴的回憶。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「如果小屋會說話，它會怎麼安慰難過的你？」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聊聊：家裡哪個角落讓你最安心？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示範做牆、屋頂、門、窗（結構加固）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搭出自己的小屋外型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分享門開或關？陰乾一週（★）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上色，用鈕扣、布、押花裝飾門窗花園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屋裡放一個最珍貴的小物（⚠️熱熔槍老師操作）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門窗是開放還是緊閉？屋內放具象（家人）還是抽象（顏色）？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尊重隱私；不願分享就稱讚他很會保護自己的寶物。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4｜我的溫暖小屋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小一範例（紅頂小屋・結構穩固）</a:t>
            </a:r>
          </a:p>
        </p:txBody>
      </p:sp>
      <p:pic>
        <p:nvPicPr>
          <p:cNvPr id="7" name="Picture 6" descr="work-04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FAD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F7043"/>
                </a:solidFill>
                <a:latin typeface="微軟正黑體"/>
                <a:ea typeface="微軟正黑體"/>
                <a:cs typeface="微軟正黑體"/>
              </a:rPr>
              <a:t>小二範例（百葉窗・藤蔓・細節多）</a:t>
            </a:r>
          </a:p>
        </p:txBody>
      </p:sp>
      <p:pic>
        <p:nvPicPr>
          <p:cNvPr id="10" name="Picture 9" descr="work-04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4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5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大自然的禮物書籤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押花＋繪畫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感恩・珍惜當下・四季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W9–W10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2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一朵花被壓乾，把最美的樣子留下來。珍惜眼前，對大自然心懷感謝。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「這朵花換一種方式陪著你，你想對它說什麼？」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大自然尋寶（撿落葉、小花）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認識押花：為什麼花會變平變乾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畫出「我最喜歡的季節」底色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分享今天最感謝大自然的什麼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排列、黏貼押花成一幅小風景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護貝、穿緞帶（當堂完成可帶回）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EEE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孩子排花是「滿滿塞」還是「留白」，反映內在節奏。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溫柔談無常——花謝了不是消失，是變成另一種美；重點是珍惜與感謝。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5｜大自然的禮物書籤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小一範例（漸層底色・幾朵押花）</a:t>
            </a:r>
          </a:p>
        </p:txBody>
      </p:sp>
      <p:pic>
        <p:nvPicPr>
          <p:cNvPr id="7" name="Picture 6" descr="work-05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E5D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AB7DF0"/>
                </a:solidFill>
                <a:latin typeface="微軟正黑體"/>
                <a:ea typeface="微軟正黑體"/>
                <a:cs typeface="微軟正黑體"/>
              </a:rPr>
              <a:t>小二範例（層次豐富・加流蘇）</a:t>
            </a:r>
          </a:p>
        </p:txBody>
      </p:sp>
      <p:pic>
        <p:nvPicPr>
          <p:cNvPr id="10" name="Picture 9" descr="work-05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0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愛護環境・保護生命・責任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W11–W12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D9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海洋裡住著好多生命，牠們需要乾淨的家。我可以保護比我更小的生命。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「小魚迷路了，你的畫裡哪裡可以當牠安全的家？」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聊聊：海裡都是垃圾，魚會怎樣？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示範藍綠漸層背景＋黏土魚、龜、珊瑚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畫海洋背景（黏土小物陰乾★）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分享想保護海裡的哪個朋友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黏土生物上色、組合，加泡泡海草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一起說一句「我會做到的環保小事」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孩子是否願意留乾淨的空間給海洋生物。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把環保連到保護一個具體的小生命，比口號更打動孩子。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6｜海底好朋友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小一範例（單一小丑魚・大塊面）</a:t>
            </a:r>
          </a:p>
        </p:txBody>
      </p:sp>
      <p:pic>
        <p:nvPicPr>
          <p:cNvPr id="7" name="Picture 6" descr="work-06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73" y="1828800"/>
            <a:ext cx="2737453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B3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小二範例（海龜鯨魚章魚・多生物）</a:t>
            </a:r>
          </a:p>
        </p:txBody>
      </p:sp>
      <p:pic>
        <p:nvPicPr>
          <p:cNvPr id="10" name="Picture 9" descr="work-06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790" y="1828800"/>
            <a:ext cx="53721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F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拼貼＋押花（混媒）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成長蛻變・勇氣・希望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W13–W14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毛毛蟲要在黑黑的繭裡等待，才能長出翅膀。改變需要勇氣，也帶著盼望。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「蝴蝶在繭裡看不到外面，只能相信自己會長出翅膀，你也有需要這種勇氣的事嗎？」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繪本《好餓的毛毛蟲》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示範拼貼毛毛蟲＋做一個繭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做出毛毛蟲與繭，貼在左半邊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分享最近在等待或努力長大的事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右半邊做蝴蝶，押花拼貼對稱翅膀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完成「毛毛蟲→繭→蝴蝶」三格故事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做「繭（黑暗、等待）」這段時，孩子是否急著跳過。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蛻變伴隨等待與孤獨，但終會換來自由的翅膀。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7｜毛毛蟲變蝴蝶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小一範例（三階段清楚・押花翅膀）</a:t>
            </a:r>
          </a:p>
        </p:txBody>
      </p:sp>
      <p:pic>
        <p:nvPicPr>
          <p:cNvPr id="7" name="Picture 6" descr="work-07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8595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F9D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小二範例（花葉層次滿・更細緻）</a:t>
            </a:r>
          </a:p>
        </p:txBody>
      </p:sp>
      <p:pic>
        <p:nvPicPr>
          <p:cNvPr id="10" name="Picture 9" descr="work-07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E8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-work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4702629" cy="5852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0" y="640080"/>
            <a:ext cx="5486400" cy="13716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749808"/>
            <a:ext cx="51206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作品 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我的生命樹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40280"/>
            <a:ext cx="54864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全混合媒材．總結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生命主題：</a:t>
            </a:r>
            <a:r>
              <a:rPr sz="1500" b="1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統整・感恩・夢想・圓滿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週次：</a:t>
            </a:r>
            <a:r>
              <a:rPr sz="15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W15–W16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657600"/>
            <a:ext cx="5486400" cy="1371600"/>
          </a:xfrm>
          <a:prstGeom prst="rect">
            <a:avLst/>
          </a:prstGeom>
          <a:solidFill>
            <a:srgbClr val="E2F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12064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生命連結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一棵樹有看不見的根、穩穩的幹、向上的枝、開花結果。我從哪裡來、靠誰支撐、想長成什麼樣子。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5257800"/>
            <a:ext cx="5486400" cy="109728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349240"/>
            <a:ext cx="51206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💬 對話金句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「你的根上有誰在支撐你？果實上的夢想是什麼？」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兩堂課流程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1 堂（100 分上課＋20 分整理）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回顧前 7 件作品照片牆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示範畫／拼貼樹的根、幹、枝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3. 根（拼貼）寫支撐我的人；幹（繪畫）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4. 分享：你的根上有誰？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88720"/>
            <a:ext cx="5440680" cy="54864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07492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第 2 堂（100 分上課＋20 分整理）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166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1. 押花當葉與花、紙黏土果實寫夢想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2. 上台介紹生命樹＋頒「小園丁」證書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709160"/>
            <a:ext cx="11201400" cy="1783080"/>
          </a:xfrm>
          <a:prstGeom prst="rect">
            <a:avLst/>
          </a:prstGeom>
          <a:solidFill>
            <a:srgbClr val="D9E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800600"/>
            <a:ext cx="1078992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💡 講師備忘錄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觀察重點：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根上寫了誰？果實（夢想）務實或天馬行空都珍貴。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生命提醒：</a:t>
            </a:r>
            <a:r>
              <a:rPr sz="14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總結不在作品完美，而在能說出「我是被很多愛支撐著長大的」。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 8｜我的生命樹 — 學生作品範例（小一／小二）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143000"/>
            <a:ext cx="5577840" cy="50292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小一範例（根幹花果・根部清楚）</a:t>
            </a:r>
          </a:p>
        </p:txBody>
      </p:sp>
      <p:pic>
        <p:nvPicPr>
          <p:cNvPr id="7" name="Picture 6" descr="work-08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28800"/>
            <a:ext cx="5372100" cy="4297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143000"/>
            <a:ext cx="5577840" cy="502920"/>
          </a:xfrm>
          <a:prstGeom prst="rect">
            <a:avLst/>
          </a:prstGeom>
          <a:solidFill>
            <a:srgbClr val="C6E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197864"/>
            <a:ext cx="5577840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43A047"/>
                </a:solidFill>
                <a:latin typeface="微軟正黑體"/>
                <a:ea typeface="微軟正黑體"/>
                <a:cs typeface="微軟正黑體"/>
              </a:rPr>
              <a:t>小二範例（樹下加上支撐我的家人）</a:t>
            </a:r>
          </a:p>
        </p:txBody>
      </p:sp>
      <p:pic>
        <p:nvPicPr>
          <p:cNvPr id="10" name="Picture 9" descr="work-08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8595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57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16 週學期行事曆（★=作品需陰乾跨週）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2743200" cy="1737360"/>
          </a:xfrm>
          <a:prstGeom prst="rect">
            <a:avLst/>
          </a:prstGeom>
          <a:solidFill>
            <a:srgbClr val="5A48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W1–2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作品1 魔法小宇宙</a:t>
            </a:r>
          </a:p>
        </p:txBody>
      </p:sp>
      <p:sp>
        <p:nvSpPr>
          <p:cNvPr id="7" name="Rectangle 6"/>
          <p:cNvSpPr/>
          <p:nvPr/>
        </p:nvSpPr>
        <p:spPr>
          <a:xfrm>
            <a:off x="3547872" y="1417320"/>
            <a:ext cx="2743200" cy="17373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W3–4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作品2 種子寶寶的家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55664" y="1417320"/>
            <a:ext cx="2743200" cy="17373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2824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W5–6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作品3 手牽手好朋友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63456" y="1417320"/>
            <a:ext cx="2743200" cy="1737360"/>
          </a:xfrm>
          <a:prstGeom prst="rect">
            <a:avLst/>
          </a:prstGeom>
          <a:solidFill>
            <a:srgbClr val="EF7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0616" y="160020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W7–8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作品4 溫暖小屋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2743200" cy="1737360"/>
          </a:xfrm>
          <a:prstGeom prst="rect">
            <a:avLst/>
          </a:prstGeom>
          <a:solidFill>
            <a:srgbClr val="AB7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W9–10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作品5 大自然書籤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3383280"/>
            <a:ext cx="2743200" cy="17373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W11–12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作品6 海底好朋友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55664" y="3383280"/>
            <a:ext cx="2743200" cy="17373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2824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W13–14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作品7 毛毛蟲變蝴蝶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63456" y="3383280"/>
            <a:ext cx="2743200" cy="173736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0616" y="3566160"/>
            <a:ext cx="246888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W15–16 ★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作品8 生命樹＋成果展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560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🌻 我們的約定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這 16 週，孩子不只帶走 8 件作品，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0">
                <a:solidFill>
                  <a:srgbClr val="EAFBEA"/>
                </a:solidFill>
                <a:latin typeface="微軟正黑體"/>
                <a:ea typeface="微軟正黑體"/>
                <a:cs typeface="微軟正黑體"/>
              </a:rPr>
              <a:t>更帶走一座「屬於自己的生命花園」——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400" b="1">
                <a:solidFill>
                  <a:srgbClr val="FFF9C4"/>
                </a:solidFill>
                <a:latin typeface="微軟正黑體"/>
                <a:ea typeface="微軟正黑體"/>
                <a:cs typeface="微軟正黑體"/>
              </a:rPr>
              <a:t>知道自己有光、會長大、被愛著，也能去愛人與這個世界。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4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用藝術陪伴孩子成長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4000" b="1">
                <a:solidFill>
                  <a:srgbClr val="E5732B"/>
                </a:solidFill>
                <a:latin typeface="微軟正黑體"/>
                <a:ea typeface="微軟正黑體"/>
                <a:cs typeface="微軟正黑體"/>
              </a:rPr>
              <a:t>用創作啟發生命力量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6A4FB6"/>
                </a:solidFill>
                <a:latin typeface="微軟正黑體"/>
                <a:ea typeface="微軟正黑體"/>
                <a:cs typeface="微軟正黑體"/>
              </a:rPr>
              <a:t>白老師語文教育中心 ・ 心語能量美學館</a:t>
            </a:r>
          </a:p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© 2026　版權所有・翻印必究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