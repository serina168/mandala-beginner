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2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2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3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28.jpg"/><Relationship Id="rId5" Type="http://schemas.openxmlformats.org/officeDocument/2006/relationships/image" Target="../media/image3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3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3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train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0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　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0" cy="521208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第一篇　教學理念與方法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1. 才藝老師的角色與信念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2. 認識孩子：小一小二發展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3. 教學三大原則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4. 生命教育四大主軸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5. 四大媒材教學要點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6. 一堂課的流程節奏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7. 對話引導與回應技巧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8. 班級經營與狀況處理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9. 安全衛生・評量・試教評核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521208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25880"/>
            <a:ext cx="51206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第二篇　課程實作（16 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課程總覽 ・ 四大主軸 ・ 節奏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作品1 我的魔法小宇宙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作品4 我的溫暖小屋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作品8 我的生命樹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學期行事曆 ・ 成果展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3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第一篇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教學理念與方法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F3EEFF"/>
                </a:solidFill>
                <a:latin typeface="微軟正黑體"/>
                <a:ea typeface="微軟正黑體"/>
                <a:cs typeface="微軟正黑體"/>
              </a:rPr>
              <a:t>講師培訓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才藝老師：三種身分 × 三大原則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3566160" cy="201168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示範者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技法教學時：步驟少、誇張、好玩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234440"/>
            <a:ext cx="3566160" cy="20116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觀察者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孩子創作時：退到旁邊，看見每個孩子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234440"/>
            <a:ext cx="3566160" cy="20116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陪伴者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卡關／情緒時：接住情緒、提好問題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85032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① 手作優先、語言其次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先動手體驗，再用問句引導，不說教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07992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81144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② 沒有失敗的作品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畫歪捏破都是「獨一無二的痕跡」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04104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77256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③ 每件作品都能帶回家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完成度＞精緻度，帶著成就感回家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認識孩子：小一・小二發展特質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94960" cy="219456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認知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具體運思起點——先做再說、喜歡故事與擬人化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39496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動作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手部精細動作發展中——留大塊面、可容錯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539496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專注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單一活動約 15–20 分鐘——分段、可預期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57600"/>
            <a:ext cx="539496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84048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情緒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在意被看見與肯定——需練習分享與接納不同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四大媒材教學要點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2697480" cy="4937760"/>
          </a:xfrm>
          <a:prstGeom prst="rect">
            <a:avLst/>
          </a:prstGeom>
          <a:solidFill>
            <a:srgbClr val="C49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C49A6C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搓圓壓扁捏合・接合沾水/牙籤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立體需陰乾5–7天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接納不完美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234440"/>
            <a:ext cx="2697480" cy="49377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5848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濕畫渲染、疊色、點刷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不敢下筆→陪畫第一筆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用顏色表達情緒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234440"/>
            <a:ext cx="2697480" cy="49377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8776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鑷子輕點輕放、護貝保護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提前2–3週壓製・易碎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珍惜當下與感恩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1234440"/>
            <a:ext cx="2697480" cy="49377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61704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704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拼貼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手指撕紙、大塊面構圖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怕撕破→破口變創意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接納差異與合作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對話引導：不評價，要好奇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486400" cy="548640"/>
          </a:xfrm>
          <a:prstGeom prst="rect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1206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別說（評價）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486400" cy="54864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1206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改說（好奇與連結）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3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「畫得好漂亮！」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7451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3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「這裡是什麼感覺？你想說什麼故事？」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4319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「畫得好像喔！」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69747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74319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「這看起來很有你的精神。」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3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6615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「太陽要畫黃色啦」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52043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56615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「你的太陽在休息嗎？還是在保護你？」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6280"/>
            <a:ext cx="11109960" cy="173736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1060704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提問四式：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感受／故事／連結／選擇（把主導權還給孩子）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回應三步驟：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① 接住情緒 → ② 好奇發生什麼 → ③ 把決定還給孩子（不替他完成）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班級經營與常見狀況處理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4572000" cy="50292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2062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狀況</a:t>
            </a:r>
          </a:p>
        </p:txBody>
      </p:sp>
      <p:sp>
        <p:nvSpPr>
          <p:cNvPr id="7" name="Rectangle 6"/>
          <p:cNvSpPr/>
          <p:nvPr/>
        </p:nvSpPr>
        <p:spPr>
          <a:xfrm>
            <a:off x="5166360" y="1234440"/>
            <a:ext cx="6492240" cy="50292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280160"/>
            <a:ext cx="612648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處理方式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不敢下筆／畫很小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66360" y="181051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185623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陪畫第一筆、淡淡定位、強調沒有失敗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457200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919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「我畫壞了！」要重來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633472"/>
            <a:ext cx="649224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67919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把失誤轉成創意，示範痕跡的故事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5643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0215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搶材料／不願分享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60" y="345643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0" y="350215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事前分配、計時器輪流、合作前約定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457200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情緒崩潰、放棄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4279392"/>
            <a:ext cx="649224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0" y="432511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先離開作品、陪伴情緒，不急著回任務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14807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整片塗黑、畫面陰暗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510235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49240" y="514807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不驚慌、溫柔好奇，必要時與導師溝通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89320"/>
            <a:ext cx="11109960" cy="50292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016752"/>
            <a:ext cx="106070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⚠ 紅線：</a:t>
            </a:r>
            <a:r>
              <a:rPr sz="14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作品／言語反覆出現傷害或疑似受虐，務必記錄並依規定通報。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安全衛生 ・ 評量 ・ 試教評核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3566160" cy="484632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安全與衛生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無毒安全標章媒材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小物注意誤食/過敏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剪刀・熱熔槍老師操作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鋪桌墊、課後清潔歸位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566160" cy="484632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評量（不打分）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重歷程：拍照＋一句觀察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投入度・情緒表達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同儕互動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面對不完美的能力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34440"/>
            <a:ext cx="3566160" cy="484632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試教評核重點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課程準備與示範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節奏與時間掌握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對話引導不評價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班級經營與安全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3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第二篇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課程實作教案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F3EEFF"/>
                </a:solidFill>
                <a:latin typeface="微軟正黑體"/>
                <a:ea typeface="微軟正黑體"/>
                <a:cs typeface="微軟正黑體"/>
              </a:rPr>
              <a:t>我的生命花園 ・ 16 週 8 件作品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pic>
        <p:nvPicPr>
          <p:cNvPr id="5" name="Picture 4" descr="work-01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pic>
        <p:nvPicPr>
          <p:cNvPr id="5" name="Picture 4" descr="work-02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pic>
        <p:nvPicPr>
          <p:cNvPr id="5" name="Picture 4" descr="work-03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示範做牆、屋頂、門、窗（結構加固）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搭出自己的小屋外型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pic>
        <p:nvPicPr>
          <p:cNvPr id="5" name="Picture 4" descr="work-06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看毛毛蟲變蝴蝶短片（或老師口述故事）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學生作品範例（小一／小二）</a:t>
            </a:r>
          </a:p>
        </p:txBody>
      </p:sp>
      <p:pic>
        <p:nvPicPr>
          <p:cNvPr id="5" name="Picture 4" descr="work-08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4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用藝術陪伴孩子成長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4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用創作啟發生命力量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白老師語文教育中心 ・ 心語能量美學館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© 2026　版權所有・翻印必究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