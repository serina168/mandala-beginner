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9" r:id="rId5"/>
    <p:sldId id="258" r:id="rId6"/>
    <p:sldId id="260" r:id="rId7"/>
    <p:sldId id="261" r:id="rId8"/>
    <p:sldId id="262" r:id="rId9"/>
    <p:sldId id="264" r:id="rId10"/>
    <p:sldId id="265" r:id="rId11"/>
    <p:sldId id="266" r:id="rId12"/>
    <p:sldId id="276" r:id="rId13"/>
    <p:sldId id="267" r:id="rId14"/>
    <p:sldId id="268" r:id="rId15"/>
    <p:sldId id="277" r:id="rId16"/>
    <p:sldId id="269" r:id="rId17"/>
    <p:sldId id="278" r:id="rId18"/>
    <p:sldId id="279" r:id="rId19"/>
    <p:sldId id="270" r:id="rId20"/>
    <p:sldId id="271" r:id="rId21"/>
    <p:sldId id="272" r:id="rId22"/>
    <p:sldId id="273" r:id="rId23"/>
    <p:sldId id="274" r:id="rId24"/>
    <p:sldId id="275" r:id="rId25"/>
    <p:sldId id="291" r:id="rId26"/>
    <p:sldId id="285" r:id="rId27"/>
    <p:sldId id="284" r:id="rId28"/>
    <p:sldId id="283" r:id="rId29"/>
    <p:sldId id="286" r:id="rId30"/>
    <p:sldId id="282" r:id="rId31"/>
    <p:sldId id="281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FFCC"/>
    <a:srgbClr val="86C8C8"/>
    <a:srgbClr val="FFFFFF"/>
    <a:srgbClr val="E0CEDC"/>
    <a:srgbClr val="FFCC99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837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67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68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42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351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295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8572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89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65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0989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58173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2998A-9489-4CCB-87C7-0AEC8C4E8819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55197-62B5-4479-AC8F-140D988BFD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94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37.jpg"/><Relationship Id="rId4" Type="http://schemas.openxmlformats.org/officeDocument/2006/relationships/image" Target="../media/image3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jpg"/><Relationship Id="rId4" Type="http://schemas.openxmlformats.org/officeDocument/2006/relationships/image" Target="../media/image3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1.jpg"/><Relationship Id="rId4" Type="http://schemas.openxmlformats.org/officeDocument/2006/relationships/image" Target="../media/image3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2.jpg"/><Relationship Id="rId4" Type="http://schemas.openxmlformats.org/officeDocument/2006/relationships/image" Target="../media/image3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3.jpg"/><Relationship Id="rId4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4.jpg"/><Relationship Id="rId4" Type="http://schemas.openxmlformats.org/officeDocument/2006/relationships/image" Target="../media/image3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.jpg"/><Relationship Id="rId4" Type="http://schemas.openxmlformats.org/officeDocument/2006/relationships/image" Target="../media/image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5.jpg"/><Relationship Id="rId4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png"/><Relationship Id="rId3" Type="http://schemas.openxmlformats.org/officeDocument/2006/relationships/image" Target="../media/image46.jpg"/><Relationship Id="rId4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g"/><Relationship Id="rId5" Type="http://schemas.openxmlformats.org/officeDocument/2006/relationships/image" Target="../media/image39.png"/><Relationship Id="rId6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jpe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7.jpg"/><Relationship Id="rId4" Type="http://schemas.openxmlformats.org/officeDocument/2006/relationships/image" Target="../media/image3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22.jpg"/><Relationship Id="rId4" Type="http://schemas.openxmlformats.org/officeDocument/2006/relationships/image" Target="../media/image3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23.jpg"/><Relationship Id="rId4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2.jpeg"/><Relationship Id="rId4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5.jpeg"/><Relationship Id="rId4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19.jpg"/><Relationship Id="rId4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4.jpg"/><Relationship Id="rId4" Type="http://schemas.openxmlformats.org/officeDocument/2006/relationships/image" Target="../media/image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Relationship Id="rId3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png"/><Relationship Id="rId3" Type="http://schemas.openxmlformats.org/officeDocument/2006/relationships/image" Target="../media/image21.jpg"/><Relationship Id="rId4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jpg"/><Relationship Id="rId3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9.png"/><Relationship Id="rId6" Type="http://schemas.openxmlformats.org/officeDocument/2006/relationships/image" Target="../media/image3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eg"/><Relationship Id="rId5" Type="http://schemas.openxmlformats.org/officeDocument/2006/relationships/image" Target="../media/image39.png"/><Relationship Id="rId6" Type="http://schemas.openxmlformats.org/officeDocument/2006/relationships/image" Target="../media/image3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jpg"/><Relationship Id="rId3" Type="http://schemas.openxmlformats.org/officeDocument/2006/relationships/image" Target="../media/image34.jpe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title_cust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32688" y="2066543"/>
            <a:ext cx="7589520" cy="1828800"/>
          </a:xfrm>
        </p:spPr>
        <p:txBody>
          <a:bodyPr wrap="square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3500" b="1">
                <a:solidFill>
                  <a:srgbClr val="554236"/>
                </a:solidFill>
                <a:latin typeface="微軟正黑體"/>
                <a:ea typeface="微軟正黑體"/>
                <a:cs typeface="微軟正黑體"/>
              </a:rPr>
              <a:t>繽紛五感體驗</a:t>
            </a:r>
            <a:endParaRPr lang="zh-TW" altLang="en-US" sz="5400" dirty="0"/>
          </a:p>
          <a:p>
            <a:pPr algn="l">
              <a:lnSpc>
                <a:spcPct val="112000"/>
              </a:lnSpc>
            </a:pPr>
            <a:r>
              <a:rPr sz="3500" b="1">
                <a:solidFill>
                  <a:srgbClr val="554236"/>
                </a:solidFill>
                <a:latin typeface="微軟正黑體"/>
                <a:ea typeface="微軟正黑體"/>
                <a:cs typeface="微軟正黑體"/>
              </a:rPr>
              <a:t>曼陀羅書籤畫・課程大綱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0" y="5632704"/>
            <a:ext cx="12191695" cy="786384"/>
          </a:xfrm>
        </p:spPr>
        <p:txBody>
          <a:bodyPr wrap="square">
            <a:noAutofit/>
          </a:bodyPr>
          <a:lstStyle/>
          <a:p>
            <a:pPr algn="ctr">
              <a:lnSpc>
                <a:spcPct val="105000"/>
              </a:lnSpc>
            </a:pPr>
            <a:r>
              <a:rPr sz="3200" b="1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主講：張婉愉老師</a:t>
            </a:r>
            <a:endParaRPr lang="en-US" altLang="zh-TW" sz="4800" dirty="0"/>
          </a:p>
        </p:txBody>
      </p:sp>
      <p:sp>
        <p:nvSpPr>
          <p:cNvPr id="5" name="TextBox 4"/>
          <p:cNvSpPr txBox="1"/>
          <p:nvPr/>
        </p:nvSpPr>
        <p:spPr>
          <a:xfrm>
            <a:off x="960120" y="135331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spc="300">
                <a:solidFill>
                  <a:srgbClr val="937740"/>
                </a:solidFill>
                <a:latin typeface="微軟正黑體"/>
                <a:ea typeface="微軟正黑體"/>
                <a:cs typeface="微軟正黑體"/>
              </a:rPr>
              <a:t>點鏡藝術工作室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865376"/>
            <a:ext cx="1554480" cy="41148"/>
          </a:xfrm>
          <a:prstGeom prst="rect">
            <a:avLst/>
          </a:prstGeom>
          <a:solidFill>
            <a:srgbClr val="937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14800"/>
            <a:ext cx="65836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spc="200">
                <a:solidFill>
                  <a:srgbClr val="B0897A"/>
                </a:solidFill>
                <a:latin typeface="微軟正黑體"/>
                <a:ea typeface="微軟正黑體"/>
                <a:cs typeface="微軟正黑體"/>
              </a:rPr>
              <a:t>一點一滴，照見自己。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318607" y="5468112"/>
            <a:ext cx="1554480" cy="45720"/>
          </a:xfrm>
          <a:prstGeom prst="rect">
            <a:avLst/>
          </a:prstGeom>
          <a:solidFill>
            <a:srgbClr val="937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69585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94360" y="1426464"/>
            <a:ext cx="7498080" cy="4937759"/>
          </a:xfrm>
          <a:noFill/>
          <a:ln>
            <a:noFill/>
          </a:ln>
          <a:effectLst/>
        </p:spPr>
        <p:txBody>
          <a:bodyPr lIns="146304" rIns="146304" tIns="91440" bIns="91440" wrap="square">
            <a:norm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五感覺醒與心靈沉澱（</a:t>
            </a:r>
            <a:r>
              <a:rPr lang="en-US" altLang="zh-TW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40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分鐘）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對應課程目標 </a:t>
            </a:r>
            <a:r>
              <a:rPr lang="en-US" altLang="zh-TW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- 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身心面：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透過五感激活，進入專注放鬆狀態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培養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正念覺察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與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當下感知能力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在創作中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體驗喜悅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與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自我表達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內容：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開場暖身：香氛、頌缽、靜心呼吸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• 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認識曼陀羅：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起源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象徵意義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lang="zh-TW" altLang="en-US" sz="17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色彩心理學</a:t>
            </a:r>
          </a:p>
        </p:txBody>
      </p:sp>
      <p:sp>
        <p:nvSpPr>
          <p:cNvPr id="5" name="標題 1"/>
          <p:cNvSpPr>
            <a:spLocks noGrp="1"/>
          </p:cNvSpPr>
          <p:nvPr>
            <p:ph type="ctr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lvl="0" algn="l">
              <a:lnSpc>
                <a:spcPct val="104000"/>
              </a:lnSpc>
              <a:spcBef>
                <a:spcPts val="1000"/>
              </a:spcBef>
            </a:pPr>
            <a:r>
              <a:rPr lang="zh-TW" altLang="en-US" sz="1800" dirty="0" b="1">
                <a:solidFill>
                  <a:srgbClr val="576B67"/>
                </a:solidFill>
                <a:latin typeface="微軟正黑體" panose="020F0502020204030204"/>
                <a:cs typeface="微軟正黑體"/>
                <a:ea typeface="微軟正黑體"/>
              </a:rPr>
              <a:t>課程架構：三大單元</a:t>
            </a:r>
            <a:br>
              <a:rPr lang="zh-TW" altLang="en-US" sz="4800" dirty="0">
                <a:solidFill>
                  <a:srgbClr val="7030A0"/>
                </a:solidFill>
                <a:latin typeface="Calibri" panose="020F0502020204030204"/>
                <a:cs typeface="+mn-cs"/>
              </a:rPr>
            </a:br>
            <a:endParaRPr lang="zh-TW" altLang="en-US" sz="4800" dirty="0">
              <a:solidFill>
                <a:srgbClr val="7030A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twork-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478881"/>
            <a:ext cx="3273552" cy="4832925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pic>
        <p:nvPicPr>
          <p:cNvPr id="12" name="Picture 11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52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altLang="zh-TW" dirty="0" sz="26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zh-TW" altLang="en-US" dirty="0" sz="26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、曼陀羅（</a:t>
            </a:r>
            <a:r>
              <a:rPr lang="en-US" altLang="zh-TW" dirty="0" sz="26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Mandala</a:t>
            </a:r>
            <a:r>
              <a:rPr lang="zh-TW" altLang="en-US" dirty="0" sz="26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）的起源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94360" y="1426464"/>
            <a:ext cx="7498080" cy="4937759"/>
          </a:xfrm>
          <a:noFill/>
          <a:ln>
            <a:noFill/>
          </a:ln>
          <a:effectLst/>
        </p:spPr>
        <p:txBody>
          <a:bodyPr lIns="146304" rIns="146304" tIns="91440" bIns="91440" wrap="square">
            <a:normAutofit/>
          </a:bodyPr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曼陀羅起源與演進的三大核心階段：</a:t>
            </a:r>
            <a:endParaRPr lang="en-US" altLang="zh-TW" sz="20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1. 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宗教與哲學起源（古代印度）字源含意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： 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曼陀羅源自古印度的梵文「</a:t>
            </a: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Mandala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」。</a:t>
            </a:r>
            <a:endParaRPr lang="en-US" altLang="zh-TW" sz="2000" dirty="0">
              <a:solidFill>
                <a:srgbClr val="7030A0"/>
              </a:solidFill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由「</a:t>
            </a: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Manda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」（意指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本質、精髓、圓心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）與「</a:t>
            </a: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La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」（意指成就、裝飾、圓圈）組合而成，字面意思為「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完整的圓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」或「神聖的中心」。</a:t>
            </a:r>
            <a:endParaRPr lang="en-US" altLang="zh-TW" sz="20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佛教與婆羅門教： 最早出現在古印度的</a:t>
            </a: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《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梨俱吠陀</a:t>
            </a: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》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中。</a:t>
            </a:r>
            <a:endParaRPr lang="en-US" altLang="zh-TW" sz="20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在藏傳佛教與密宗中，曼陀羅被繪製成極其繁複的幾何圖案，代表宇宙的縮影與神佛的聖殿，僧侶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透過觀想或用沙畫繪製曼陀羅來進行修行與冥想。</a:t>
            </a:r>
            <a:endParaRPr lang="en-US" altLang="zh-TW" sz="2000" dirty="0">
              <a:solidFill>
                <a:srgbClr val="7030A0"/>
              </a:solidFill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2. 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當代心理學的引入（西方世界）榮格的發現： </a:t>
            </a: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20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世紀初，瑞士心理學家卡爾</a:t>
            </a: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·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榮格（</a:t>
            </a: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Carl Jung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）將曼陀羅帶入西方心理學領域。</a:t>
            </a:r>
            <a:endParaRPr lang="en-US" altLang="zh-TW" sz="20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心靈的鏡子： 榮格在自身面臨心理危機時，發現自己每天早上自發性地在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筆記本上畫出圓形圖案，隨後內心便感到平靜。</a:t>
            </a:r>
            <a:endParaRPr lang="en-US" altLang="zh-TW" sz="2000" dirty="0">
              <a:solidFill>
                <a:srgbClr val="7030A0"/>
              </a:solidFill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他將此視為人類「集體潛意識」的展現，並認為曼陀羅是「個體化進程」（</a:t>
            </a: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Self-actualization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）中，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內心追求平衡與自我整合的自然本能。</a:t>
            </a:r>
            <a:endParaRPr lang="en-US" altLang="zh-TW" sz="2000" dirty="0">
              <a:solidFill>
                <a:srgbClr val="7030A0"/>
              </a:solidFill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3. 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自然與文化的普世現象自然界的幾何學： 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除了宗教與心理學，曼陀羅的「中心對稱圓形」結構廣泛存在於自然界中，例如年輪、雪花、花朵、太陽系、甚至人體的細胞</a:t>
            </a:r>
            <a:endParaRPr lang="en-US" altLang="zh-TW" sz="20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。跨文化共鳴： 這種圓形符號在世界各地的古文明中都有出現（如美洲原住民的醫藥輪、歐洲教堂的玫瑰花窗），證實了人類對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「圓形與中心」具有普世的心理共鳴。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twork-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232587"/>
            <a:ext cx="3273552" cy="3325513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4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矩形 1"/>
          <p:cNvSpPr/>
          <p:nvPr/>
        </p:nvSpPr>
        <p:spPr>
          <a:xfrm>
            <a:off x="566928" y="310896"/>
            <a:ext cx="11064240" cy="9601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認識曼陀羅</a:t>
            </a:r>
            <a:endParaRPr lang="zh-TW" altLang="en-US" sz="4400" dirty="0"/>
          </a:p>
        </p:txBody>
      </p:sp>
      <p:sp>
        <p:nvSpPr>
          <p:cNvPr id="3" name="矩形 2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一、藝術輔療的定義、目標與專業角色</a:t>
            </a:r>
            <a:endParaRPr lang="en-US" altLang="zh-TW" sz="36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二、探討其在日常生活與各種場域的應用範圍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特別著重於如何透過藝術媒介促進每個人的情緒表達、認知刺激與社交互動。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三、曼陀羅從最初的「宗教宇宙觀」，演變為今日在身心調適、心理諮商中廣泛應用的「心靈自癒工具」。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twork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69817"/>
            <a:ext cx="3273552" cy="3051052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224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594360" y="1426464"/>
            <a:ext cx="7498080" cy="4937759"/>
          </a:xfrm>
          <a:noFill/>
          <a:ln>
            <a:noFill/>
          </a:ln>
          <a:effectLst/>
        </p:spPr>
        <p:txBody>
          <a:bodyPr lIns="146304" rIns="146304" tIns="91440" bIns="91440" wrap="square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【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心理學</a:t>
            </a: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】</a:t>
            </a:r>
            <a:br>
              <a:rPr lang="en-US" altLang="zh-TW" sz="2000" dirty="0"/>
            </a:b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：。</a:t>
            </a:r>
            <a:br>
              <a:rPr lang="zh-TW" altLang="en-US" sz="2000" dirty="0"/>
            </a:b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透過在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圓形（曼陀羅）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內自由繪畫、著色或拼貼，個案能夠進入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深層潛意識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梳理混亂情緒、整合自我內心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，最終達到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減壓與自我探索的目的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。</a:t>
            </a:r>
            <a:br>
              <a:rPr lang="zh-TW" altLang="en-US" sz="2000" dirty="0"/>
            </a:br>
            <a:br>
              <a:rPr lang="zh-TW" altLang="en-US" sz="2000" dirty="0"/>
            </a:b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：曼陀羅（</a:t>
            </a: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Mandala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）源自梵文，意指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「圓圈」或「中心」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。</a:t>
            </a:r>
            <a:br>
              <a:rPr lang="en-US" altLang="zh-TW" sz="2000" dirty="0"/>
            </a:b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在藝術輔療中，具備以下幾個核心概念與特徵：</a:t>
            </a:r>
            <a:br>
              <a:rPr lang="zh-TW" altLang="en-US" sz="2000" dirty="0"/>
            </a:b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心理學背景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： 由瑞士心理學家卡爾</a:t>
            </a: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·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榮格（</a:t>
            </a: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Carl Jung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）引入西方心理學。</a:t>
            </a:r>
            <a:br>
              <a:rPr lang="en-US" altLang="zh-TW" sz="2000" dirty="0"/>
            </a:b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他觀察到人類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情緒混亂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時，會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自然畫出圓形圖案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來尋求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內心秩序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，並將其視為「心靈能量」與自我整合的象徵。</a:t>
            </a:r>
            <a:br>
              <a:rPr lang="zh-TW" altLang="en-US" sz="2000" dirty="0"/>
            </a:br>
            <a:br>
              <a:rPr lang="zh-TW" altLang="en-US" sz="2000" dirty="0"/>
            </a:b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：圓形的保護感： </a:t>
            </a:r>
            <a:br>
              <a:rPr lang="zh-TW" altLang="en-US" sz="2000" dirty="0"/>
            </a:b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圓形沒有起點與終點，提供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創作者一個被保護的安全空間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，讓人能在其中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安心面對潛意識的恐懼與真實感受。</a:t>
            </a:r>
            <a:br>
              <a:rPr lang="zh-TW" altLang="en-US" sz="2000" dirty="0"/>
            </a:br>
            <a:br>
              <a:rPr lang="zh-TW" altLang="en-US" sz="2000" dirty="0"/>
            </a:b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：自我覺察與對話： 創作者藉由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顏色、線條與圖案的選擇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，將抽象的情緒（如焦慮、憤怒、喜悅）具象化，客觀地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「看見」自己的內心狀態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，進而化解內在衝突。</a:t>
            </a:r>
            <a:br>
              <a:rPr lang="zh-TW" altLang="en-US" sz="2000" dirty="0"/>
            </a:br>
            <a:br>
              <a:rPr lang="zh-TW" altLang="en-US" sz="2000" dirty="0"/>
            </a:b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應用廣泛： 常用於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減壓放鬆、創傷療癒、靈性成長及注意力提升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，適合各年齡層的自我照顧。</a:t>
            </a:r>
          </a:p>
        </p:txBody>
      </p:sp>
      <p:sp>
        <p:nvSpPr>
          <p:cNvPr id="5" name="矩形 4"/>
          <p:cNvSpPr/>
          <p:nvPr/>
        </p:nvSpPr>
        <p:spPr>
          <a:xfrm>
            <a:off x="566928" y="310896"/>
            <a:ext cx="11064240" cy="9601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altLang="zh-TW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zh-TW" altLang="en-US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、曼陀羅藝術輔療的定義</a:t>
            </a:r>
            <a:endParaRPr lang="en-US" altLang="zh-TW" sz="1400" dirty="0"/>
          </a:p>
          <a:p>
            <a:pPr algn="l">
              <a:lnSpc>
                <a:spcPct val="104000"/>
              </a:lnSpc>
            </a:pPr>
            <a:r>
              <a:rPr lang="zh-TW" altLang="en-US" sz="1800" dirty="0" b="1">
                <a:solidFill>
                  <a:srgbClr val="576B67"/>
                </a:solidFill>
                <a:latin typeface="微軟正黑體" panose="020F0302020204030204"/>
                <a:cs typeface="微軟正黑體"/>
                <a:ea typeface="微軟正黑體"/>
              </a:rPr>
              <a:t>曼陀羅藝術輔療是藝術輔療的一種分支，結合了</a:t>
            </a:r>
            <a:r>
              <a:rPr lang="en-US" altLang="zh-TW" sz="1800" dirty="0" b="1">
                <a:solidFill>
                  <a:srgbClr val="576B67"/>
                </a:solidFill>
                <a:latin typeface="微軟正黑體" panose="020F0302020204030204"/>
                <a:cs typeface="微軟正黑體"/>
                <a:ea typeface="微軟正黑體"/>
              </a:rPr>
              <a:t>【</a:t>
            </a:r>
            <a:r>
              <a:rPr lang="zh-TW" altLang="en-US" sz="1800" dirty="0" b="1">
                <a:solidFill>
                  <a:srgbClr val="576B67"/>
                </a:solidFill>
                <a:latin typeface="微軟正黑體" panose="020F0302020204030204"/>
                <a:cs typeface="微軟正黑體"/>
                <a:ea typeface="微軟正黑體"/>
              </a:rPr>
              <a:t>心理學</a:t>
            </a:r>
            <a:r>
              <a:rPr lang="en-US" altLang="zh-TW" sz="1800" dirty="0" b="1">
                <a:solidFill>
                  <a:srgbClr val="576B67"/>
                </a:solidFill>
                <a:latin typeface="微軟正黑體" panose="020F0302020204030204"/>
                <a:cs typeface="微軟正黑體"/>
                <a:ea typeface="微軟正黑體"/>
              </a:rPr>
              <a:t>】</a:t>
            </a:r>
            <a:r>
              <a:rPr lang="zh-TW" altLang="en-US" sz="1800" dirty="0" b="1">
                <a:solidFill>
                  <a:srgbClr val="576B67"/>
                </a:solidFill>
                <a:latin typeface="微軟正黑體" panose="020F0302020204030204"/>
                <a:cs typeface="微軟正黑體"/>
                <a:ea typeface="微軟正黑體"/>
              </a:rPr>
              <a:t>與</a:t>
            </a:r>
            <a:r>
              <a:rPr lang="en-US" altLang="zh-TW" sz="1800" dirty="0" b="1">
                <a:solidFill>
                  <a:srgbClr val="576B67"/>
                </a:solidFill>
                <a:latin typeface="微軟正黑體" panose="020F0302020204030204"/>
                <a:cs typeface="微軟正黑體"/>
                <a:ea typeface="微軟正黑體"/>
              </a:rPr>
              <a:t>【</a:t>
            </a:r>
            <a:r>
              <a:rPr lang="zh-TW" altLang="en-US" sz="1800" dirty="0" b="1">
                <a:solidFill>
                  <a:srgbClr val="576B67"/>
                </a:solidFill>
                <a:latin typeface="微軟正黑體" panose="020F0302020204030204"/>
                <a:cs typeface="微軟正黑體"/>
                <a:ea typeface="微軟正黑體"/>
              </a:rPr>
              <a:t>繪畫創作</a:t>
            </a:r>
            <a:r>
              <a:rPr lang="en-US" altLang="zh-TW" sz="1800" dirty="0" b="1">
                <a:solidFill>
                  <a:srgbClr val="576B67"/>
                </a:solidFill>
                <a:latin typeface="微軟正黑體" panose="020F0302020204030204"/>
                <a:cs typeface="微軟正黑體"/>
                <a:ea typeface="微軟正黑體"/>
              </a:rPr>
              <a:t>】</a:t>
            </a:r>
            <a:endParaRPr lang="zh-TW" altLang="en-US" sz="3200" dirty="0"/>
          </a:p>
        </p:txBody>
      </p:sp>
      <p:sp>
        <p:nvSpPr>
          <p:cNvPr id="7" name="Rectangle 6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twork-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072484"/>
            <a:ext cx="3273552" cy="3645719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pic>
        <p:nvPicPr>
          <p:cNvPr id="12" name="Picture 11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41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矩形 1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以下是繪畫創作的主要優點：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釋放壓抑情緒：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將無法用言語表達的焦慮、憤怒或悲傷，透過線條與色彩具象化，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安全地宣洩出來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zh-TW" altLang="en-US" sz="20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降低壓力荷爾蒙：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創作過程能激活副交感神經，有效降低皮質醇（壓力荷爾蒙）水平，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達到身心放鬆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zh-TW" altLang="en-US" sz="20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進入心流狀態：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專注於繪畫能讓人忘卻時間與煩惱，這種「心流」狀態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能重新提振精神、恢復心理韌性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zh-TW" altLang="en-US" sz="20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提升大腦認知功能：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繪畫需要動用視覺、空間感與手部微細肌肉，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能刺激大腦神經網絡，增強專注力與記憶力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zh-TW" altLang="en-US" sz="20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促進自我覺察：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作品就像內心世界的一面鏡子，能幫助你客觀檢視自己的潛意識，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看清內心真正的需求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建立掌控感與自信：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從一張白紙到完成作品的過程，能帶來極大的成成就感，幫助低潮期的人重拾生活掌控力。</a:t>
            </a: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lvl="0" algn="l">
              <a:lnSpc>
                <a:spcPct val="104000"/>
              </a:lnSpc>
              <a:spcBef>
                <a:spcPts val="0"/>
              </a:spcBef>
            </a:pPr>
            <a:r>
              <a:rPr lang="en-US" altLang="zh-TW" sz="13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【</a:t>
            </a:r>
            <a:r>
              <a:rPr lang="zh-TW" altLang="en-US" sz="13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繪畫創作</a:t>
            </a:r>
            <a:r>
              <a:rPr lang="en-US" altLang="zh-TW" sz="13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】</a:t>
            </a:r>
            <a:r>
              <a:rPr lang="zh-TW" altLang="en-US" sz="1300" dirty="0" b="1">
                <a:solidFill>
                  <a:srgbClr val="576B67"/>
                </a:solidFill>
                <a:latin typeface="微軟正黑體" panose="020F0502020204030204"/>
                <a:cs typeface="微軟正黑體"/>
                <a:ea typeface="微軟正黑體"/>
              </a:rPr>
              <a:t>繪畫創作是一種強大的</a:t>
            </a:r>
            <a:r>
              <a:rPr lang="zh-TW" altLang="en-US" sz="1300" dirty="0" b="1">
                <a:solidFill>
                  <a:srgbClr val="576B67"/>
                </a:solidFill>
                <a:latin typeface="微軟正黑體" panose="020F0502020204030204"/>
                <a:cs typeface="微軟正黑體"/>
                <a:ea typeface="微軟正黑體"/>
              </a:rPr>
              <a:t>心理與生理療癒工具</a:t>
            </a:r>
            <a:r>
              <a:rPr lang="zh-TW" altLang="en-US" sz="1300" dirty="0" b="1">
                <a:solidFill>
                  <a:srgbClr val="576B67"/>
                </a:solidFill>
                <a:latin typeface="微軟正黑體" panose="020F0502020204030204"/>
                <a:cs typeface="微軟正黑體"/>
                <a:ea typeface="微軟正黑體"/>
              </a:rPr>
              <a:t>，它超越了語言的限制，能為大腦、情緒和身體帶來多重正面影響。</a:t>
            </a:r>
            <a:br>
              <a:rPr lang="zh-TW" altLang="en-US" sz="2000" dirty="0">
                <a:solidFill>
                  <a:prstClr val="black"/>
                </a:solidFill>
                <a:latin typeface="Calibri" panose="020F0502020204030204"/>
                <a:cs typeface="+mn-cs"/>
              </a:rPr>
            </a:br>
            <a:endParaRPr lang="zh-TW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acher_studio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01926"/>
            <a:ext cx="3273552" cy="3186835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pic>
        <p:nvPicPr>
          <p:cNvPr id="13" name="Picture 12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09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繪畫創作與曼陀羅的核心應用優點與實務做法</a:t>
            </a:r>
          </a:p>
        </p:txBody>
      </p:sp>
      <p:sp>
        <p:nvSpPr>
          <p:cNvPr id="3" name="矩形 2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（1）認知刺激與大腦活化</a:t>
            </a:r>
            <a:endParaRPr lang="en-US" altLang="zh-TW" sz="20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a、激活大腦神經：繪畫時挑選顏色、構圖、抓握畫筆，需要同時動用視覺、空間感與微細肌肉運動，能有效刺激大腦神經網絡。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b、維持專注與協調：透過結構化的繪畫活動（如曼陀羅著色、線條禪繞），能幫助每個人維持專注力與手眼協調能力。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（2）情緒支持與非言語溝通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a、突破語言的限制：許多情緒與感受難以用言語精確表達。繪畫提供非言語的溝通管道，讓人用色彩與線條表達內心感受與需求。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b、安定情緒、減少焦躁：專注於創作能帶來平靜，顯著降低焦慮、煩躁與低落情緒。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（3）連結記憶與自我認同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a、重塑生命故事：引導繪畫家鄉、童年或生命中重要的時刻（懷舊繪畫），能喚醒深層記憶。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b、重拾成就與掌控感：在畫紙上，每個人都能全權決定色彩與圖案，重新獲得成就感與自我價值。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（4）社交互動與減少孤獨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a、團體創作促進交流：透過集體繪畫或作品分享，能讓彼此互相欣賞、讚美，建立人際連結並降低孤獨感。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twork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429065"/>
            <a:ext cx="3273552" cy="2932557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43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核心色彩的心理象徵</a:t>
            </a:r>
          </a:p>
        </p:txBody>
      </p:sp>
      <p:sp>
        <p:nvSpPr>
          <p:cNvPr id="3" name="矩形 2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紅色（生命力與憤怒）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正面： 代表充沛的能量、熱情、行動力、生存本能與身體的陽量。</a:t>
            </a:r>
            <a:endParaRPr lang="en-US" altLang="zh-TW" sz="2400" dirty="0">
              <a:solidFill>
                <a:srgbClr val="002060"/>
              </a:solidFill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陰影： 可能暗示內心正累積憤怒、衝動、挫折感或正處於生力中。</a:t>
            </a:r>
            <a:endParaRPr lang="en-US" altLang="zh-TW" sz="2400" dirty="0">
              <a:solidFill>
                <a:srgbClr val="002060"/>
              </a:solidFill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黃色（理智與焦慮）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正面： 代表智慧、邏輯思考、樂觀、自信與追求個人陽般耀眼）。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陰影： 過多時可能反映出過度思考、控制欲、嫉妒或對未來的慮。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藍色（平靜與憂鬱）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正面： 代表內省、沉靜、信任、靈性思考、以及良好的溝達能力。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陰影： 灰暗的藍色可能暗示悲傷、憂鬱、情感孤立、或刻意情緒。</a:t>
            </a:r>
            <a:endParaRPr lang="en-US" altLang="zh-TW" sz="2400" dirty="0">
              <a:solidFill>
                <a:srgbClr val="002060"/>
              </a:solidFill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綠色（療癒與停滯）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正面： 代表成長、大自然的生命力、心胸開放、同理心與自進程。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陰影： 可能代表害怕改變、嫉妒、或是正處於需要高精神疲憊期。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橙色（創造力與依賴）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正面： 代表社交互動、創造力、情緒的流動、感官享受童的活力。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陰影： 可能反映出情感上的過度依賴、成癮傾向或對人際關焦慮。</a:t>
            </a:r>
            <a:r>
              <a:rPr lang="en-US" altLang="zh-TW" sz="11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4</a:t>
            </a:r>
            <a:endParaRPr lang="zh-TW" altLang="en-US" sz="2400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173837"/>
            <a:ext cx="3273552" cy="3443012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26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三、色彩的心理象徵</a:t>
            </a:r>
          </a:p>
        </p:txBody>
      </p:sp>
      <p:sp>
        <p:nvSpPr>
          <p:cNvPr id="3" name="矩形 2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紫色（靈性與抽離）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正面： 代表高度的靈性覺察、直覺、轉化、神祕感與浪漫的想像力。陰影： 過多可能意味著逃避現實、與土地（現實生活）斷聯、或精神過度敏感。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7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黑、白、灰的特殊意義黑色（保護與未知）：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代表子宮般的安全保護、潛意識的深層秘密、暫時的隱退；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但也可能暗示哀傷、恐懼或防禦心理。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8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白色（純潔與空虛）：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代表靈性的光芒、新開始、純潔與誠實；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若畫面出現大面積刻意留白，可能暗示內心感到空虛、情感抽離或防衛。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zh-TW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灰色（中立與迷惘）：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代表平衡、中立、不偏不倚；在心理低潮時，也常反映出沮喪、迷惘、缺乏動力或身心俱疲。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實務解讀的重要原則在曼陀羅輔療中，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色彩沒有絕對的好壞。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解讀時必須觀察：色彩的相對位置： </a:t>
            </a:r>
            <a:endParaRPr lang="en-US" altLang="zh-TW" sz="24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畫在「中心」通常代表目前的自我核心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；</a:t>
            </a:r>
            <a:endParaRPr lang="en-US" altLang="zh-TW" sz="24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畫在「邊緣」則代表呈現給外在世界的面貌或未來的期許。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創作者的個人經驗： 對某些人而言，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綠色可能代表他熱愛的田園</a:t>
            </a: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，而非單純的心理療癒。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zh-TW" altLang="en-US" sz="1000" dirty="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因此，最準確的定義永遠來自創作者本人的直覺與聯想。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twork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796487"/>
            <a:ext cx="3273552" cy="2197712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89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sz="22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單元二：曼陀羅基礎技法與試作（</a:t>
            </a:r>
            <a:r>
              <a:rPr lang="en-US" altLang="zh-TW" sz="22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60</a:t>
            </a:r>
            <a:r>
              <a:rPr lang="zh-TW" altLang="en-US" sz="22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分鐘）「繽紛五感曼陀羅」實作體驗</a:t>
            </a:r>
          </a:p>
        </p:txBody>
      </p:sp>
      <p:sp>
        <p:nvSpPr>
          <p:cNvPr id="3" name="矩形 2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透過五感引導，帶領學員進入專注創作的流動狀態：</a:t>
            </a:r>
            <a:endParaRPr lang="en-US" altLang="zh-TW" sz="36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1、視覺　色彩選擇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2、聽覺　音樂引導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3、嗅覺　精油輔助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4、心感　內在覺察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5、觸覺　觸感引領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7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學員將完成個人化的曼陀羅書籤作品，並學習如何將此技法應用於生活的各種情境中，提升身心安頓與生活福祉。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actice_pai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712975"/>
            <a:ext cx="3273552" cy="4364736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42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g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6478"/>
            <a:ext cx="10515600" cy="1052052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altLang="zh-TW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視覺</a:t>
            </a: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色彩選擇～壓克力顏料</a:t>
            </a:r>
            <a:endParaRPr lang="zh-TW" altLang="en-US" i="1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half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38200" y="1403427"/>
            <a:ext cx="4252133" cy="2391825"/>
          </a:xfrm>
        </p:spPr>
      </p:pic>
      <p:pic>
        <p:nvPicPr>
          <p:cNvPr id="6" name="內容版面配置區 5"/>
          <p:cNvPicPr>
            <a:picLocks noGrp="1" noChangeAspect="1"/>
          </p:cNvPicPr>
          <p:nvPr>
            <p:ph sz="half" idx="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75" r="6099" b="15870"/>
          <a:stretch/>
        </p:blipFill>
        <p:spPr>
          <a:xfrm>
            <a:off x="1431680" y="3940149"/>
            <a:ext cx="3065172" cy="3126658"/>
          </a:xfr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748" y="2310581"/>
            <a:ext cx="6651087" cy="3829665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838200" y="1203666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pic>
        <p:nvPicPr>
          <p:cNvPr id="13" name="Picture 12" descr="motif_ring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88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_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414" y="1825625"/>
            <a:ext cx="4593047" cy="4830814"/>
          </a:xfrm>
        </p:spPr>
      </p:pic>
      <p:pic>
        <p:nvPicPr>
          <p:cNvPr id="6" name="內容版面配置區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113" y="1825624"/>
            <a:ext cx="4540655" cy="4852413"/>
          </a:xfrm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117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6044183" y="1697608"/>
            <a:ext cx="5567909" cy="5165504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altLang="zh-TW" dirty="0" sz="26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zh-TW" altLang="en-US" dirty="0" sz="26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 、</a:t>
            </a:r>
            <a:r>
              <a:rPr lang="zh-TW" altLang="en-US" dirty="0" sz="26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聽覺</a:t>
            </a:r>
            <a:r>
              <a:rPr lang="zh-TW" altLang="en-US" dirty="0" sz="26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音樂引導～頌缽音樂冥想</a:t>
            </a: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3" y="2799905"/>
            <a:ext cx="5641807" cy="3237102"/>
          </a:xfrm>
        </p:spPr>
      </p:pic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311877" cy="4909472"/>
          </a:xfrm>
          <a:noFill/>
          <a:ln>
            <a:noFill/>
          </a:ln>
          <a:effectLst/>
        </p:spPr>
        <p:txBody>
          <a:bodyPr lIns="164592" rIns="164592" tIns="109728" bIns="109728" wrap="square">
            <a:norm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zh-TW" altLang="en-US" dirty="0" sz="18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古老的音頻共振與靜心冥想，能繞過理性思考，讓腦波迅速從活躍的 </a:t>
            </a:r>
            <a:r>
              <a:rPr lang="en-US" altLang="zh-TW" dirty="0" sz="18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Beta </a:t>
            </a:r>
            <a:r>
              <a:rPr lang="zh-TW" altLang="en-US" dirty="0" sz="18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波轉為深度放鬆的 </a:t>
            </a:r>
            <a:r>
              <a:rPr lang="en-US" altLang="zh-TW" dirty="0" sz="18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Alpha </a:t>
            </a:r>
            <a:r>
              <a:rPr lang="zh-TW" altLang="en-US" dirty="0" sz="18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波 與 </a:t>
            </a:r>
            <a:r>
              <a:rPr lang="en-US" altLang="zh-TW" dirty="0" sz="18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Theta </a:t>
            </a:r>
            <a:r>
              <a:rPr lang="zh-TW" altLang="en-US" dirty="0" sz="18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波。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lang="zh-TW" altLang="en-US" dirty="0" sz="18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可以這能有效舒緩壓力焦慮、改善睡眠品質、深度放鬆身心，並活化身體的自癒能力。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1371600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pic>
        <p:nvPicPr>
          <p:cNvPr id="11" name="Picture 10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78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lvl="0" algn="l">
              <a:lnSpc>
                <a:spcPct val="104000"/>
              </a:lnSpc>
              <a:spcBef>
                <a:spcPts val="0"/>
              </a:spcBef>
            </a:pPr>
            <a:r>
              <a:rPr lang="en-US" altLang="zh-TW" dirty="0" sz="18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zh-TW" altLang="en-US" dirty="0" sz="18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～（</a:t>
            </a:r>
            <a:r>
              <a:rPr lang="en-US" altLang="zh-TW" dirty="0" sz="18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zh-TW" altLang="en-US" dirty="0" sz="18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）、</a:t>
            </a:r>
            <a:r>
              <a:rPr lang="zh-TW" altLang="en-US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嗅覺</a:t>
            </a:r>
            <a:r>
              <a:rPr lang="zh-TW" altLang="en-US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呼吸引導</a:t>
            </a:r>
            <a:r>
              <a:rPr lang="zh-TW" altLang="en-US" dirty="0" sz="18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～</a:t>
            </a:r>
            <a:r>
              <a:rPr lang="zh-TW" altLang="en-US" sz="1800" dirty="0" b="1">
                <a:solidFill>
                  <a:srgbClr val="576B67"/>
                </a:solidFill>
                <a:latin typeface="微軟正黑體" panose="020F0502020204030204"/>
                <a:cs typeface="微軟正黑體"/>
                <a:ea typeface="微軟正黑體"/>
              </a:rPr>
              <a:t>將精油嗅覺呼吸引導（正念呼吸、身心雙重療愈）</a:t>
            </a:r>
            <a:br>
              <a:rPr lang="zh-TW" altLang="en-US" sz="2700" dirty="0">
                <a:solidFill>
                  <a:prstClr val="black"/>
                </a:solidFill>
                <a:latin typeface="Calibri" panose="020F0502020204030204"/>
                <a:cs typeface="+mn-cs"/>
              </a:rPr>
            </a:br>
            <a:endParaRPr lang="zh-TW" altLang="en-US" sz="2700" dirty="0"/>
          </a:p>
        </p:txBody>
      </p:sp>
      <p:sp>
        <p:nvSpPr>
          <p:cNvPr id="3" name="矩形 2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嗅覺是唯一不經過視丘、直接刺激大腦邊緣系統（情緒與記憶中心）的感官，能為每個人帶來立竿見影的效益。</a:t>
            </a:r>
            <a:endParaRPr lang="en-US" altLang="zh-TW" sz="24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對「自己」的好處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1、喚起生命記憶（懷舊療癒）：嗅覺能瞬間喚醒深層記憶。例如檜木或柑橘清香，能讓人聯想到森林或廚房的記憶，誘發繪畫創作的靈感與表達欲。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2、安定情緒、緩解焦躁：薰衣草、佛手柑等精油結合深呼吸，能激活副交感神經，有效緩解煩躁、不安與無故的焦慮。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3、提升呼吸順暢度與含氧量：透過尤加利或薄荷等精油進行呼吸引導，能擴張胸腔、促進血液循環，提升大腦的含氧與灌流。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4、非侵入性的溫和安撫：氣味引導不需要耗費體力，能提供最溫和、無壓力的撫慰與安全感，適合任何人、任何狀態。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twork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865965"/>
            <a:ext cx="3273552" cy="2058757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78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altLang="zh-TW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zh-TW" altLang="en-US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～（</a:t>
            </a:r>
            <a:r>
              <a:rPr lang="en-US" altLang="zh-TW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zh-TW" altLang="en-US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）、</a:t>
            </a:r>
            <a:r>
              <a:rPr lang="zh-TW" altLang="en-US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嗅覺</a:t>
            </a:r>
            <a:r>
              <a:rPr lang="zh-TW" altLang="en-US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呼吸引導～</a:t>
            </a:r>
            <a:r>
              <a:rPr lang="zh-TW" altLang="en-US" sz="1800" dirty="0" b="1">
                <a:solidFill>
                  <a:srgbClr val="576B67"/>
                </a:solidFill>
                <a:latin typeface="微軟正黑體" panose="020F0502020204030204"/>
                <a:ea typeface="微軟正黑體"/>
                <a:cs typeface="微軟正黑體"/>
              </a:rPr>
              <a:t>將精油嗅覺呼吸引導（正念呼吸、身心雙重療育）</a:t>
            </a:r>
            <a:br>
              <a:rPr lang="zh-TW" altLang="en-US" sz="2400" dirty="0">
                <a:solidFill>
                  <a:prstClr val="black"/>
                </a:solidFill>
                <a:latin typeface="Calibri" panose="020F0502020204030204"/>
              </a:rPr>
            </a:b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 lvl="0"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對「身邊一同參與的人」的好處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1、即時抽離高壓、快速減壓：長期忙碌的人常處於慢性疲勞與神經緊繃。透過幾分鐘的精油深呼吸，能快速降低皮質醇（壓力荷爾蒙），讓大腦按下暫停鍵。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2、改善睡眠品質：壓力與煩惱常伴隨睡眠中斷。在夜間或休息時進行芳香呼吸，能引導大腦進入放鬆波，緩解神經性失眠與焦慮。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3、轉化負面情緒：生活中難免產生挫折與煩躁。柑橘類（如甜橙、葡萄柚）能帶來陽光般的能量，重塑正向情緒。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雙方共同的隱形好處：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當大家「同時」身處在同一個和諧的香氣與呼吸引導中，原本各自緊繃的狀態會轉化為共同體驗的「陪伴」。這能營造一個高度安心的氛圍，非常適合在呼吸放鬆後，順暢地過渡到曼陀羅的繪畫創作中。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8341"/>
            <a:ext cx="3273552" cy="3134004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07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sz="19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4 ╴1、心感的內在覺察～能夠強烈且深刻地引發每個人與身邊夥伴彼此的內在覺察。</a:t>
            </a:r>
          </a:p>
        </p:txBody>
      </p:sp>
      <p:sp>
        <p:nvSpPr>
          <p:cNvPr id="3" name="矩形 2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 marL="514350" indent="-514350">
              <a:lnSpc>
                <a:spcPct val="105000"/>
              </a:lnSpc>
              <a:spcAft>
                <a:spcPts val="300"/>
              </a:spcAft>
              <a:buAutoNum type="arabicPeriod"/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對「長期承擔、忙於照顧他人或工作的人」的內在覺察：</a:t>
            </a:r>
            <a:endParaRPr lang="en-US" altLang="zh-TW" sz="2800" dirty="0"/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從「外在承擔」回到「自我陪伴」——這樣的人日常往往把焦點放在「別人需要什麼」，完全壓抑了自我。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覺察身體的緊繃：在精油呼吸引導的當下，氣味會把注意力從外界拉回自己身上。他們會在深呼吸中突然驚覺：「原來我的肩膀這麼緊、呼吸這麼淺。」進而覺察到自己累積已久的疲憊。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看見被壓抑的情緒：在隨後的曼陀羅繪畫中，可能會自發地畫出混亂的線條、或選用大面積的灰與黑。這面畫紙就像心靈的鏡子，讓人坦然面對並看見內心深處的挫折、憤怒或愧疚。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258568"/>
            <a:ext cx="3273552" cy="3273552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10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altLang="zh-TW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 ╴</a:t>
            </a:r>
            <a:r>
              <a:rPr lang="en-US" altLang="zh-TW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zh-TW" altLang="en-US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lang="zh-TW" altLang="en-US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心感</a:t>
            </a:r>
            <a:r>
              <a:rPr lang="zh-TW" altLang="en-US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的內在覺察～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2、對「感到無力、失去掌控感的人」的內在覺察：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從「無能為力」到「找回內在價值」——許多人在壓力或低潮中，覺得失去了對生活的掌控與聲音。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喚醒沉睡的自我本質：當特定的植物香氣（如泥土香、草本香）刺激大腦情緒中心時，會瞬間連結到生命中最有活力的歲月。這能幫助人覺察到自己不只是被處境困住，而是一個擁有豐富生命故事的個體。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透過色彩宣洩內在的聲音：難以用言語清楚表達的情緒，會透過色彩展現。當在曼陀羅中央填入強烈的紅色時，可能是在表達內在的痛楚或不滿；填入藍色時，可能代表渴望平靜。這個過程能讓人重新與自己的身體與心理感受產生連結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712975"/>
            <a:ext cx="3273552" cy="4364736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415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altLang="zh-TW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zh-TW" altLang="en-US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 ╴</a:t>
            </a:r>
            <a:r>
              <a:rPr lang="en-US" altLang="zh-TW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zh-TW" altLang="en-US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lang="zh-TW" altLang="en-US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心感</a:t>
            </a:r>
            <a:r>
              <a:rPr lang="zh-TW" altLang="en-US" sz="30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的內在覺察～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3、彼此「共同」的覺察：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看見關係的質變——當大家並肩坐著，聞著同一股香氣、畫著各自的曼陀羅時，會觸發一種「平行共處」的奇妙體驗。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看見彼此都是獨立的靈魂：在作品完成後的分享（或靜默欣賞）中，往往會驚訝地發現：原來對方心裡還渴望著這樣的色彩，遠比我們以為的更立體。也能感受到彼此在畫紙上流露出的壓力與溫柔。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放下對立，轉為同理：這種不帶批判的藝術空間，能讓彼此同時覺察到：「我們都在各自的生活裡努力著。」原本的緊張或對立，會在此刻轉化為深度的生命共鳴與同理心。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146665"/>
            <a:ext cx="3273552" cy="3497356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83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en-US" altLang="zh-TW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 、</a:t>
            </a:r>
            <a:r>
              <a:rPr lang="zh-TW" altLang="en-US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觸覺</a:t>
            </a:r>
            <a:r>
              <a:rPr lang="zh-TW" altLang="en-US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引領～在藝術輔療與曼陀羅創作中，觸覺的反饋（</a:t>
            </a:r>
            <a:r>
              <a:rPr lang="en-US" altLang="zh-TW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Tactile Feedback</a:t>
            </a:r>
            <a:r>
              <a:rPr lang="zh-TW" altLang="en-US" sz="1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）扮演著「建立安全感」與「連結身體覺察」的關鍵橋梁。</a:t>
            </a:r>
          </a:p>
        </p:txBody>
      </p:sp>
      <p:sp>
        <p:nvSpPr>
          <p:cNvPr id="3" name="矩形 2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心理學上的藝術輔療以及科技領域中，它的意思如下：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Tactile（觸覺的）：指我們透過皮膚、手指、手掌去觸摸、按壓、感覺物體時的身體感官。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Feedback（反饋/回饋）：指物體接觸到我們身體後，回傳給大腦的信號與物理反應。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在藝術輔療情境中，它的意思是：當我們用手去接觸畫筆、紙張或顏料時，身體所得到的「真實觸感」與「物理抵抗力」。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例如：當畫筆按壓紙張的時候，讓大腦知道「我正在做這件事」，進而產生安心感。用重複的蓋印章動作，這種簡單的觸感直接安撫了緊繃的神經。印上顏料時的厚實與變形，手掌感受到的壓力和反彈，讓人宣洩內心的力道與情緒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簡單來說，Tactile Feedback 就是「手指與皮膚摸到東西時，大腦所接收到的真實感受與回報」。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454" y="1371600"/>
            <a:ext cx="2839026" cy="5047488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93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g_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7149" y="1"/>
            <a:ext cx="698090" cy="7039896"/>
          </a:xfrm>
          <a:noFill/>
          <a:ln>
            <a:noFill/>
          </a:ln>
          <a:effectLst/>
        </p:spPr>
        <p:txBody>
          <a:bodyPr wrap="square"/>
          <a:lstStyle/>
          <a:p>
            <a:pPr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曼陀羅工具介紹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0" r="6941" b="4212"/>
          <a:stretch/>
        </p:blipFill>
        <p:spPr>
          <a:xfrm>
            <a:off x="1048589" y="145026"/>
            <a:ext cx="4963744" cy="5567517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3" t="1577" r="7132"/>
          <a:stretch/>
        </p:blipFill>
        <p:spPr>
          <a:xfrm>
            <a:off x="6115664" y="145026"/>
            <a:ext cx="5820697" cy="6749845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pic>
        <p:nvPicPr>
          <p:cNvPr id="8" name="Picture 7" descr="motif_ring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972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g_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flipH="1">
            <a:off x="108153" y="491613"/>
            <a:ext cx="717756" cy="6213986"/>
          </a:xfrm>
          <a:noFill/>
          <a:ln>
            <a:noFill/>
          </a:ln>
          <a:effectLst/>
        </p:spPr>
        <p:txBody>
          <a:bodyPr wrap="square"/>
          <a:lstStyle/>
          <a:p>
            <a:pPr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曼陀羅工具介紹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5" t="-1147" r="17598" b="4946"/>
          <a:stretch/>
        </p:blipFill>
        <p:spPr>
          <a:xfrm>
            <a:off x="924232" y="0"/>
            <a:ext cx="4581833" cy="6924347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9" r="2294" b="21613"/>
          <a:stretch/>
        </p:blipFill>
        <p:spPr>
          <a:xfrm>
            <a:off x="5506065" y="169607"/>
            <a:ext cx="6528620" cy="5375788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pic>
        <p:nvPicPr>
          <p:cNvPr id="8" name="Picture 7" descr="motif_ring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42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_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flipH="1">
            <a:off x="0" y="365125"/>
            <a:ext cx="838200" cy="5799701"/>
          </a:xfrm>
          <a:noFill/>
          <a:ln>
            <a:noFill/>
          </a:ln>
          <a:effectLst/>
        </p:spPr>
        <p:txBody>
          <a:bodyPr wrap="square"/>
          <a:lstStyle/>
          <a:p>
            <a:pPr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曼陀羅工具介紹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0" t="4014" r="20753" b="6237"/>
          <a:stretch/>
        </p:blipFill>
        <p:spPr>
          <a:xfrm>
            <a:off x="1052052" y="187478"/>
            <a:ext cx="3991897" cy="6154994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5" r="8456" b="1776"/>
          <a:stretch/>
        </p:blipFill>
        <p:spPr>
          <a:xfrm>
            <a:off x="6469626" y="689186"/>
            <a:ext cx="5024285" cy="6168814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5" name="文字方塊 4"/>
          <p:cNvSpPr txBox="1"/>
          <p:nvPr/>
        </p:nvSpPr>
        <p:spPr>
          <a:xfrm>
            <a:off x="6646607" y="98323"/>
            <a:ext cx="1435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平頭筆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pic>
        <p:nvPicPr>
          <p:cNvPr id="9" name="Picture 8" descr="motif_ring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95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_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flipH="1">
            <a:off x="68826" y="365125"/>
            <a:ext cx="769374" cy="6075004"/>
          </a:xfrm>
          <a:noFill/>
          <a:ln>
            <a:noFill/>
          </a:ln>
          <a:effectLst/>
        </p:spPr>
        <p:txBody>
          <a:bodyPr wrap="square"/>
          <a:lstStyle/>
          <a:p>
            <a:pPr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曼陀羅工具介紹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5" r="8566" b="2365"/>
          <a:stretch/>
        </p:blipFill>
        <p:spPr>
          <a:xfrm>
            <a:off x="1071715" y="844729"/>
            <a:ext cx="5262717" cy="6013271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5" name="文字方塊 4"/>
          <p:cNvSpPr txBox="1"/>
          <p:nvPr/>
        </p:nvSpPr>
        <p:spPr>
          <a:xfrm>
            <a:off x="1720646" y="235974"/>
            <a:ext cx="2035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圓珠筆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173" y="961102"/>
            <a:ext cx="5783827" cy="5783827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994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_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flipH="1">
            <a:off x="0" y="365125"/>
            <a:ext cx="855406" cy="6097710"/>
          </a:xfrm>
          <a:noFill/>
          <a:ln>
            <a:noFill/>
          </a:ln>
          <a:effectLst/>
        </p:spPr>
        <p:txBody>
          <a:bodyPr wrap="square"/>
          <a:lstStyle/>
          <a:p>
            <a:pPr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曼陀羅顏料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88" r="-837" b="12688"/>
          <a:stretch/>
        </p:blipFill>
        <p:spPr>
          <a:xfrm>
            <a:off x="1026276" y="98322"/>
            <a:ext cx="3819997" cy="3359375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" t="45072"/>
          <a:stretch/>
        </p:blipFill>
        <p:spPr>
          <a:xfrm>
            <a:off x="5714541" y="1818968"/>
            <a:ext cx="6277093" cy="4643867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pic>
        <p:nvPicPr>
          <p:cNvPr id="9" name="Picture 8" descr="motif_ring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10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g_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曼陀羅顏料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52" y="2792361"/>
            <a:ext cx="6817033" cy="3834581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1" t="9175" r="2221" b="30753"/>
          <a:stretch/>
        </p:blipFill>
        <p:spPr>
          <a:xfrm>
            <a:off x="7464041" y="2015613"/>
            <a:ext cx="4521481" cy="4712687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838200" y="1371600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pic>
        <p:nvPicPr>
          <p:cNvPr id="9" name="Picture 8" descr="motif_ring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08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dirty="0" sz="26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纏枝紋梅瓶～寓意生命力的流轉與修復</a:t>
            </a:r>
          </a:p>
        </p:txBody>
      </p:sp>
      <p:sp>
        <p:nvSpPr>
          <p:cNvPr id="3" name="矩形 2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1、纏枝紋的「生命力」寓意——纏枝紋（又稱「萬壽藤」）的核心特徵是連綿不斷、循環往復。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生生不息：它描繪植物藤蔓纏繞、委婉多姿的樣子，象徵著強大且持久的生命韌性。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循環與轉機：藤蔓無始無終的生長軌跡，寓意生命力的流轉與更新，與「生生不息、重獲生機」的祝福非常契合。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2、「瓶」與「平」的雙重祝福——梅瓶在民間工藝中本就有「平平安安」的諧音。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無論送給自己或所珍視的人，最美好的期盼莫過於「平安」。「瓶（平）」安與「纏枝（生生不息）」結合，構成了「平安健康、生命長青」的完整祝福。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173837"/>
            <a:ext cx="3273552" cy="3443012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16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 flipH="1">
            <a:off x="127819" y="365125"/>
            <a:ext cx="710381" cy="6202823"/>
          </a:xfrm>
          <a:noFill/>
          <a:ln>
            <a:noFill/>
          </a:ln>
          <a:effectLst/>
        </p:spPr>
        <p:txBody>
          <a:bodyPr wrap="square"/>
          <a:lstStyle/>
          <a:p>
            <a:pPr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纏枝紋梅瓶～平平安安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7" t="2437" r="16609" b="1649"/>
          <a:stretch/>
        </p:blipFill>
        <p:spPr>
          <a:xfrm>
            <a:off x="4739148" y="0"/>
            <a:ext cx="2463665" cy="6754884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pic>
        <p:nvPicPr>
          <p:cNvPr id="7" name="Picture 6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05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371600"/>
            <a:ext cx="7680960" cy="5047488"/>
          </a:xfrm>
          <a:prstGeom prst="roundRect">
            <a:avLst>
              <a:gd name="adj" fmla="val 4000"/>
            </a:avLst>
          </a:prstGeom>
          <a:solidFill>
            <a:srgbClr val="FBF8F1">
              <a:alpha val="96000"/>
            </a:srgbClr>
          </a:solidFill>
          <a:ln w="12700">
            <a:solidFill>
              <a:srgbClr val="D9D0C2"/>
            </a:solidFill>
          </a:ln>
          <a:effectLst>
            <a:outerShdw blurRad="91440" dist="45720" dir="5400000" rotWithShape="0">
              <a:srgbClr val="3A2E2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66928" y="310896"/>
            <a:ext cx="11064240" cy="96012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「深秋憂鬱感」</a:t>
            </a:r>
          </a:p>
        </p:txBody>
      </p:sp>
      <p:sp>
        <p:nvSpPr>
          <p:cNvPr id="3" name="矩形 2"/>
          <p:cNvSpPr/>
          <p:nvPr/>
        </p:nvSpPr>
        <p:spPr>
          <a:xfrm>
            <a:off x="594360" y="1426464"/>
            <a:ext cx="7498080" cy="493775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6304" rIns="146304" tIns="91440" bIns="91440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《題宣州開元寺水閣》-杜牧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六朝文物草連空，天淡雲閒今古同。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【1:營造出一種「物是人非」的蒼涼感】。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鳥去鳥來山色裏，人歌人哭水聲中。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【2用「歌、哭」來寫人生，非常有張力，表現出生命在時間長河裡的渺小】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深秋簾幕千家雨，落日樓臺一笛風。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4B4641"/>
                </a:solidFill>
                <a:latin typeface="微軟正黑體"/>
                <a:ea typeface="微軟正黑體"/>
                <a:cs typeface="微軟正黑體"/>
              </a:rPr>
              <a:t>【3「千家雨」寫的是廣度，「一笛風」寫的是孤單。這種「以大襯小」的手法】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161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258568"/>
            <a:ext cx="3273552" cy="3273552"/>
          </a:xfrm>
          <a:prstGeom prst="roundRect">
            <a:avLst>
              <a:gd name="adj" fmla="val 5000"/>
            </a:avLst>
          </a:prstGeom>
          <a:ln w="3810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49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dirty="0" sz="26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意境的堆疊～融入情境使作品具有深度</a:t>
            </a:r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34" y="2506662"/>
            <a:ext cx="4351338" cy="4351338"/>
          </a:xfrm>
        </p:spPr>
      </p:pic>
      <p:pic>
        <p:nvPicPr>
          <p:cNvPr id="7" name="內容版面配置區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747" y="2538746"/>
            <a:ext cx="4375356" cy="4375356"/>
          </a:xfrm>
        </p:spPr>
      </p:pic>
      <p:sp>
        <p:nvSpPr>
          <p:cNvPr id="8" name="文字方塊 7"/>
          <p:cNvSpPr txBox="1"/>
          <p:nvPr/>
        </p:nvSpPr>
        <p:spPr>
          <a:xfrm>
            <a:off x="838200" y="1602658"/>
            <a:ext cx="349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深秋簾幕千家雨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7551175" y="1759974"/>
            <a:ext cx="3145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落日樓臺一笛風</a:t>
            </a:r>
            <a:endParaRPr lang="zh-TW" altLang="en-US" sz="3200" dirty="0"/>
          </a:p>
        </p:txBody>
      </p:sp>
      <p:sp>
        <p:nvSpPr>
          <p:cNvPr id="11" name="Rectangle 10"/>
          <p:cNvSpPr/>
          <p:nvPr/>
        </p:nvSpPr>
        <p:spPr>
          <a:xfrm>
            <a:off x="838200" y="1371600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pic>
        <p:nvPicPr>
          <p:cNvPr id="14" name="Picture 13" descr="motif_ring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92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g_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6813"/>
            <a:ext cx="10577053" cy="1022555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是意識的創作不是勞作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4400"/>
            <a:ext cx="4992329" cy="4779512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41" t="49962" r="3087" b="6633"/>
          <a:stretch/>
        </p:blipFill>
        <p:spPr>
          <a:xfrm>
            <a:off x="6695768" y="1998782"/>
            <a:ext cx="4955459" cy="4598663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838199" y="1154504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pic>
        <p:nvPicPr>
          <p:cNvPr id="9" name="Picture 8" descr="motif_ring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1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g_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17988"/>
            <a:ext cx="10518058" cy="1002890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創作材料～牛皮紙書籤、流蘇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9" t="8811" r="15897" b="9130"/>
          <a:stretch/>
        </p:blipFill>
        <p:spPr>
          <a:xfrm>
            <a:off x="334297" y="2290916"/>
            <a:ext cx="4208206" cy="4351668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609" y="2290916"/>
            <a:ext cx="6557186" cy="4290505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838200" y="1066014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pic>
        <p:nvPicPr>
          <p:cNvPr id="9" name="Picture 8" descr="motif_ring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84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創作材料～一人三張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4" r="1456" b="5233"/>
          <a:stretch/>
        </p:blipFill>
        <p:spPr>
          <a:xfrm>
            <a:off x="1150373" y="2335773"/>
            <a:ext cx="3923071" cy="4930265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838200" y="1371600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pic>
        <p:nvPicPr>
          <p:cNvPr id="8" name="Picture 7" descr="motif_ring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72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作品賞析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606" y="1690688"/>
            <a:ext cx="2897136" cy="5150464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83" y="1690688"/>
            <a:ext cx="3928602" cy="5238136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218" y="1690688"/>
            <a:ext cx="2310582" cy="5004306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838200" y="1371600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pic>
        <p:nvPicPr>
          <p:cNvPr id="11" name="Picture 10" descr="motif_ring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368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_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76981"/>
            <a:ext cx="10537723" cy="1199535"/>
          </a:xfr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上課花絮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75" y="1462551"/>
            <a:ext cx="2427952" cy="5395449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297" y="1462551"/>
            <a:ext cx="4017092" cy="5356123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785" y="3038168"/>
            <a:ext cx="4424515" cy="3318386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838200" y="1321652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34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28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g_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>
              <a:lnSpc>
                <a:spcPct val="104000"/>
              </a:lnSpc>
            </a:pPr>
            <a:r>
              <a:rPr lang="zh-TW" altLang="en-US" dirty="0" sz="3000" b="1">
                <a:solidFill>
                  <a:srgbClr val="576B67"/>
                </a:solidFill>
                <a:latin typeface="微軟正黑體"/>
                <a:ea typeface="微軟正黑體"/>
                <a:cs typeface="微軟正黑體"/>
              </a:rPr>
              <a:t>上課花絮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4" y="1868948"/>
            <a:ext cx="3859776" cy="5146368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948" y="1868949"/>
            <a:ext cx="3742633" cy="4989051"/>
          </a:xfrm>
          <a:prstGeom prst="roundRect">
            <a:avLst>
              <a:gd name="adj" fmla="val 4000"/>
            </a:avLst>
          </a:prstGeom>
          <a:ln w="30480">
            <a:solidFill>
              <a:srgbClr val="FBF8F1"/>
            </a:solidFill>
          </a:ln>
          <a:effectLst>
            <a:outerShdw blurRad="73152" dist="54864" dir="5400000" rotWithShape="0">
              <a:srgbClr val="3A2E2E">
                <a:alpha val="62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838200" y="1371600"/>
            <a:ext cx="2194560" cy="32004"/>
          </a:xfrm>
          <a:prstGeom prst="rect">
            <a:avLst/>
          </a:prstGeom>
          <a:solidFill>
            <a:srgbClr val="AB9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686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8178"/>
                </a:solidFill>
                <a:latin typeface="微軟正黑體"/>
                <a:ea typeface="微軟正黑體"/>
                <a:cs typeface="微軟正黑體"/>
              </a:rPr>
              <a:t>點鏡藝術工作室　‧　一點一滴，照見自己。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40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AB9055"/>
                </a:solidFill>
                <a:latin typeface="微軟正黑體"/>
                <a:ea typeface="微軟正黑體"/>
                <a:cs typeface="微軟正黑體"/>
              </a:rPr>
              <a:t>35</a:t>
            </a:r>
          </a:p>
        </p:txBody>
      </p:sp>
      <p:pic>
        <p:nvPicPr>
          <p:cNvPr id="10" name="Picture 9" descr="motif_ring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164592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95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9306</TotalTime>
  <Words>3419</Words>
  <Application>Microsoft Office PowerPoint</Application>
  <PresentationFormat>寬螢幕</PresentationFormat>
  <Paragraphs>213</Paragraphs>
  <Slides>35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36" baseType="lpstr">
      <vt:lpstr>Office 佈景主題</vt:lpstr>
      <vt:lpstr> 繽紛五感體驗  曼陀羅書籤畫・課程大綱 </vt:lpstr>
      <vt:lpstr>課程架構：三大單元 </vt:lpstr>
      <vt:lpstr>1、曼陀羅（Mandala）的起源</vt:lpstr>
      <vt:lpstr>PowerPoint 簡報</vt:lpstr>
      <vt:lpstr>【心理學】 1：。 透過在圓形（曼陀羅）內自由繪畫、著色或拼貼，個案能夠進入深層潛意識、梳理混亂情緒、整合自我內心，最終達到減壓與自我探索的目的。  2：曼陀羅（Mandala）源自梵文，意指「圓圈」或「中心」。 在藝術輔療中，具備以下幾個核心概念與特徵： 心理學背景： 由瑞士心理學家卡爾·榮格（Carl Jung）引入西方心理學。 他觀察到人類情緒混亂時，會自然畫出圓形圖案來尋求內心秩序，並將其視為「心靈能量」與自我整合的象徵。  3：圓形的保護感：  圓形沒有起點與終點，提供創作者一個被保護的安全空間，讓人能在其中安心面對潛意識的恐懼與真實感受。  4：自我覺察與對話： 創作者藉由顏色、線條與圖案的選擇，將抽象的情緒（如焦慮、憤怒、喜悅）具象化，客觀地「看見」自己的內心狀態，進而化解內在衝突。  應用廣泛： 常用於減壓放鬆、創傷療癒、靈性成長及注意力提升，適合各年齡層的自我照顧。</vt:lpstr>
      <vt:lpstr>【繪畫創作】繪畫創作是一種強大的心理與生理療癒工具，它超越了語言的限制，能為大腦、情緒和身體帶來多重正面影響。 </vt:lpstr>
      <vt:lpstr>繪畫創作與曼陀羅在長照領域 核心應用優點與實務做法</vt:lpstr>
      <vt:lpstr>核心色彩的心理象徵</vt:lpstr>
      <vt:lpstr>三、色彩的心理象徵</vt:lpstr>
      <vt:lpstr>單元二：曼陀羅基礎技法與試作（60分鐘）「繽紛五感曼陀羅」實作體驗</vt:lpstr>
      <vt:lpstr>1、視覺色彩選擇～壓克力顏料</vt:lpstr>
      <vt:lpstr>PowerPoint 簡報</vt:lpstr>
      <vt:lpstr>2 、聽覺音樂引導～頌缽音樂冥想</vt:lpstr>
      <vt:lpstr>3～（1）、嗅覺呼吸引導～將精油嗅覺呼吸引導（正念呼吸、身心雙重療愈） </vt:lpstr>
      <vt:lpstr>3～（2）、嗅覺呼吸引導～將精油嗅覺呼吸引導（正念呼吸、身心雙重療育） </vt:lpstr>
      <vt:lpstr>4 ╴1、心感的內在覺察～能夠強烈且深刻地引發長照患者（長輩）與家屬彼此的內在覺察。</vt:lpstr>
      <vt:lpstr>4 ╴2、心感的內在覺察～</vt:lpstr>
      <vt:lpstr>4 ╴3、心感的內在覺察～</vt:lpstr>
      <vt:lpstr>5 、觸覺引領～在藝術輔療與曼陀羅創作中，觸覺的反饋（Tactile Feedback）扮演著「建立安全感」與「連結身體覺察」的關鍵橋梁。</vt:lpstr>
      <vt:lpstr>曼陀羅工具介紹</vt:lpstr>
      <vt:lpstr>曼陀羅工具介紹</vt:lpstr>
      <vt:lpstr>曼陀羅工具介紹</vt:lpstr>
      <vt:lpstr>曼陀羅工具介紹</vt:lpstr>
      <vt:lpstr>曼陀羅顏料</vt:lpstr>
      <vt:lpstr>曼陀羅顏料</vt:lpstr>
      <vt:lpstr>纏枝紋梅瓶～寓意生命力的流轉與修復</vt:lpstr>
      <vt:lpstr>纏枝紋梅瓶～平平安安</vt:lpstr>
      <vt:lpstr>「深秋憂鬱感」</vt:lpstr>
      <vt:lpstr>意境的堆疊～融入情境使作品具有深度</vt:lpstr>
      <vt:lpstr>是意識的創作不是勞作</vt:lpstr>
      <vt:lpstr>創作材料～牛皮紙書籤、流蘇</vt:lpstr>
      <vt:lpstr>創作材料～一人三張</vt:lpstr>
      <vt:lpstr>作品賞析</vt:lpstr>
      <vt:lpstr>上課花絮</vt:lpstr>
      <vt:lpstr>上課花絮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繽紛五感體驗 曼陀羅書籤畫・課程大綱 </dc:title>
  <dc:creator>張婉愉</dc:creator>
  <cp:lastModifiedBy>Serina Huang</cp:lastModifiedBy>
  <cp:revision>75</cp:revision>
  <dcterms:created xsi:type="dcterms:W3CDTF">2026-05-30T13:13:36Z</dcterms:created>
  <dcterms:modified xsi:type="dcterms:W3CDTF">2026-06-14T01:45:43Z</dcterms:modified>
</cp:coreProperties>
</file>