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9" r:id="rId5"/>
    <p:sldId id="258" r:id="rId6"/>
    <p:sldId id="260" r:id="rId7"/>
    <p:sldId id="261" r:id="rId8"/>
    <p:sldId id="262" r:id="rId9"/>
    <p:sldId id="264" r:id="rId10"/>
    <p:sldId id="265" r:id="rId11"/>
    <p:sldId id="266" r:id="rId12"/>
    <p:sldId id="276" r:id="rId13"/>
    <p:sldId id="267" r:id="rId14"/>
    <p:sldId id="268" r:id="rId15"/>
    <p:sldId id="277" r:id="rId16"/>
    <p:sldId id="269" r:id="rId17"/>
    <p:sldId id="278" r:id="rId18"/>
    <p:sldId id="279" r:id="rId19"/>
    <p:sldId id="270" r:id="rId20"/>
    <p:sldId id="271" r:id="rId21"/>
    <p:sldId id="272" r:id="rId22"/>
    <p:sldId id="273" r:id="rId23"/>
    <p:sldId id="274" r:id="rId24"/>
    <p:sldId id="275" r:id="rId25"/>
    <p:sldId id="291" r:id="rId26"/>
    <p:sldId id="285" r:id="rId27"/>
    <p:sldId id="284" r:id="rId28"/>
    <p:sldId id="283" r:id="rId29"/>
    <p:sldId id="286" r:id="rId30"/>
    <p:sldId id="282" r:id="rId31"/>
    <p:sldId id="281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FFCC"/>
    <a:srgbClr val="86C8C8"/>
    <a:srgbClr val="FFFFFF"/>
    <a:srgbClr val="E0CEDC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837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67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968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421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51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5295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572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889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650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0989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8173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94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image" Target="../media/image3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3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1.jpg"/><Relationship Id="rId4" Type="http://schemas.openxmlformats.org/officeDocument/2006/relationships/image" Target="../media/image3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2.jpg"/><Relationship Id="rId4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3.jpg"/><Relationship Id="rId4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4.jpg"/><Relationship Id="rId4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5.jpg"/><Relationship Id="rId4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7.png"/><Relationship Id="rId3" Type="http://schemas.openxmlformats.org/officeDocument/2006/relationships/image" Target="../media/image46.jpg"/><Relationship Id="rId4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5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7.jpg"/><Relationship Id="rId4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8.jpg"/><Relationship Id="rId4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9.jpg"/><Relationship Id="rId4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0.jpg"/><Relationship Id="rId4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1.jpg"/><Relationship Id="rId4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19.jpg"/><Relationship Id="rId4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3.jpg"/><Relationship Id="rId4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1.jpg"/><Relationship Id="rId4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e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jpg"/><Relationship Id="rId3" Type="http://schemas.openxmlformats.org/officeDocument/2006/relationships/image" Target="../media/image34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32688" y="1828800"/>
            <a:ext cx="7223760" cy="2468880"/>
          </a:xfrm>
        </p:spPr>
        <p:txBody>
          <a:bodyPr wrap="square">
            <a:no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br>
              <a:rPr lang="en-US" altLang="zh-TW" sz="5400" b="1" dirty="0">
                <a:solidFill>
                  <a:srgbClr val="7030A0"/>
                </a:solidFill>
              </a:rPr>
            </a:br>
            <a:r>
              <a:rPr lang="zh-TW" altLang="zh-TW" sz="4600" b="1" dirty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繽紛五感體驗</a:t>
            </a:r>
            <a:br>
              <a:rPr lang="en-US" altLang="zh-TW" sz="5400" b="1" dirty="0">
                <a:solidFill>
                  <a:srgbClr val="7030A0"/>
                </a:solidFill>
              </a:rPr>
            </a:br>
            <a:br>
              <a:rPr lang="zh-TW" altLang="zh-TW" sz="5400" dirty="0"/>
            </a:br>
            <a:r>
              <a:rPr lang="zh-TW" altLang="zh-TW" sz="4600" dirty="0" b="1">
                <a:solidFill>
                  <a:srgbClr val="F3EEE2"/>
                </a:solidFill>
                <a:latin typeface="微軟正黑體" panose="02020603050405020304" pitchFamily="18" charset="0"/>
                <a:ea typeface="微軟正黑體" panose="020B0604020202020204" pitchFamily="34" charset="0"/>
                <a:cs typeface="微軟正黑體"/>
              </a:rPr>
              <a:t>曼陀羅書籤畫・課程大綱</a:t>
            </a:r>
            <a:br>
              <a:rPr lang="zh-TW" altLang="zh-TW" sz="5400" dirty="0">
                <a:latin typeface="Times New Roman" panose="02020603050405020304" pitchFamily="18" charset="0"/>
              </a:rPr>
            </a:br>
            <a:endParaRPr lang="zh-TW" altLang="en-US" sz="5400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207008" y="4645152"/>
            <a:ext cx="6400800" cy="1463040"/>
          </a:xfrm>
        </p:spPr>
        <p:txBody>
          <a:bodyPr wrap="square">
            <a:normAutofit/>
          </a:bodyPr>
          <a:lstStyle/>
          <a:p>
            <a:pPr algn="l">
              <a:lnSpc>
                <a:spcPct val="125000"/>
              </a:lnSpc>
            </a:pPr>
            <a:endParaRPr lang="en-US" altLang="zh-TW" sz="4800" dirty="0"/>
          </a:p>
          <a:p>
            <a:pPr algn="l">
              <a:lnSpc>
                <a:spcPct val="125000"/>
              </a:lnSpc>
            </a:pPr>
            <a:r>
              <a:rPr lang="zh-TW" altLang="zh-TW" sz="22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主講：張婉愉老師</a:t>
            </a:r>
            <a:endParaRPr lang="en-US" altLang="zh-TW" sz="4800" dirty="0"/>
          </a:p>
          <a:p>
            <a:pPr algn="l">
              <a:lnSpc>
                <a:spcPct val="125000"/>
              </a:lnSpc>
            </a:pPr>
            <a:r>
              <a:rPr lang="zh-TW" altLang="zh-TW" sz="22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　　</a:t>
            </a:r>
            <a:endParaRPr lang="en-US" altLang="zh-TW" sz="4800" dirty="0"/>
          </a:p>
          <a:p>
            <a:pPr algn="l">
              <a:lnSpc>
                <a:spcPct val="125000"/>
              </a:lnSpc>
            </a:pPr>
            <a:r>
              <a:rPr lang="zh-TW" altLang="zh-TW" sz="22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｜課程時長：</a:t>
            </a:r>
            <a:r>
              <a:rPr lang="en-US" altLang="zh-TW" sz="22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lang="zh-TW" altLang="zh-TW" sz="22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小時</a:t>
            </a:r>
            <a:endParaRPr lang="en-US" altLang="zh-TW" sz="4800" dirty="0"/>
          </a:p>
          <a:p>
            <a:pPr algn="l">
              <a:lnSpc>
                <a:spcPct val="125000"/>
              </a:lnSpc>
            </a:pPr>
            <a:endParaRPr lang="zh-TW" altLang="en-US" sz="4800" dirty="0"/>
          </a:p>
        </p:txBody>
      </p:sp>
      <p:pic>
        <p:nvPicPr>
          <p:cNvPr id="5" name="Picture 4" descr="motif_ring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66928"/>
            <a:ext cx="841248" cy="8412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60120" y="1627632"/>
            <a:ext cx="1554480" cy="41148"/>
          </a:xfrm>
          <a:prstGeom prst="rect">
            <a:avLst/>
          </a:prstGeom>
          <a:solidFill>
            <a:srgbClr val="C0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4370832"/>
            <a:ext cx="2743200" cy="45720"/>
          </a:xfrm>
          <a:prstGeom prst="rect">
            <a:avLst/>
          </a:prstGeom>
          <a:solidFill>
            <a:srgbClr val="C0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20" y="4681728"/>
            <a:ext cx="64008" cy="960120"/>
          </a:xfrm>
          <a:prstGeom prst="rect">
            <a:avLst/>
          </a:prstGeom>
          <a:solidFill>
            <a:srgbClr val="B08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69585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94360" y="1572768"/>
            <a:ext cx="7498080" cy="459943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五感覺醒與心靈沉澱（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40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分鐘）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對應課程目標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-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身心面：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透過五感激活，進入專注放鬆狀態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培養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正念覺察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當下感知能力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在創作中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體驗喜悅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自我表達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內容：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開場暖身：香氛、頌缽、靜心呼吸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認識曼陀羅：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起源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象徵意義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色彩心理學</a:t>
            </a:r>
          </a:p>
        </p:txBody>
      </p:sp>
      <p:sp>
        <p:nvSpPr>
          <p:cNvPr id="5" name="標題 1"/>
          <p:cNvSpPr>
            <a:spLocks noGrp="1"/>
          </p:cNvSpPr>
          <p:nvPr>
            <p:ph type="ctr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1000"/>
              </a:spcBef>
            </a:pPr>
            <a:r>
              <a:rPr lang="zh-TW" altLang="en-US" sz="30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課程架構：三大單元</a:t>
            </a:r>
            <a:br>
              <a:rPr lang="zh-TW" altLang="en-US" sz="4800" dirty="0">
                <a:solidFill>
                  <a:srgbClr val="7030A0"/>
                </a:solidFill>
                <a:latin typeface="Calibri" panose="020F0502020204030204"/>
                <a:cs typeface="+mn-cs"/>
              </a:rPr>
            </a:br>
            <a:endParaRPr lang="zh-TW" altLang="en-US" sz="4800" dirty="0">
              <a:solidFill>
                <a:srgbClr val="7030A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5.jpg"/>
          <p:cNvPicPr>
            <a:picLocks noChangeAspect="1"/>
          </p:cNvPicPr>
          <p:nvPr/>
        </p:nvPicPr>
        <p:blipFill>
          <a:blip r:embed="rId3"/>
          <a:srcRect t="1280" b="1280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5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、曼陀羅（</a:t>
            </a: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）的起源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94360" y="1572768"/>
            <a:ext cx="7498080" cy="459943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曼陀羅起源與演進的三大核心階段：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宗教與哲學起源（古代印度）字源含意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曼陀羅源自古印度的梵文「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由「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本質、精髓、圓心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）與「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La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」（意指成就、裝飾、圓圈）組合而成，字面意思為「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完整的圓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」或「神聖的中心」。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佛教與婆羅門教： 最早出現在古印度的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梨俱吠陀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中。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在藏傳佛教與密宗中，曼陀羅被繪製成極其繁複的幾何圖案，代表宇宙的縮影與神佛的聖殿，僧侶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透過觀想或用沙畫繪製曼陀羅來進行修行與冥想。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當代心理學的引入（西方世界）榮格的發現： 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20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世紀初，瑞士心理學家卡爾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）將曼陀羅帶入西方心理學領域。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心靈的鏡子： 榮格在自身面臨心理危機時，發現自己每天早上自發性地在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筆記本上畫出圓形圖案，隨後內心便感到平靜。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他將此視為人類「集體潛意識」的展現，並認為曼陀羅是「個體化進程」（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Self-actualization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）中，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內心追求平衡與自我整合的自然本能。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自然與文化的普世現象自然界的幾何學： 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除了宗教與心理學，曼陀羅的「中心對稱圓形」結構廣泛存在於自然界中，例如年輪、雪花、花朵、太陽系、甚至人體的細胞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。跨文化共鳴： 這種圓形符號在世界各地的古文明中都有出現（如美洲原住民的醫藥輪、歐洲教堂的玫瑰花窗），證實了人類對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「圓形與中心」具有普世的心理共鳴。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4.jpg"/>
          <p:cNvPicPr>
            <a:picLocks noChangeAspect="1"/>
          </p:cNvPicPr>
          <p:nvPr/>
        </p:nvPicPr>
        <p:blipFill>
          <a:blip r:embed="rId3"/>
          <a:srcRect l="14691" r="14691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54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認識曼陀羅</a:t>
            </a:r>
            <a:endParaRPr lang="zh-TW" altLang="en-US" sz="4400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一、藝術輔療的定義目標與專業角色</a:t>
            </a:r>
            <a:endParaRPr lang="en-US" altLang="zh-TW" sz="36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二、探討其在長照領域的應用範圍</a:t>
            </a:r>
            <a:endParaRPr lang="en-US" altLang="zh-TW" sz="36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特別著重於如何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透過藝術媒介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長者的情緒表達、認知刺激與社交互動。</a:t>
            </a:r>
            <a:endParaRPr lang="en-US" altLang="zh-TW" sz="3600" dirty="0">
              <a:solidFill>
                <a:srgbClr val="00B05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三曼陀羅從最初的「宗教宇宙觀」，演變為今日在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長照、心理諮商中廣泛應用的「心靈自癒工具」。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6.jpg"/>
          <p:cNvPicPr>
            <a:picLocks noChangeAspect="1"/>
          </p:cNvPicPr>
          <p:nvPr/>
        </p:nvPicPr>
        <p:blipFill>
          <a:blip r:embed="rId3"/>
          <a:srcRect l="17605" r="17605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22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594360" y="1572768"/>
            <a:ext cx="7498080" cy="459943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br>
              <a:rPr lang="en-US" altLang="zh-TW" sz="2000" dirty="0"/>
            </a:b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：。</a:t>
            </a:r>
            <a:br>
              <a:rPr lang="zh-TW" altLang="en-US" sz="2000" dirty="0"/>
            </a:b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透過在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圓形（曼陀羅）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內自由繪畫、著色或拼貼，個案能夠進入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深層潛意識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梳理混亂情緒、整合自我內心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，最終達到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減壓與自我探索的目的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：曼陀羅（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）源自梵文，意指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「圓圈」或「中心」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en-US" altLang="zh-TW" sz="2000" dirty="0"/>
            </a:b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在藝術輔療中，具備以下幾個核心概念與特徵：</a:t>
            </a:r>
            <a:br>
              <a:rPr lang="zh-TW" altLang="en-US" sz="2000" dirty="0"/>
            </a:b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心理學背景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由瑞士心理學家卡爾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）引入西方心理學。</a:t>
            </a:r>
            <a:br>
              <a:rPr lang="en-US" altLang="zh-TW" sz="2000" dirty="0"/>
            </a:b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他觀察到人類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情緒混亂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時，會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自然畫出圓形圖案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來尋求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內心秩序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，並將其視為「心靈能量」與自我整合的象徵。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：圓形的保護感： </a:t>
            </a:r>
            <a:br>
              <a:rPr lang="zh-TW" altLang="en-US" sz="2000" dirty="0"/>
            </a:b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圓形沒有起點與終點，提供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創作者一個被保護的安全空間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，讓人能在其中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安心面對潛意識的恐懼與真實感受。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：自我覺察與對話： 創作者藉由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顏色、線條與圖案的選擇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，將抽象的情緒（如焦慮、憤怒、喜悅）具象化，客觀地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「看見」自己的內心狀態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，進而化解內在衝突。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應用廣泛： 常用於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減壓放鬆、創傷療癒、靈性成長及注意力提升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，適合各年齡層的自我照顧。</a:t>
            </a:r>
          </a:p>
        </p:txBody>
      </p:sp>
      <p:sp>
        <p:nvSpPr>
          <p:cNvPr id="5" name="矩形 4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、曼陀羅藝術輔療的定義</a:t>
            </a:r>
            <a:endParaRPr lang="en-US" altLang="zh-TW" sz="1400" dirty="0"/>
          </a:p>
          <a:p>
            <a:pPr algn="l">
              <a:lnSpc>
                <a:spcPct val="104000"/>
              </a:lnSpc>
            </a:pP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曼陀羅藝術輔療是藝術輔療的一種分支，結合了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心理學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與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繪畫創作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endParaRPr lang="zh-TW" altLang="en-US" sz="3200" dirty="0"/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7.jpg"/>
          <p:cNvPicPr>
            <a:picLocks noChangeAspect="1"/>
          </p:cNvPicPr>
          <p:nvPr/>
        </p:nvPicPr>
        <p:blipFill>
          <a:blip r:embed="rId3"/>
          <a:srcRect l="11291" r="11291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1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以下是繪畫創作的主要優點：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釋放壓抑情緒：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將無法用言語表達的焦慮、憤怒或悲傷，透過線條與色彩具象化，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安全地宣洩出來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降低壓力荷爾蒙：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創作過程能激活副交感神經，有效降低皮質醇（壓力荷爾蒙）水平，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達到身心放鬆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進入心流狀態：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專注於繪畫能讓人忘卻時間與煩惱，這種「心流」狀態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能重新提振精神、恢復心理韌性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提升大腦認知功能：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繪畫需要動用視覺、空間感與手部微細肌肉，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能刺激大腦神經網絡，增強專注力與記憶力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促進自我覺察：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作品就像內心世界的一面鏡子，能幫助你客觀檢視自己的潛意識，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看清內心真正的需求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建立掌控感與自信：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從一張白紙到完成作品的過程，能帶來極大的成成就感，幫助低潮期的人重拾生活掌控力。</a:t>
            </a: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</a:t>
            </a: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繪畫創作是一種強大的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心理與生理療癒工具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，它超越了語言的限制，能為大腦、情緒和身體帶來多重正面影響。</a:t>
            </a:r>
            <a:br>
              <a:rPr lang="zh-TW" altLang="en-US" sz="20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dirty="0"/>
          </a:p>
        </p:txBody>
      </p:sp>
      <p:sp>
        <p:nvSpPr>
          <p:cNvPr id="8" name="Rectangle 7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ach_demo.jpg"/>
          <p:cNvPicPr>
            <a:picLocks noChangeAspect="1"/>
          </p:cNvPicPr>
          <p:nvPr/>
        </p:nvPicPr>
        <p:blipFill>
          <a:blip r:embed="rId3"/>
          <a:srcRect l="2196" r="2196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0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6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繪畫創作與曼陀羅在長照領域</a:t>
            </a:r>
            <a:br>
              <a:rPr lang="en-US" altLang="zh-TW" sz="3600" dirty="0"/>
            </a:br>
            <a:r>
              <a:rPr lang="zh-TW" altLang="en-US" sz="26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</a:t>
            </a:r>
            <a:r>
              <a:rPr lang="zh-TW" altLang="en-US" sz="26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應用優點</a:t>
            </a:r>
            <a:r>
              <a:rPr lang="zh-TW" altLang="en-US" sz="26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與實務做法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）：認知刺激與延緩失智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激活大腦神經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：繪畫時挑選顏色、構圖、抓握畫筆，需要同時動用視覺、空間感與微細肌肉運動，能有效刺激大腦神經網絡。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延緩失智退化：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透過結構化的繪畫活動（如曼陀羅著色、線條禪繞），能幫助失智長者維持專注力與手眼協調能力。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）：情緒支持與非言語溝通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突破語言障礙：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許多長者因中風、失智或退化而表達困難。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繪畫提供非言語的溝通管道，讓他們用色彩與線條表達內心感受與需求。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減少精神行為症狀（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BPSD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專注於創作能帶來平靜，顯著降低長者的焦慮、游走、躁動或憂鬱情緒。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）：懷舊輔療與自我認同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重塑生命故事：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引導長者繪畫家鄉、童年玩伴或生命重要時刻（懷舊繪畫），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能喚醒長期記憶。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200" u="sng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1200" u="sng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重拾尊嚴與掌控感：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長照長者常因失去生活自理能力而感到無力。在畫紙上，他們能全權決定色彩與圖案，重新獲得成就感與自我價值。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）：社交互動與延緩孤獨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團體創作促進交流： 機構內舉辦集體繪畫或作品分享會，能讓長者互相欣賞、讚美，建立人際連結並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降低孤獨感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ach_paint1.jpg"/>
          <p:cNvPicPr>
            <a:picLocks noChangeAspect="1"/>
          </p:cNvPicPr>
          <p:nvPr/>
        </p:nvPicPr>
        <p:blipFill>
          <a:blip r:embed="rId3"/>
          <a:srcRect l="7001" r="7001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43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紅色（生命力與憤怒）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代表充沛的能量、熱情、行動力、生存本能與身體的陽量。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可能暗示內心正累積憤怒、衝動、挫折感或正處於生力中。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黃色（理智與焦慮）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代表智慧、邏輯思考、樂觀、自信與追求個人陽般耀眼）。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過多時可能反映出過度思考、控制欲、嫉妒或對未來的慮。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藍色（平靜與憂鬱）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代表內省、沉靜、信任、靈性思考、以及良好的溝達能力。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灰暗的藍色可能暗示悲傷、憂鬱、情感孤立、或刻意情緒。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綠色（療癒與停滯）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代表成長、大自然的生命力、心胸開放、同理心與自進程。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可能代表害怕改變、嫉妒、或是正處於需要高精神疲憊期。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橙色（創造力與依賴）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代表社交互動、創造力、情緒的流動、感官享受童的活力。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可能反映出情感上的過度依賴、成癮傾向或對人際關焦慮。</a:t>
            </a:r>
            <a:r>
              <a:rPr lang="en-US" altLang="zh-TW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lang="zh-TW" altLang="en-US" sz="2400" dirty="0">
              <a:solidFill>
                <a:srgbClr val="00206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3.jpg"/>
          <p:cNvPicPr>
            <a:picLocks noChangeAspect="1"/>
          </p:cNvPicPr>
          <p:nvPr/>
        </p:nvPicPr>
        <p:blipFill>
          <a:blip r:embed="rId3"/>
          <a:srcRect l="18863" r="18863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826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三、色彩的心理象徵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6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紫色（靈性與抽離）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代表高度的靈性覺察、直覺、轉化、神祕感與浪漫的想像力。陰影： 過多可能意味著逃避現實、與土地（現實生活）斷聯、或精神過度敏感。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7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黑、白、灰的特殊意義黑色（保護與未知）：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代表子宮般的安全保護、潛意識的深層秘密、暫時的隱退；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但也可能暗示哀傷、恐懼或防禦心理。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8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白色（純潔與空虛）：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代表靈性的光芒、新開始、純潔與誠實；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若畫面出現大面積刻意留白，可能暗示內心感到空虛、情感抽離或防衛。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9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灰色（中立與迷惘）：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代表平衡、中立、不偏不倚；在心理低潮時，也常反映出沮喪、迷惘、缺乏動力或身心俱疲。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實務解讀的重要原則在曼陀羅輔療中，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色彩沒有絕對的好壞。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解讀時必須觀察：色彩的相對位置： </a:t>
            </a:r>
            <a:endParaRPr lang="en-US" altLang="zh-TW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畫在「中心」通常代表目前的自我核心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；</a:t>
            </a:r>
            <a:endParaRPr lang="en-US" altLang="zh-TW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畫在「邊緣」則代表呈現給外在世界的面貌或未來的期許。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創作者的個人經驗： 對長輩而言，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綠色可能代表他熱愛的田園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，而非單純的心理療癒。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因此，最準確的定義永遠來自創作者本人的直覺與聯想。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3443" r="13443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89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單元二：曼陀羅基礎技法與試作（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60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分鐘）「繽紛五感曼陀羅」實作體驗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</a:t>
            </a:r>
            <a:endParaRPr lang="en-US" altLang="zh-TW" sz="36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色彩選擇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音樂引導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精油輔助以及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的內在覺察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引領學員進入專注創作的流動狀態。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學員將完成個人化的曼陀羅書籤作品，並學習如何將此技法應用於長照實務中，提升照護品質與服務對象的生活福祉。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ach_paint2.jpg"/>
          <p:cNvPicPr>
            <a:picLocks noChangeAspect="1"/>
          </p:cNvPicPr>
          <p:nvPr/>
        </p:nvPicPr>
        <p:blipFill>
          <a:blip r:embed="rId3"/>
          <a:srcRect l="2469" r="2469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242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6478"/>
            <a:ext cx="10515600" cy="1052052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色彩選擇～壓克力顏料</a:t>
            </a:r>
            <a:endParaRPr lang="zh-TW" altLang="en-US" i="1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sz="half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838200" y="1403427"/>
            <a:ext cx="4252133" cy="2391825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6099" b="15870"/>
          <a:stretch/>
        </p:blipFill>
        <p:spPr>
          <a:xfrm>
            <a:off x="1431680" y="3940149"/>
            <a:ext cx="3065172" cy="3126658"/>
          </a:xfr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748" y="2310581"/>
            <a:ext cx="6651087" cy="38296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8200" y="1203666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788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414" y="1825625"/>
            <a:ext cx="4593047" cy="4830814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7113" y="1825624"/>
            <a:ext cx="4540655" cy="4852413"/>
          </a:xfr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17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6044183" y="1697608"/>
            <a:ext cx="5567909" cy="5165504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音樂引導～頌缽音樂冥想</a:t>
            </a:r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3" y="2799905"/>
            <a:ext cx="5641807" cy="3237102"/>
          </a:xfr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11877" cy="4909472"/>
          </a:xfrm>
          <a:noFill/>
          <a:ln>
            <a:noFill/>
          </a:ln>
          <a:effectLst/>
        </p:spPr>
        <p:txBody>
          <a:bodyPr lIns="182880" rIns="182880" tIns="128016" bIns="128016" wrap="square">
            <a:normAutofit/>
          </a:bodyPr>
          <a:lstStyle/>
          <a:p>
            <a:pPr>
              <a:lnSpc>
                <a:spcPct val="116000"/>
              </a:lnSpc>
              <a:spcAft>
                <a:spcPts val="600"/>
              </a:spcAft>
            </a:pPr>
            <a:r>
              <a:rPr lang="zh-TW" altLang="en-US" dirty="0" sz="20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古老的音頻共振與靜心冥想，能繞過理性思考，讓腦波迅速從活躍的 </a:t>
            </a:r>
            <a:r>
              <a:rPr lang="en-US" altLang="zh-TW" dirty="0" sz="20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Beta </a:t>
            </a:r>
            <a:r>
              <a:rPr lang="zh-TW" altLang="en-US" dirty="0" sz="20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波轉為深度放鬆的 </a:t>
            </a:r>
            <a:r>
              <a:rPr lang="en-US" altLang="zh-TW" dirty="0" sz="20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Alpha </a:t>
            </a:r>
            <a:r>
              <a:rPr lang="zh-TW" altLang="en-US" dirty="0" sz="20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 與 </a:t>
            </a:r>
            <a:r>
              <a:rPr lang="en-US" altLang="zh-TW" dirty="0" sz="20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Theta </a:t>
            </a:r>
            <a:r>
              <a:rPr lang="zh-TW" altLang="en-US" dirty="0" sz="20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波。</a:t>
            </a:r>
          </a:p>
          <a:p>
            <a:pPr>
              <a:lnSpc>
                <a:spcPct val="116000"/>
              </a:lnSpc>
              <a:spcAft>
                <a:spcPts val="600"/>
              </a:spcAft>
            </a:pPr>
            <a:r>
              <a:rPr lang="zh-TW" altLang="en-US" dirty="0" sz="20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可以這能有效舒緩壓力焦慮、改善睡眠品質、深度放鬆身心，並活化身體的自癒能力。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78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</a:t>
            </a:r>
            <a:r>
              <a:rPr lang="zh-TW" altLang="en-US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</a:t>
            </a:r>
            <a:r>
              <a:rPr lang="zh-TW" altLang="en-US" sz="22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將精油嗅覺呼吸引導（正念呼吸、身心雙重療愈）</a:t>
            </a:r>
            <a:br>
              <a:rPr lang="zh-TW" altLang="en-US" sz="27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sz="2700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嗅覺是唯一不經過視丘、直接刺激大腦大腦邊緣系統（情緒與記憶中心）的感官，對長照患者與家屬能帶來立竿見影的效益。</a:t>
            </a:r>
            <a:endParaRPr lang="en-US" altLang="zh-TW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對長照患者（長輩）的好處</a:t>
            </a:r>
            <a:endParaRPr lang="en-US" altLang="zh-TW" sz="24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1`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能激發生命記憶（懷舊療癒）：</a:t>
            </a:r>
            <a:endParaRPr lang="en-US" altLang="zh-TW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嗅覺能瞬間喚醒深層記憶。例如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檜木或柑橘清香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，能引導長輩聯想到森林或廚房記憶，誘發繪畫創作的靈感與表達欲。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ˋ改善精神行為症狀（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BPSD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薰衣草、佛手柑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等精油結合深呼吸，能激活副交感神經，有效緩解失智長者的躁動、游走、日落症候群與無故焦慮。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3`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提升呼吸順暢度與含氧量：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尤加利或薄荷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等精油進行呼吸引導，能幫助長期臥床的長輩擴張胸腔、促進血液循環，提升大腦灌流量。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4`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非侵入性的安全安撫：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對於無法言語或肢體僵硬的長者，氣味引導不需要耗費體力，能提供最溫和、無壓力的撫慰與安全感。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2.jpg"/>
          <p:cNvPicPr>
            <a:picLocks noChangeAspect="1"/>
          </p:cNvPicPr>
          <p:nvPr/>
        </p:nvPicPr>
        <p:blipFill>
          <a:blip r:embed="rId3"/>
          <a:srcRect l="28141" r="28141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7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呼吸引導～</a:t>
            </a:r>
            <a:r>
              <a:rPr lang="zh-TW" altLang="en-US" sz="2200" dirty="0" b="1">
                <a:solidFill>
                  <a:srgbClr val="576B67"/>
                </a:solidFill>
                <a:latin typeface="微軟正黑體" panose="020F0502020204030204"/>
                <a:ea typeface="微軟正黑體"/>
                <a:cs typeface="微軟正黑體"/>
              </a:rPr>
              <a:t>將精油嗅覺呼吸引導（正念呼吸、身心雙重療育）</a:t>
            </a:r>
            <a:br>
              <a:rPr lang="zh-TW" altLang="en-US" sz="2400" dirty="0">
                <a:solidFill>
                  <a:prstClr val="black"/>
                </a:solidFill>
                <a:latin typeface="Calibri" panose="020F0502020204030204"/>
              </a:rPr>
            </a:b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對長照家屬（照顧者）的好處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1`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即時抽離高壓環境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（快速減壓）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照顧者常處於慢性疲勞與神經緊繃狀態。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透過幾分鐘的精油深呼吸，能快速降低皮質醇（壓力荷爾蒙），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讓大腦按下暫停鍵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endParaRPr lang="en-US" altLang="zh-TW" sz="2400" dirty="0">
              <a:solidFill>
                <a:prstClr val="black"/>
              </a:solidFill>
            </a:endParaRP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2`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改善睡眠品質： 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長期照顧往往伴隨睡眠中斷。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在夜間或休息時進行芳香呼吸，能引導大腦進入放鬆波，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緩解神經性失眠與焦慮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3`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轉化負面情緒與罪惡感： 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照顧過程中難免產生挫折與憤怒。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>
                    <a:lumMod val="75000"/>
                  </a:srgbClr>
                </a:solidFill>
                <a:latin typeface="微軟正黑體"/>
                <a:ea typeface="微軟正黑體"/>
                <a:cs typeface="微軟正黑體"/>
              </a:rPr>
              <a:t>柑橘類（如甜橙、葡萄柚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）能帶來陽光般的能量，重塑正向情緒，減少照顧憂鬱。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雙方共同的隱形好處：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重建愛的連結當家屬與長輩「同時」身處在同一個和諧的香氣與呼吸引導中，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原本緊繃的「照顧與被照顧」關係會轉化為共同體驗的「陪伴」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這能營造一個高度安心的氛圍，非常適合在呼吸放鬆後，順暢地過渡到曼陀羅的繪畫創作中。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1.jpg"/>
          <p:cNvPicPr>
            <a:picLocks noChangeAspect="1"/>
          </p:cNvPicPr>
          <p:nvPr/>
        </p:nvPicPr>
        <p:blipFill>
          <a:blip r:embed="rId3"/>
          <a:srcRect l="26666" r="26666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507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的內在覺察～能夠強烈且深刻地引發長照患者（長輩）與家屬彼此的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內在覺察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 marL="514350" indent="-514350">
              <a:lnSpc>
                <a:spcPct val="112000"/>
              </a:lnSpc>
              <a:spcAft>
                <a:spcPts val="400"/>
              </a:spcAft>
              <a:buAutoNum type="arabicPeriod"/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對於家屬（照顧者）的內在覺察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</a:t>
            </a:r>
            <a:endParaRPr lang="en-US" altLang="zh-TW" sz="28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從「外在承擔」回到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「自我陪伴」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長照家屬的日常核心往往卡在「長輩需要什麼」，完全壓抑了自我。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覺察身體的緊繃： 在精油呼吸引導的當下，氣味會強迫家屬將注意力從長輩身上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移回自己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他們會在深呼吸中突然驚覺：「原來我的肩膀這麼緊、呼吸這麼淺。」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進而覺察到自己累積的長期疲憊。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看見被壓抑的情緒陰影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在隨後的曼陀羅繪畫中，家屬可能會自發性地畫出混亂的線條、或選用大面積的灰色與黑色。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這面畫紙就像心靈的鏡子，讓家屬坦然面對並看見自己內心深處的挫折、憤怒或愧疚感。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ach_group.jpg"/>
          <p:cNvPicPr>
            <a:picLocks noChangeAspect="1"/>
          </p:cNvPicPr>
          <p:nvPr/>
        </p:nvPicPr>
        <p:blipFill>
          <a:blip r:embed="rId3"/>
          <a:srcRect l="6326" r="6326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210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對於長照患者（長輩）的內在覺察：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從「無能為力」到「內在價值」許多長輩因為身體退化，在生活中失去了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掌控權與話語權。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喚醒沉睡的自我本質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當特定的植物香氣（如泥土香、草本香）刺激大腦情緒中心時，長輩會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瞬間連結到生命中最有活力的歲月。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這能幫助他們覺察到自己不只是個「需要被照顧的病人」，而是一個擁有豐富生命故事的個體。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透過色彩宣洩微弱的呼喊：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無法用言語清楚表達的長輩，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會透過色彩展現內心狀態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當他們在曼陀羅中央填入強烈的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時，可能是在表達體內的痛楚或不滿；填入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時，可能代表渴望平靜。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這個過程能讓長輩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重新與自己的身體與心理感受產生連結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ach_paint3.jpg"/>
          <p:cNvPicPr>
            <a:picLocks noChangeAspect="1"/>
          </p:cNvPicPr>
          <p:nvPr/>
        </p:nvPicPr>
        <p:blipFill>
          <a:blip r:embed="rId3"/>
          <a:srcRect l="7870" r="7870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15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雙方「彼此」的共同覺察：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看見關係的質變當長輩與家屬並肩坐著，聞著同一股香氣、畫著各自的曼陀羅時，會觸發一種「平行共處」的奇妙體驗。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看見彼此都是獨立的靈魂：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在作品完成後的分享（或靜默欣賞）中，家屬會驚訝地發現：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原來爸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媽心裡還渴望著這樣的色彩，他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她不只是個失智症患者。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長輩也能感受到家屬在畫紙上流露出的壓力與溫柔。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放下對立，轉為同理：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這種不帶批判的藝術空間，能讓雙方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dirty="0"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同時覺察到：「我們都在這場照顧風暴中努力著。」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dirty="0"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緊繃的</a:t>
            </a:r>
            <a:r>
              <a:rPr lang="zh-TW" altLang="en-US" dirty="0"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醫病對立感</a:t>
            </a:r>
            <a:r>
              <a:rPr lang="zh-TW" altLang="en-US" dirty="0"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會在此刻轉化為</a:t>
            </a:r>
            <a:r>
              <a:rPr lang="zh-TW" altLang="en-US" dirty="0"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深度的生命共鳴與同理心</a:t>
            </a:r>
            <a:r>
              <a:rPr lang="zh-TW" altLang="en-US" dirty="0"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ach_paint4.jpg"/>
          <p:cNvPicPr>
            <a:picLocks noChangeAspect="1"/>
          </p:cNvPicPr>
          <p:nvPr/>
        </p:nvPicPr>
        <p:blipFill>
          <a:blip r:embed="rId3"/>
          <a:srcRect l="1360" r="1360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283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引領～在藝術輔療與曼陀羅創作中，觸覺的反饋（</a:t>
            </a: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Tactile Feedback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）扮演著「建立安全感」與「連結身體覺察」的關鍵橋梁。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心理學上藝術治療以及科技領域中，它的意思如下：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（觸覺的）：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指我們透過皮膚、手指、手掌去觸摸、按壓、感覺物體時的身體感官。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Feedback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（反饋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回饋）：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指物體接觸到我們身體後，回傳給大腦的信號與物理反應。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在藝術輔療情境中，它的意思是：當長輩或家屬用手去接觸畫筆、紙張或顏料時，身體所得到的「真實觸感」與「物理抵抗力」。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例如：當畫筆按壓紙張的時候：讓大腦知道「我正在做這件事」，進而產生安心感。用重複的蓋印章動作：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這種簡單的畫筆與紙張的觸感直接安撫了緊繃的神經。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印上顏料時的厚實與變形：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手掌感受到的壓力和反彈，讓人宣洩內心的力道與情緒。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簡單來說，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 Feedback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就是「手指與皮膚摸到東西時，大腦所接收到的真實感受與回報」。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t="9543" b="9543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93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7149" y="1"/>
            <a:ext cx="698090" cy="703989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0" r="6941" b="4212"/>
          <a:stretch/>
        </p:blipFill>
        <p:spPr>
          <a:xfrm>
            <a:off x="1048589" y="145026"/>
            <a:ext cx="4963744" cy="556751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3" t="1577" r="7132"/>
          <a:stretch/>
        </p:blipFill>
        <p:spPr>
          <a:xfrm>
            <a:off x="6115664" y="145026"/>
            <a:ext cx="5820697" cy="674984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972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08153" y="491613"/>
            <a:ext cx="717756" cy="621398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45" t="-1147" r="17598" b="4946"/>
          <a:stretch/>
        </p:blipFill>
        <p:spPr>
          <a:xfrm>
            <a:off x="924232" y="0"/>
            <a:ext cx="4581833" cy="692434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" r="2294" b="21613"/>
          <a:stretch/>
        </p:blipFill>
        <p:spPr>
          <a:xfrm>
            <a:off x="5506065" y="169607"/>
            <a:ext cx="6528620" cy="537578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542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38200" cy="5799701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0" t="4014" r="20753" b="6237"/>
          <a:stretch/>
        </p:blipFill>
        <p:spPr>
          <a:xfrm>
            <a:off x="1052052" y="187478"/>
            <a:ext cx="3991897" cy="615499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5" r="8456" b="1776"/>
          <a:stretch/>
        </p:blipFill>
        <p:spPr>
          <a:xfrm>
            <a:off x="6469626" y="689186"/>
            <a:ext cx="5024285" cy="616881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6646607" y="98323"/>
            <a:ext cx="1435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平頭筆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695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68826" y="365125"/>
            <a:ext cx="769374" cy="6075004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r="8566" b="2365"/>
          <a:stretch/>
        </p:blipFill>
        <p:spPr>
          <a:xfrm>
            <a:off x="1071715" y="844729"/>
            <a:ext cx="5262717" cy="601327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1720646" y="235974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圓珠筆</a:t>
            </a: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173" y="961102"/>
            <a:ext cx="5783827" cy="578382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94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55406" cy="6097710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88" r="-837" b="12688"/>
          <a:stretch/>
        </p:blipFill>
        <p:spPr>
          <a:xfrm>
            <a:off x="1026276" y="98322"/>
            <a:ext cx="3819997" cy="335937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" t="45072"/>
          <a:stretch/>
        </p:blipFill>
        <p:spPr>
          <a:xfrm>
            <a:off x="5714541" y="1818968"/>
            <a:ext cx="6277093" cy="464386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10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52" y="2792361"/>
            <a:ext cx="6817033" cy="383458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1" t="9175" r="2221" b="30753"/>
          <a:stretch/>
        </p:blipFill>
        <p:spPr>
          <a:xfrm>
            <a:off x="7464041" y="2015613"/>
            <a:ext cx="4521481" cy="471268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25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40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纏枝紋梅瓶～寓意生命力的流轉與修復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纏枝紋的「生命力」寓意纏枝紋（又稱「萬壽藤」）的核心特徵是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連綿不斷、循環往復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生生不息：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它描繪植物藤蔓纏繞、委婉多姿的樣子，象徵著強大且持久的生命韌性。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循環與轉機：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藤蔓無始無終的生長軌跡，寓意生命力的流轉與修復，這與「早日康復、重獲生機」的願望非常契合。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8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「瓶」與「平」的雙重祝福梅瓶本身在民間工藝中就有「平平安安」的諧音。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對於生病的家人來說，最大的期盼莫過於「平安」渡過難關。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「瓶（平）」安與「纏枝（生生不息）」結合，構成了「平安健康、生命長青」的完整祝福。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5243" r="15243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26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164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27819" y="365125"/>
            <a:ext cx="710381" cy="6202823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纏枝紋梅瓶～平平安安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97" t="2437" r="16609" b="1649"/>
          <a:stretch/>
        </p:blipFill>
        <p:spPr>
          <a:xfrm>
            <a:off x="4739148" y="0"/>
            <a:ext cx="2463665" cy="675488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27</a:t>
            </a:r>
          </a:p>
        </p:txBody>
      </p:sp>
      <p:pic>
        <p:nvPicPr>
          <p:cNvPr id="7" name="Picture 6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05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「深秋憂鬱感」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題宣州開元寺水閣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》-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杜牧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六朝文物草連空，天淡雲閒今古同。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【1: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營造出一種「物是人非」的蒼涼感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鳥去鳥來山色裏，人歌人哭水聲中。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【2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用「歌、哭」來寫人生，非常有張力，表現出生命在時間長河裡的渺小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endParaRPr lang="zh-TW" altLang="en-US" sz="3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深秋簾幕千家雨，落日樓臺一笛風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endParaRPr lang="en-US" altLang="zh-TW" sz="4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【3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「千家雨」寫的是廣度，「一笛風」寫的是孤單。這種「以大襯小」的手法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endParaRPr lang="zh-TW" altLang="en-US" sz="3200" dirty="0">
              <a:solidFill>
                <a:srgbClr val="C0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5243" r="15243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28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49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意境的堆疊～融入情境使作品具有深度</a:t>
            </a:r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34" y="2506662"/>
            <a:ext cx="4351338" cy="4351338"/>
          </a:xfrm>
        </p:spPr>
      </p:pic>
      <p:pic>
        <p:nvPicPr>
          <p:cNvPr id="7" name="內容版面配置區 6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747" y="2538746"/>
            <a:ext cx="4375356" cy="4375356"/>
          </a:xfrm>
        </p:spPr>
      </p:pic>
      <p:sp>
        <p:nvSpPr>
          <p:cNvPr id="8" name="文字方塊 7"/>
          <p:cNvSpPr txBox="1"/>
          <p:nvPr/>
        </p:nvSpPr>
        <p:spPr>
          <a:xfrm>
            <a:off x="838200" y="1602658"/>
            <a:ext cx="349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深秋簾幕千家雨</a:t>
            </a:r>
            <a:endParaRPr lang="zh-TW" altLang="en-US" sz="3200" dirty="0"/>
          </a:p>
        </p:txBody>
      </p:sp>
      <p:sp>
        <p:nvSpPr>
          <p:cNvPr id="9" name="文字方塊 8"/>
          <p:cNvSpPr txBox="1"/>
          <p:nvPr/>
        </p:nvSpPr>
        <p:spPr>
          <a:xfrm>
            <a:off x="7551175" y="1759974"/>
            <a:ext cx="31457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落日樓臺一笛風</a:t>
            </a:r>
            <a:endParaRPr lang="zh-TW" altLang="en-US" sz="3200" dirty="0"/>
          </a:p>
        </p:txBody>
      </p:sp>
      <p:sp>
        <p:nvSpPr>
          <p:cNvPr id="11" name="Rectangle 10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29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92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199" y="186813"/>
            <a:ext cx="10577053" cy="102255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是意識的創作不是勞作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4400"/>
            <a:ext cx="4992329" cy="4779512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41" t="49962" r="3087" b="6633"/>
          <a:stretch/>
        </p:blipFill>
        <p:spPr>
          <a:xfrm>
            <a:off x="6695768" y="1998782"/>
            <a:ext cx="4955459" cy="459866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199" y="115450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30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1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17988"/>
            <a:ext cx="10518058" cy="100289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創作材料～牛皮紙書籤、流蘇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9" t="8811" r="15897" b="9130"/>
          <a:stretch/>
        </p:blipFill>
        <p:spPr>
          <a:xfrm>
            <a:off x="334297" y="2290916"/>
            <a:ext cx="4208206" cy="43516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609" y="2290916"/>
            <a:ext cx="6557186" cy="429050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06601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31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584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創作材料～一人三張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4" r="1456" b="5233"/>
          <a:stretch/>
        </p:blipFill>
        <p:spPr>
          <a:xfrm>
            <a:off x="1150373" y="2335773"/>
            <a:ext cx="3923071" cy="49302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32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72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作品賞析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606" y="1690688"/>
            <a:ext cx="2897136" cy="515046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83" y="1690688"/>
            <a:ext cx="3928602" cy="523813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218" y="1690688"/>
            <a:ext cx="2310582" cy="500430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0368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76981"/>
            <a:ext cx="10537723" cy="119953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75" y="1462551"/>
            <a:ext cx="2427952" cy="5395449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297" y="1462551"/>
            <a:ext cx="4017092" cy="535612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785" y="3038168"/>
            <a:ext cx="4424515" cy="331838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216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28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64" y="1868948"/>
            <a:ext cx="3859776" cy="51463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948" y="1868949"/>
            <a:ext cx="3742633" cy="498905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9306</TotalTime>
  <Words>3419</Words>
  <Application>Microsoft Office PowerPoint</Application>
  <PresentationFormat>寬螢幕</PresentationFormat>
  <Paragraphs>213</Paragraphs>
  <Slides>35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36" baseType="lpstr">
      <vt:lpstr>Office 佈景主題</vt:lpstr>
      <vt:lpstr> 繽紛五感體驗  曼陀羅書籤畫・課程大綱 </vt:lpstr>
      <vt:lpstr>課程架構：三大單元 </vt:lpstr>
      <vt:lpstr>1、曼陀羅（Mandala）的起源</vt:lpstr>
      <vt:lpstr>PowerPoint 簡報</vt:lpstr>
      <vt:lpstr>【心理學】 1：。 透過在圓形（曼陀羅）內自由繪畫、著色或拼貼，個案能夠進入深層潛意識、梳理混亂情緒、整合自我內心，最終達到減壓與自我探索的目的。  2：曼陀羅（Mandala）源自梵文，意指「圓圈」或「中心」。 在藝術輔療中，具備以下幾個核心概念與特徵： 心理學背景： 由瑞士心理學家卡爾·榮格（Carl Jung）引入西方心理學。 他觀察到人類情緒混亂時，會自然畫出圓形圖案來尋求內心秩序，並將其視為「心靈能量」與自我整合的象徵。  3：圓形的保護感：  圓形沒有起點與終點，提供創作者一個被保護的安全空間，讓人能在其中安心面對潛意識的恐懼與真實感受。  4：自我覺察與對話： 創作者藉由顏色、線條與圖案的選擇，將抽象的情緒（如焦慮、憤怒、喜悅）具象化，客觀地「看見」自己的內心狀態，進而化解內在衝突。  應用廣泛： 常用於減壓放鬆、創傷療癒、靈性成長及注意力提升，適合各年齡層的自我照顧。</vt:lpstr>
      <vt:lpstr>【繪畫創作】繪畫創作是一種強大的心理與生理療癒工具，它超越了語言的限制，能為大腦、情緒和身體帶來多重正面影響。 </vt:lpstr>
      <vt:lpstr>繪畫創作與曼陀羅在長照領域 核心應用優點與實務做法</vt:lpstr>
      <vt:lpstr>核心色彩的心理象徵</vt:lpstr>
      <vt:lpstr>三、色彩的心理象徵</vt:lpstr>
      <vt:lpstr>單元二：曼陀羅基礎技法與試作（60分鐘）「繽紛五感曼陀羅」實作體驗</vt:lpstr>
      <vt:lpstr>1、視覺色彩選擇～壓克力顏料</vt:lpstr>
      <vt:lpstr>PowerPoint 簡報</vt:lpstr>
      <vt:lpstr>2 、聽覺音樂引導～頌缽音樂冥想</vt:lpstr>
      <vt:lpstr>3～（1）、嗅覺呼吸引導～將精油嗅覺呼吸引導（正念呼吸、身心雙重療愈） </vt:lpstr>
      <vt:lpstr>3～（2）、嗅覺呼吸引導～將精油嗅覺呼吸引導（正念呼吸、身心雙重療育） </vt:lpstr>
      <vt:lpstr>4 ╴1、心感的內在覺察～能夠強烈且深刻地引發長照患者（長輩）與家屬彼此的內在覺察。</vt:lpstr>
      <vt:lpstr>4 ╴2、心感的內在覺察～</vt:lpstr>
      <vt:lpstr>4 ╴3、心感的內在覺察～</vt:lpstr>
      <vt:lpstr>5 、觸覺引領～在藝術輔療與曼陀羅創作中，觸覺的反饋（Tactile Feedback）扮演著「建立安全感」與「連結身體覺察」的關鍵橋梁。</vt:lpstr>
      <vt:lpstr>曼陀羅工具介紹</vt:lpstr>
      <vt:lpstr>曼陀羅工具介紹</vt:lpstr>
      <vt:lpstr>曼陀羅工具介紹</vt:lpstr>
      <vt:lpstr>曼陀羅工具介紹</vt:lpstr>
      <vt:lpstr>曼陀羅顏料</vt:lpstr>
      <vt:lpstr>曼陀羅顏料</vt:lpstr>
      <vt:lpstr>纏枝紋梅瓶～寓意生命力的流轉與修復</vt:lpstr>
      <vt:lpstr>纏枝紋梅瓶～平平安安</vt:lpstr>
      <vt:lpstr>「深秋憂鬱感」</vt:lpstr>
      <vt:lpstr>意境的堆疊～融入情境使作品具有深度</vt:lpstr>
      <vt:lpstr>是意識的創作不是勞作</vt:lpstr>
      <vt:lpstr>創作材料～牛皮紙書籤、流蘇</vt:lpstr>
      <vt:lpstr>創作材料～一人三張</vt:lpstr>
      <vt:lpstr>作品賞析</vt:lpstr>
      <vt:lpstr>上課花絮</vt:lpstr>
      <vt:lpstr>上課花絮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繽紛五感體驗 曼陀羅書籤畫・課程大綱 </dc:title>
  <dc:creator>張婉愉</dc:creator>
  <cp:lastModifiedBy>Serina Huang</cp:lastModifiedBy>
  <cp:revision>75</cp:revision>
  <dcterms:created xsi:type="dcterms:W3CDTF">2026-05-30T13:13:36Z</dcterms:created>
  <dcterms:modified xsi:type="dcterms:W3CDTF">2026-06-14T01:45:43Z</dcterms:modified>
</cp:coreProperties>
</file>