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image" Target="../media/image3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7.png"/><Relationship Id="rId3" Type="http://schemas.openxmlformats.org/officeDocument/2006/relationships/image" Target="../media/image46.jpg"/><Relationship Id="rId4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7.jpg"/><Relationship Id="rId4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2.jpg"/><Relationship Id="rId4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3.jpg"/><Relationship Id="rId4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.jpeg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.jpeg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32688" y="1828800"/>
            <a:ext cx="7223760" cy="2468880"/>
          </a:xfrm>
        </p:spPr>
        <p:txBody>
          <a:bodyPr wrap="square">
            <a:no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br>
              <a:rPr lang="en-US" altLang="zh-TW" sz="5400" b="1" dirty="0">
                <a:solidFill>
                  <a:srgbClr val="7030A0"/>
                </a:solidFill>
              </a:rPr>
            </a:br>
            <a:r>
              <a:rPr lang="zh-TW" altLang="zh-TW" sz="4600" b="1" dirty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br>
              <a:rPr lang="en-US" altLang="zh-TW" sz="5400" b="1" dirty="0">
                <a:solidFill>
                  <a:srgbClr val="7030A0"/>
                </a:solidFill>
              </a:rPr>
            </a:br>
            <a:br>
              <a:rPr lang="zh-TW" altLang="zh-TW" sz="5400" dirty="0"/>
            </a:br>
            <a:r>
              <a:rPr lang="zh-TW" altLang="zh-TW" sz="4600" dirty="0" b="1">
                <a:solidFill>
                  <a:srgbClr val="F3EEE2"/>
                </a:solidFill>
                <a:latin typeface="微軟正黑體" panose="02020603050405020304" pitchFamily="18" charset="0"/>
                <a:ea typeface="微軟正黑體" panose="020B0604020202020204" pitchFamily="34" charset="0"/>
                <a:cs typeface="微軟正黑體"/>
              </a:rPr>
              <a:t>曼陀羅書籤畫・課程大綱</a:t>
            </a:r>
            <a:br>
              <a:rPr lang="zh-TW" altLang="zh-TW" sz="5400" dirty="0">
                <a:latin typeface="Times New Roman" panose="02020603050405020304" pitchFamily="18" charset="0"/>
              </a:rPr>
            </a:br>
            <a:endParaRPr lang="zh-TW" altLang="en-US" sz="5400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207008" y="4617720"/>
            <a:ext cx="6400800" cy="1737360"/>
          </a:xfrm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</a:pPr>
            <a:endParaRPr lang="en-US" altLang="zh-TW" sz="4800" dirty="0"/>
          </a:p>
          <a:p>
            <a:pPr algn="l">
              <a:lnSpc>
                <a:spcPct val="120000"/>
              </a:lnSpc>
            </a:pPr>
            <a:r>
              <a:rPr lang="zh-TW" altLang="zh-TW" sz="14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  <a:p>
            <a:pPr algn="l">
              <a:lnSpc>
                <a:spcPct val="120000"/>
              </a:lnSpc>
            </a:pPr>
            <a:r>
              <a:rPr lang="zh-TW" altLang="zh-TW" sz="14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　　</a:t>
            </a:r>
            <a:endParaRPr lang="en-US" altLang="zh-TW" sz="4800" dirty="0"/>
          </a:p>
          <a:p>
            <a:pPr algn="l">
              <a:lnSpc>
                <a:spcPct val="120000"/>
              </a:lnSpc>
            </a:pPr>
            <a:r>
              <a:rPr lang="zh-TW" altLang="zh-TW" sz="14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｜課程時長：</a:t>
            </a:r>
            <a:r>
              <a:rPr lang="en-US" altLang="zh-TW" sz="14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zh-TW" sz="14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小時</a:t>
            </a:r>
            <a:endParaRPr lang="en-US" altLang="zh-TW" sz="4800" dirty="0"/>
          </a:p>
          <a:p>
            <a:pPr algn="l">
              <a:lnSpc>
                <a:spcPct val="120000"/>
              </a:lnSpc>
            </a:pPr>
            <a:endParaRPr lang="zh-TW" altLang="en-US" sz="4800" dirty="0"/>
          </a:p>
        </p:txBody>
      </p:sp>
      <p:pic>
        <p:nvPicPr>
          <p:cNvPr id="5" name="Picture 4" descr="motif_ring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66928"/>
            <a:ext cx="841248" cy="8412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60120" y="1627632"/>
            <a:ext cx="1554480" cy="41148"/>
          </a:xfrm>
          <a:prstGeom prst="rect">
            <a:avLst/>
          </a:prstGeom>
          <a:solidFill>
            <a:srgbClr val="C0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4370832"/>
            <a:ext cx="2743200" cy="45720"/>
          </a:xfrm>
          <a:prstGeom prst="rect">
            <a:avLst/>
          </a:prstGeom>
          <a:solidFill>
            <a:srgbClr val="C0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20" y="4681728"/>
            <a:ext cx="64008" cy="960120"/>
          </a:xfrm>
          <a:prstGeom prst="rect">
            <a:avLst/>
          </a:prstGeom>
          <a:solidFill>
            <a:srgbClr val="B08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499616"/>
            <a:ext cx="7498080" cy="4846320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30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rcRect l="1242" r="1242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499616"/>
            <a:ext cx="7498080" cy="4846320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rcRect l="16450" r="16450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一、藝術輔療的定義目標與專業角色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二、探討其在長照領域的應用範圍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透過藝術媒介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長者的情緒表達、認知刺激與社交互動。</a:t>
            </a:r>
            <a:endParaRPr lang="en-US" altLang="zh-TW" sz="3600" dirty="0">
              <a:solidFill>
                <a:srgbClr val="00B05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三曼陀羅從最初的「宗教宇宙觀」，演變為今日在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rcRect l="19219" r="19219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94360" y="1499616"/>
            <a:ext cx="7498080" cy="4846320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rcRect l="13219" r="13219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acher_studio2.jpg"/>
          <p:cNvPicPr>
            <a:picLocks noChangeAspect="1"/>
          </p:cNvPicPr>
          <p:nvPr/>
        </p:nvPicPr>
        <p:blipFill>
          <a:blip r:embed="rId3"/>
          <a:srcRect l="17849" r="17849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繪畫創作與曼陀羅在長照領域</a:t>
            </a:r>
            <a:br>
              <a:rPr lang="en-US" altLang="zh-TW" sz="3600" dirty="0"/>
            </a:b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</a:t>
            </a: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應用優點</a:t>
            </a: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）：認知刺激與延緩失智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激活大腦神經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延緩失智退化： 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透過結構化的繪畫活動（如曼陀羅著色、線條禪繞），能幫助失智長者維持專注力與手眼協調能力。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）：情緒支持與非言語溝通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突破語言障礙： 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許多長者因中風、失智或退化而表達困難。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繪畫提供非言語的溝通管道，讓他們用色彩與線條表達內心感受與需求。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減少精神行為症狀（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BPSD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 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專注於創作能帶來平靜，顯著降低長者的焦慮、游走、躁動或憂鬱情緒。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）：懷舊輔療與自我認同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重塑生命故事： 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引導長者繪畫家鄉、童年玩伴或生命重要時刻（懷舊繪畫），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能喚醒長期記憶。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u="sng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1100" u="sng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重拾尊嚴與掌控感： 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長照長者常因失去生活自理能力而感到無力。在畫紙上，他們能全權決定色彩與圖案，重新獲得成就感與自我價值。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）：社交互動與延緩孤獨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團體創作促進交流： 機構內舉辦集體繪畫或作品分享會，能讓長者互相欣賞、讚美，建立人際連結並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降低孤獨感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rcRect l="20414" r="20414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5265" r="15265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對長輩而言，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1.jpg"/>
          <p:cNvPicPr>
            <a:picLocks noChangeAspect="1"/>
          </p:cNvPicPr>
          <p:nvPr/>
        </p:nvPicPr>
        <p:blipFill>
          <a:blip r:embed="rId3"/>
          <a:srcRect l="27828" r="27828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色彩選擇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音樂引導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精油輔助以及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的內在覺察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引領學員進入專注創作的流動狀態。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學員將完成個人化的曼陀羅書籤作品，並學習如何將此技法應用於長照實務中，提升照護品質與服務對象的生活福祉。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acher_studio1.jpg"/>
          <p:cNvPicPr>
            <a:picLocks noChangeAspect="1"/>
          </p:cNvPicPr>
          <p:nvPr/>
        </p:nvPicPr>
        <p:blipFill>
          <a:blip r:embed="rId3"/>
          <a:srcRect t="15049" b="15049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22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嗅覺是唯一不經過視丘、直接刺激大腦大腦邊緣系統（情緒與記憶中心）的感官，對長照患者與家屬能帶來立竿見影的效益。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對長照患者（長輩）的好處</a:t>
            </a:r>
            <a:endParaRPr lang="en-US" altLang="zh-TW" sz="24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能激發生命記憶（懷舊療癒）：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嗅覺能瞬間喚醒深層記憶。例如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檜木或柑橘清香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，能引導長輩聯想到森林或廚房記憶，誘發繪畫創作的靈感與表達欲。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ˋ改善精神行為症狀（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BPSD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薰衣草、佛手柑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等精油結合深呼吸，能激活副交感神經，有效緩解失智長者的躁動、游走、日落症候群與無故焦慮。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提升呼吸順暢度與含氧量：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尤加利或薄荷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等精油進行呼吸引導，能幫助長期臥床的長輩擴張胸腔、促進血液循環，提升大腦灌流量。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非侵入性的安全安撫：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對於無法言語或肢體僵硬的長者，氣味引導不需要耗費體力，能提供最溫和、無壓力的撫慰與安全感。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rcRect l="29230" r="29230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22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對長照家屬（照顧者）的好處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即時抽離高壓環境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（快速減壓）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照顧者常處於慢性疲勞與神經緊繃狀態。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透過幾分鐘的精油深呼吸，能快速降低皮質醇（壓力荷爾蒙），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讓大腦按下暫停鍵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2400" dirty="0">
              <a:solidFill>
                <a:prstClr val="black"/>
              </a:solidFill>
            </a:endParaRP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改善睡眠品質： 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長期照顧往往伴隨睡眠中斷。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在夜間或休息時進行芳香呼吸，能引導大腦進入放鬆波，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緩解神經性失眠與焦慮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轉化負面情緒與罪惡感： 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照顧過程中難免產生挫折與憤怒。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>
                    <a:lumMod val="75000"/>
                  </a:srgbClr>
                </a:solidFill>
                <a:latin typeface="微軟正黑體"/>
                <a:ea typeface="微軟正黑體"/>
                <a:cs typeface="微軟正黑體"/>
              </a:rPr>
              <a:t>柑橘類（如甜橙、葡萄柚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）能帶來陽光般的能量，重塑正向情緒，減少照顧憂鬱。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重建愛的連結當家屬與長輩「同時」身處在同一個和諧的香氣與呼吸引導中，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原本緊繃的「照顧與被照顧」關係會轉化為共同體驗的「陪伴」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8382" r="18382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的內在覺察～能夠強烈且深刻地引發長照患者（長輩）與家屬彼此的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內在覺察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marL="514350" indent="-514350">
              <a:lnSpc>
                <a:spcPct val="105000"/>
              </a:lnSpc>
              <a:spcAft>
                <a:spcPts val="300"/>
              </a:spcAft>
              <a:buAutoNum type="arabicPeriod"/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對於家屬（照顧者）的內在覺察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</a:t>
            </a:r>
            <a:endParaRPr lang="en-US" altLang="zh-TW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「自我陪伴」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長照家屬的日常核心往往卡在「長輩需要什麼」，完全壓抑了自我。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 在精油呼吸引導的當下，氣味會強迫家屬將注意力從長輩身上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移回自己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他們會在深呼吸中突然驚覺：「原來我的肩膀這麼緊、呼吸這麼淺。」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進而覺察到自己累積的長期疲憊。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看見被壓抑的情緒陰影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在隨後的曼陀羅繪畫中，家屬可能會自發性地畫出混亂的線條、或選用大面積的灰色與黑色。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這面畫紙就像心靈的鏡子，讓家屬坦然面對並看見自己內心深處的挫折、憤怒或愧疚感。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6974" r="16974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對於長照患者（長輩）的內在覺察：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從「無能為力」到「內在價值」許多長輩因為身體退化，在生活中失去了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掌控權與話語權。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當特定的植物香氣（如泥土香、草本香）刺激大腦情緒中心時，長輩會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瞬間連結到生命中最有活力的歲月。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這能幫助他們覺察到自己不只是個「需要被照顧的病人」，而是一個擁有豐富生命故事的個體。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透過色彩宣洩微弱的呼喊：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無法用言語清楚表達的長輩，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會透過色彩展現內心狀態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當他們在曼陀羅中央填入強烈的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時，可能是在表達體內的痛楚或不滿；填入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時，可能代表渴望平靜。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這個過程能讓長輩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重新與自己的身體與心理感受產生連結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rcRect l="5966" r="5966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雙方「彼此」的共同覺察：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看見關係的質變當長輩與家屬並肩坐著，聞著同一股香氣、畫著各自的曼陀羅時，會觸發一種「平行共處」的奇妙體驗。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在作品完成後的分享（或靜默欣賞）中，家屬會驚訝地發現：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原來爸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媽心裡還渴望著這樣的色彩，他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她不只是個失智症患者。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長輩也能感受到家屬在畫紙上流露出的壓力與溫柔。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這種不帶批判的藝術空間，能讓雙方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同時覺察到：「我們都在這場照顧風暴中努力著。」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緊繃的</a:t>
            </a: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醫病對立感</a:t>
            </a: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會在此刻轉化為</a:t>
            </a: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深度的生命共鳴與同理心</a:t>
            </a: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rcRect l="14716" r="14716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心理學上藝術治療以及科技領域中，它的意思如下：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（觸覺的）：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指我們透過皮膚、手指、手掌去觸摸、按壓、感覺物體時的身體感官。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（反饋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回饋）：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指物體接觸到我們身體後，回傳給大腦的信號與物理反應。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在藝術輔療情境中，它的意思是：當長輩或家屬用手去接觸畫筆、紙張或顏料時，身體所得到的「真實觸感」與「物理抵抗力」。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例如：當畫筆按壓紙張的時候：讓大腦知道「我正在做這件事」，進而產生安心感。用重複的蓋印章動作：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這種簡單的畫筆與紙張的觸感直接安撫了緊繃的神經。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印上顏料時的厚實與變形：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手掌感受到的壓力和反彈，讓人宣洩內心的力道與情緒。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 Feedback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t="7422" b="7422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纏枝紋的「生命力」寓意纏枝紋（又稱「萬壽藤」）的核心特徵是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連綿不斷、循環往復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它描繪植物藤蔓纏繞、委婉多姿的樣子，象徵著強大且持久的生命韌性。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藤蔓無始無終的生長軌跡，寓意生命力的流轉與修復，這與「早日康復、重獲生機」的願望非常契合。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「瓶」與「平」的雙重祝福梅瓶本身在民間工藝中就有「平平安安」的諧音。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對於生病的家人來說，最大的期盼莫過於「平安」渡過難關。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5265" r="15265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題宣州開元寺水閣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》-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杜牧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營造出一種「物是人非」的蒼涼感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用「歌、哭」來寫人生，非常有張力，表現出生命在時間長河裡的渺小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4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「千家雨」寫的是廣度，「一笛風」寫的是孤單。這種「以大襯小」的手法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rgbClr val="C0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6974" r="16974"/>
          <a:stretch>
            <a:fillRect/>
          </a:stretch>
        </p:blipFill>
        <p:spPr>
          <a:xfrm>
            <a:off x="8394192" y="1444752"/>
            <a:ext cx="3273552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26464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