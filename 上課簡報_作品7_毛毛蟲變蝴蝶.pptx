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Relationship Id="rId4" Type="http://schemas.openxmlformats.org/officeDocument/2006/relationships/image" Target="../media/image4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EA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640080"/>
            <a:ext cx="585216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4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今天我們要一起做～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2600" b="1">
                <a:solidFill>
                  <a:srgbClr val="999999"/>
                </a:solidFill>
                <a:latin typeface="微軟正黑體"/>
                <a:ea typeface="微軟正黑體"/>
                <a:cs typeface="微軟正黑體"/>
              </a:rPr>
              <a:t>作品 7</a:t>
            </a:r>
          </a:p>
          <a:p>
            <a:pPr algn="l">
              <a:lnSpc>
                <a:spcPct val="100000"/>
              </a:lnSpc>
              <a:spcAft>
                <a:spcPts val="400"/>
              </a:spcAft>
            </a:pPr>
            <a:r>
              <a:rPr sz="4600" b="1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毛毛蟲變蝴蝶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3657600"/>
            <a:ext cx="5486400" cy="155448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3794760"/>
            <a:ext cx="5120640" cy="1371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媒材：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拼貼＋押花</a:t>
            </a:r>
          </a:p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18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上課日期：</a:t>
            </a:r>
            <a:r>
              <a:rPr sz="1800" b="0">
                <a:solidFill>
                  <a:srgbClr val="444444"/>
                </a:solidFill>
                <a:latin typeface="微軟正黑體"/>
                <a:ea typeface="微軟正黑體"/>
                <a:cs typeface="微軟正黑體"/>
              </a:rPr>
              <a:t>12/11 ・ 12/18（週五）</a:t>
            </a:r>
          </a:p>
        </p:txBody>
      </p:sp>
      <p:pic>
        <p:nvPicPr>
          <p:cNvPr id="9" name="Picture 8" descr="ref-work-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7586" y="502920"/>
            <a:ext cx="4702629" cy="58521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先聊一聊～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BE2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  <a:spcAft>
                <a:spcPts val="800"/>
              </a:spcAft>
            </a:pPr>
            <a:r>
              <a:rPr sz="4000" b="1">
                <a:solidFill>
                  <a:srgbClr val="EC6FA0"/>
                </a:solidFill>
                <a:latin typeface="微軟正黑體"/>
                <a:ea typeface="微軟正黑體"/>
                <a:cs typeface="微軟正黑體"/>
              </a:rPr>
              <a:t>毛毛蟲要怎麼才能變成蝴蝶呢？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我們要用的材料</a:t>
            </a:r>
          </a:p>
        </p:txBody>
      </p:sp>
      <p:sp>
        <p:nvSpPr>
          <p:cNvPr id="5" name="Rectangle 4"/>
          <p:cNvSpPr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66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色紙</a:t>
            </a:r>
          </a:p>
        </p:txBody>
      </p:sp>
      <p:sp>
        <p:nvSpPr>
          <p:cNvPr id="7" name="Rectangle 6"/>
          <p:cNvSpPr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898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押花</a:t>
            </a:r>
          </a:p>
        </p:txBody>
      </p:sp>
      <p:sp>
        <p:nvSpPr>
          <p:cNvPr id="9" name="Rectangle 8"/>
          <p:cNvSpPr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2330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白膠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976207" y="2286000"/>
            <a:ext cx="2468880" cy="21945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6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底紙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02920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2200" b="0">
                <a:solidFill>
                  <a:srgbClr val="888888"/>
                </a:solidFill>
                <a:latin typeface="微軟正黑體"/>
                <a:ea typeface="微軟正黑體"/>
                <a:cs typeface="微軟正黑體"/>
              </a:rPr>
              <a:t>（老師會先示範給大家看喔！）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第一次上課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>（12/11 週五）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看毛毛蟲變蝴蝶的短片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用圓形色紙拼出毛毛蟲</a:t>
            </a:r>
          </a:p>
        </p:txBody>
      </p:sp>
      <p:sp>
        <p:nvSpPr>
          <p:cNvPr id="12" name="Oval 11"/>
          <p:cNvSpPr/>
          <p:nvPr/>
        </p:nvSpPr>
        <p:spPr>
          <a:xfrm>
            <a:off x="914400" y="3712464"/>
            <a:ext cx="868680" cy="868680"/>
          </a:xfrm>
          <a:prstGeom prst="ellipse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712464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712464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做一個小小的繭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第二次上課　怎麼做？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778240" y="228600"/>
            <a:ext cx="3108960" cy="6400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r">
              <a:lnSpc>
                <a:spcPct val="100000"/>
              </a:lnSpc>
              <a:spcAft>
                <a:spcPts val="800"/>
              </a:spcAft>
            </a:pPr>
            <a:r>
              <a:rPr sz="2000" b="1">
                <a:solidFill>
                  <a:srgbClr val="FFF3C4"/>
                </a:solidFill>
                <a:latin typeface="微軟正黑體"/>
                <a:ea typeface="微軟正黑體"/>
                <a:cs typeface="微軟正黑體"/>
              </a:rPr>
              <a:t>（12/18 週五）</a:t>
            </a:r>
          </a:p>
        </p:txBody>
      </p:sp>
      <p:sp>
        <p:nvSpPr>
          <p:cNvPr id="6" name="Oval 5"/>
          <p:cNvSpPr/>
          <p:nvPr/>
        </p:nvSpPr>
        <p:spPr>
          <a:xfrm>
            <a:off x="914400" y="1554480"/>
            <a:ext cx="868680" cy="868680"/>
          </a:xfrm>
          <a:prstGeom prst="ellipse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1554480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1554480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用押花做蝴蝶的翅膀</a:t>
            </a:r>
          </a:p>
        </p:txBody>
      </p:sp>
      <p:sp>
        <p:nvSpPr>
          <p:cNvPr id="9" name="Oval 8"/>
          <p:cNvSpPr/>
          <p:nvPr/>
        </p:nvSpPr>
        <p:spPr>
          <a:xfrm>
            <a:off x="914400" y="2633472"/>
            <a:ext cx="868680" cy="868680"/>
          </a:xfrm>
          <a:prstGeom prst="ellipse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33472"/>
            <a:ext cx="86868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00000"/>
              </a:lnSpc>
              <a:spcAft>
                <a:spcPts val="800"/>
              </a:spcAft>
            </a:pPr>
            <a:r>
              <a:rPr sz="34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633472"/>
            <a:ext cx="9144000" cy="8686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2800" b="0">
                <a:solidFill>
                  <a:srgbClr val="333333"/>
                </a:solidFill>
                <a:latin typeface="微軟正黑體"/>
                <a:ea typeface="微軟正黑體"/>
                <a:cs typeface="微軟正黑體"/>
              </a:rPr>
              <a:t>完成毛毛蟲→繭→蝴蝶的故事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看看別的小朋友做的～</a:t>
            </a:r>
          </a:p>
        </p:txBody>
      </p:sp>
      <p:pic>
        <p:nvPicPr>
          <p:cNvPr id="5" name="Picture 4" descr="work-07-compare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529687" y="1572768"/>
            <a:ext cx="71323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F6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82880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  <a:spcAft>
                <a:spcPts val="800"/>
              </a:spcAft>
            </a:pPr>
            <a:r>
              <a:rPr sz="3200" b="1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一起想一想</a:t>
            </a:r>
          </a:p>
        </p:txBody>
      </p:sp>
      <p:sp>
        <p:nvSpPr>
          <p:cNvPr id="5" name="Rectangle 4"/>
          <p:cNvSpPr/>
          <p:nvPr/>
        </p:nvSpPr>
        <p:spPr>
          <a:xfrm>
            <a:off x="1097280" y="1828800"/>
            <a:ext cx="9966960" cy="3108960"/>
          </a:xfrm>
          <a:prstGeom prst="rect">
            <a:avLst/>
          </a:prstGeom>
          <a:solidFill>
            <a:srgbClr val="FFF1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828800"/>
            <a:ext cx="9418320" cy="3108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30000"/>
              </a:lnSpc>
              <a:spcAft>
                <a:spcPts val="800"/>
              </a:spcAft>
            </a:pPr>
            <a:r>
              <a:rPr sz="3800" b="1">
                <a:solidFill>
                  <a:srgbClr val="C0392B"/>
                </a:solidFill>
                <a:latin typeface="微軟正黑體"/>
                <a:ea typeface="微軟正黑體"/>
                <a:cs typeface="微軟正黑體"/>
              </a:rPr>
              <a:t>你最近有沒有，也需要勇氣、正在努力長大的事？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C6FA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601968"/>
            <a:ext cx="12191695" cy="256032"/>
          </a:xfrm>
          <a:prstGeom prst="rect">
            <a:avLst/>
          </a:prstGeom>
          <a:solidFill>
            <a:srgbClr val="FFCA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103120"/>
            <a:ext cx="10332720" cy="2560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4400" b="1">
                <a:solidFill>
                  <a:srgbClr val="FFE082"/>
                </a:solidFill>
                <a:latin typeface="微軟正黑體"/>
                <a:ea typeface="微軟正黑體"/>
                <a:cs typeface="微軟正黑體"/>
              </a:rPr>
              <a:t>我們完成了！　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一起把桌子收拾乾淨、工具放回家，</a:t>
            </a:r>
          </a:p>
          <a:p>
            <a:pPr algn="ctr">
              <a:lnSpc>
                <a:spcPct val="120000"/>
              </a:lnSpc>
              <a:spcAft>
                <a:spcPts val="1400"/>
              </a:spcAft>
            </a:pPr>
            <a:r>
              <a:rPr sz="2600" b="0">
                <a:solidFill>
                  <a:srgbClr val="FFFFFF"/>
                </a:solidFill>
                <a:latin typeface="微軟正黑體"/>
                <a:ea typeface="微軟正黑體"/>
                <a:cs typeface="微軟正黑體"/>
              </a:rPr>
              <a:t>再跟大家分享：我最喜歡自己作品的哪裡？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