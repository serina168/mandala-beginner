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502920" y="1920240"/>
            <a:ext cx="655624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0" i="0">
                <a:solidFill>
                  <a:srgbClr val="8A7A6A"/>
                </a:solidFill>
                <a:latin typeface="微軟正黑體"/>
              </a:rPr>
              <a:t>財團法人中華綜合發展研究院／文創藝術研究所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40864"/>
            <a:ext cx="65562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8A7A6A"/>
                </a:solidFill>
                <a:latin typeface="微軟正黑體"/>
              </a:rPr>
              <a:t>心靈藝術美學中心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52928"/>
            <a:ext cx="6556248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759" b="1" i="0">
                <a:solidFill>
                  <a:srgbClr val="4A403A"/>
                </a:solidFill>
                <a:latin typeface="微軟正黑體"/>
              </a:rPr>
              <a:t>一級講師培訓課程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0"/>
            <a:ext cx="655624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360" b="1" i="0">
                <a:solidFill>
                  <a:srgbClr val="A95C66"/>
                </a:solidFill>
                <a:latin typeface="微軟正黑體"/>
              </a:rPr>
              <a:t>曼陀羅色彩藝術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90288"/>
            <a:ext cx="65562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79" b="1" i="0">
                <a:solidFill>
                  <a:srgbClr val="4A403A"/>
                </a:solidFill>
                <a:latin typeface="微軟正黑體"/>
              </a:rPr>
              <a:t>學  員  講  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774936"/>
            <a:ext cx="65562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0" i="0">
                <a:solidFill>
                  <a:srgbClr val="8A7A6A"/>
                </a:solidFill>
                <a:latin typeface="微軟正黑體"/>
              </a:rPr>
              <a:t>請妥善保存，作為日後教學參考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32136"/>
            <a:ext cx="6556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版權所有／翻印必究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COURSE 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一級講師課程・六大收穫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31775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317754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179576"/>
            <a:ext cx="3040380" cy="3474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20700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197864"/>
            <a:ext cx="24917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進階色彩學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655064"/>
            <a:ext cx="283006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色相、明度、彩度、色彩心理學，從理解到精準運用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1628" y="1143000"/>
            <a:ext cx="31775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1628" y="1143000"/>
            <a:ext cx="317754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18788" y="1179576"/>
            <a:ext cx="3040380" cy="3474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9644" y="120700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0268" y="1197864"/>
            <a:ext cx="24917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深化理解與應用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2796" y="1655064"/>
            <a:ext cx="283006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作品解析力，洞察色彩背後的情感與內在狀態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88920"/>
            <a:ext cx="31775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788920"/>
            <a:ext cx="317754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25496"/>
            <a:ext cx="3040380" cy="3474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852927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43784"/>
            <a:ext cx="24917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大型木器創作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300984"/>
            <a:ext cx="283006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在大型八角板木器上完成一件精緻曼陀羅作品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1628" y="2788920"/>
            <a:ext cx="31775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81628" y="2788920"/>
            <a:ext cx="317754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8788" y="2825496"/>
            <a:ext cx="3040380" cy="3474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9644" y="2852927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268" y="2843784"/>
            <a:ext cx="24917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高級鑽飾裝飾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2796" y="3300984"/>
            <a:ext cx="283006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施華洛世奇水晶鑽飾貼附，提升作品至展覽水準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434840"/>
            <a:ext cx="31775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4434840"/>
            <a:ext cx="317754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471416"/>
            <a:ext cx="3040380" cy="3474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49884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489703"/>
            <a:ext cx="24917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立體畫法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" y="4946904"/>
            <a:ext cx="283006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進階筆法與層次技巧，讓圖案呈現真實立體質感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1628" y="4434840"/>
            <a:ext cx="31775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81628" y="4434840"/>
            <a:ext cx="317754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18788" y="4471416"/>
            <a:ext cx="3040380" cy="3474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09644" y="449884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0268" y="4489703"/>
            <a:ext cx="24917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教學引導訓練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2796" y="4946904"/>
            <a:ext cx="283006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實際演練教學流程，從「會畫」躍升為「能教」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MATERIALS  PROVIDED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課程提供材料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3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31775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91440" cy="111556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252728"/>
            <a:ext cx="28117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考核用大型八角板木器 ×1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28216"/>
            <a:ext cx="27934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符合條件者可升級為八角折疊桌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1628" y="1143000"/>
            <a:ext cx="31775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1628" y="1143000"/>
            <a:ext cx="91440" cy="111556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9372" y="1252728"/>
            <a:ext cx="28117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上課用木器 ×1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7660" y="1728216"/>
            <a:ext cx="27934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全程使用，課後帶回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59736"/>
            <a:ext cx="31775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459736"/>
            <a:ext cx="91440" cy="111556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569464"/>
            <a:ext cx="28117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施華洛世奇鑽飾套組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044952"/>
            <a:ext cx="27934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珠寶膠、沾珠筆等專業工具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1628" y="2459736"/>
            <a:ext cx="31775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81628" y="2459736"/>
            <a:ext cx="91440" cy="111556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9372" y="2569464"/>
            <a:ext cx="28117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高級貂毛筆套組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7660" y="3044952"/>
            <a:ext cx="27934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橢圓筆、斜筆、勾線筆各一支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76472"/>
            <a:ext cx="31775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76472"/>
            <a:ext cx="91440" cy="111556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886200"/>
            <a:ext cx="28117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筆記本與書寫工具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361688"/>
            <a:ext cx="27934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課程講義一份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色彩的三大屬性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4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任何顏色都能用三個維度描述。掌握它們，就能精準調出腦中想像的每一種色。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09397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45920"/>
            <a:ext cx="180136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色相 Hue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084831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1" i="0">
                <a:solidFill>
                  <a:srgbClr val="C9A96E"/>
                </a:solidFill>
                <a:latin typeface="微軟正黑體"/>
              </a:rPr>
              <a:t>顏色的「相貌」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" y="2450592"/>
            <a:ext cx="300228" cy="365760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9452" y="2450592"/>
            <a:ext cx="300228" cy="365760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49680" y="2450592"/>
            <a:ext cx="300228" cy="365760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49907" y="2450592"/>
            <a:ext cx="300228" cy="365760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50136" y="2450592"/>
            <a:ext cx="300228" cy="365760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50364" y="2450592"/>
            <a:ext cx="300228" cy="365760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07792"/>
            <a:ext cx="1801368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紅橙黃綠藍紫——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區分顏色種類的名稱，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對應色相環上的位置。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34056" y="1481328"/>
            <a:ext cx="209397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645920"/>
            <a:ext cx="180136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明度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084831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1" i="0">
                <a:solidFill>
                  <a:srgbClr val="C9A96E"/>
                </a:solidFill>
                <a:latin typeface="微軟正黑體"/>
              </a:rPr>
              <a:t>顏色的明暗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450592"/>
            <a:ext cx="3002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80588" y="2450592"/>
            <a:ext cx="300228" cy="365760"/>
          </a:xfrm>
          <a:prstGeom prst="rect">
            <a:avLst/>
          </a:prstGeom>
          <a:solidFill>
            <a:srgbClr val="CCCCCC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80816" y="2450592"/>
            <a:ext cx="300228" cy="365760"/>
          </a:xfrm>
          <a:prstGeom prst="rect">
            <a:avLst/>
          </a:prstGeom>
          <a:solidFill>
            <a:srgbClr val="999999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81044" y="2450592"/>
            <a:ext cx="300228" cy="365760"/>
          </a:xfrm>
          <a:prstGeom prst="rect">
            <a:avLst/>
          </a:prstGeom>
          <a:solidFill>
            <a:srgbClr val="666666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81272" y="2450592"/>
            <a:ext cx="300228" cy="365760"/>
          </a:xfrm>
          <a:prstGeom prst="rect">
            <a:avLst/>
          </a:prstGeom>
          <a:solidFill>
            <a:srgbClr val="333333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1500" y="2450592"/>
            <a:ext cx="300228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2907792"/>
            <a:ext cx="1801368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加白色→顏色漸亮；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加黑色→顏色漸暗。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明度差創造畫面的層次感。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65192" y="1481328"/>
            <a:ext cx="2093976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11496" y="1645920"/>
            <a:ext cx="180136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彩度 Chroma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1496" y="2084831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1" i="0">
                <a:solidFill>
                  <a:srgbClr val="C9A96E"/>
                </a:solidFill>
                <a:latin typeface="微軟正黑體"/>
              </a:rPr>
              <a:t>顏色的鮮濁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1496" y="2414016"/>
            <a:ext cx="1801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A95C66"/>
                </a:solidFill>
                <a:latin typeface="微軟正黑體"/>
              </a:rPr>
              <a:t>高彩度  鮮豔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11496" y="2670048"/>
            <a:ext cx="300228" cy="347472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11724" y="2670048"/>
            <a:ext cx="300228" cy="347472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11951" y="2670048"/>
            <a:ext cx="300228" cy="347472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12179" y="2670048"/>
            <a:ext cx="300228" cy="347472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12408" y="2670048"/>
            <a:ext cx="300228" cy="347472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12636" y="2670048"/>
            <a:ext cx="300228" cy="347472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11496" y="3054096"/>
            <a:ext cx="1801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8A7A6A"/>
                </a:solidFill>
                <a:latin typeface="微軟正黑體"/>
              </a:rPr>
              <a:t>低彩度  混濁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11496" y="3310128"/>
            <a:ext cx="300228" cy="347472"/>
          </a:xfrm>
          <a:prstGeom prst="rect">
            <a:avLst/>
          </a:prstGeom>
          <a:solidFill>
            <a:srgbClr val="BC6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11724" y="3310128"/>
            <a:ext cx="300228" cy="347472"/>
          </a:xfrm>
          <a:prstGeom prst="rect">
            <a:avLst/>
          </a:prstGeom>
          <a:solidFill>
            <a:srgbClr val="BC9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1951" y="3310128"/>
            <a:ext cx="300228" cy="347472"/>
          </a:xfrm>
          <a:prstGeom prst="rect">
            <a:avLst/>
          </a:prstGeom>
          <a:solidFill>
            <a:srgbClr val="BBB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12179" y="3310128"/>
            <a:ext cx="300228" cy="347472"/>
          </a:xfrm>
          <a:prstGeom prst="rect">
            <a:avLst/>
          </a:prstGeom>
          <a:solidFill>
            <a:srgbClr val="759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12408" y="3310128"/>
            <a:ext cx="300228" cy="347472"/>
          </a:xfrm>
          <a:prstGeom prst="rect">
            <a:avLst/>
          </a:prstGeom>
          <a:solidFill>
            <a:srgbClr val="6D8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12636" y="3310128"/>
            <a:ext cx="300228" cy="347472"/>
          </a:xfrm>
          <a:prstGeom prst="rect">
            <a:avLst/>
          </a:prstGeom>
          <a:solidFill>
            <a:srgbClr val="957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11496" y="3749039"/>
            <a:ext cx="180136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加灰或互補色後，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色彩從鮮豔→混濁，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整體氛圍更柔和耐看。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WHEEL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十二色相環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5 —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216152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24712"/>
            <a:ext cx="62819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三原色（原色）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6263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紅・黃・藍——無法由其他顏色調出，是一切色彩的源頭。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221992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130552"/>
            <a:ext cx="62819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三間色（二次色）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6312"/>
            <a:ext cx="6263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橙（紅+黃）、綠（黃+藍）、紫（藍+紅）——兩原色等量相混。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227832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136392"/>
            <a:ext cx="62819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複色（三次色）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02152"/>
            <a:ext cx="6263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原色與相鄰間色相混，如紅橙、黃綠，使色相環更細緻。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233672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142232"/>
            <a:ext cx="62819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冷暖之分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07992"/>
            <a:ext cx="6263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紅橙黃為暖色、藍綠紫為冷色；暖色前進、冷色後退，影響空間感。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93792"/>
            <a:ext cx="65562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A95C66"/>
                </a:solidFill>
                <a:latin typeface="微軟正黑體"/>
              </a:rPr>
              <a:t>十二色相環示意圖</a:t>
            </a:r>
          </a:p>
        </p:txBody>
      </p:sp>
      <p:sp>
        <p:nvSpPr>
          <p:cNvPr id="21" name="Oval 20"/>
          <p:cNvSpPr/>
          <p:nvPr/>
        </p:nvSpPr>
        <p:spPr>
          <a:xfrm>
            <a:off x="3589020" y="5961888"/>
            <a:ext cx="384048" cy="384048"/>
          </a:xfrm>
          <a:prstGeom prst="ellipse">
            <a:avLst/>
          </a:prstGeom>
          <a:solidFill>
            <a:srgbClr val="E8434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9291" y="5550408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紅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0" y="6102770"/>
            <a:ext cx="384048" cy="384048"/>
          </a:xfrm>
          <a:prstGeom prst="ellipse">
            <a:avLst/>
          </a:prstGeom>
          <a:solidFill>
            <a:srgbClr val="E86A3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6" y="5754993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紅橙</a:t>
            </a:r>
          </a:p>
        </p:txBody>
      </p:sp>
      <p:sp>
        <p:nvSpPr>
          <p:cNvPr id="25" name="Oval 24"/>
          <p:cNvSpPr/>
          <p:nvPr/>
        </p:nvSpPr>
        <p:spPr>
          <a:xfrm>
            <a:off x="4499697" y="6487668"/>
            <a:ext cx="384048" cy="384048"/>
          </a:xfrm>
          <a:prstGeom prst="ellipse">
            <a:avLst/>
          </a:prstGeom>
          <a:solidFill>
            <a:srgbClr val="E89A3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1754" y="6313932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橙</a:t>
            </a:r>
          </a:p>
        </p:txBody>
      </p:sp>
      <p:sp>
        <p:nvSpPr>
          <p:cNvPr id="27" name="Oval 26"/>
          <p:cNvSpPr/>
          <p:nvPr/>
        </p:nvSpPr>
        <p:spPr>
          <a:xfrm>
            <a:off x="4640580" y="7013448"/>
            <a:ext cx="384048" cy="384048"/>
          </a:xfrm>
          <a:prstGeom prst="ellipse">
            <a:avLst/>
          </a:prstGeom>
          <a:solidFill>
            <a:srgbClr val="E8C24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6340" y="7077456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黃橙</a:t>
            </a:r>
          </a:p>
        </p:txBody>
      </p:sp>
      <p:sp>
        <p:nvSpPr>
          <p:cNvPr id="29" name="Oval 28"/>
          <p:cNvSpPr/>
          <p:nvPr/>
        </p:nvSpPr>
        <p:spPr>
          <a:xfrm>
            <a:off x="4499697" y="7539227"/>
            <a:ext cx="384048" cy="384048"/>
          </a:xfrm>
          <a:prstGeom prst="ellipse">
            <a:avLst/>
          </a:prstGeom>
          <a:solidFill>
            <a:srgbClr val="E6DA55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1754" y="7840979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黃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0" y="7924125"/>
            <a:ext cx="384048" cy="384048"/>
          </a:xfrm>
          <a:prstGeom prst="ellipse">
            <a:avLst/>
          </a:prstGeom>
          <a:solidFill>
            <a:srgbClr val="A8C84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2816" y="8399918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黃綠</a:t>
            </a:r>
          </a:p>
        </p:txBody>
      </p:sp>
      <p:sp>
        <p:nvSpPr>
          <p:cNvPr id="33" name="Oval 32"/>
          <p:cNvSpPr/>
          <p:nvPr/>
        </p:nvSpPr>
        <p:spPr>
          <a:xfrm>
            <a:off x="3589020" y="8065007"/>
            <a:ext cx="384048" cy="384048"/>
          </a:xfrm>
          <a:prstGeom prst="ellipse">
            <a:avLst/>
          </a:prstGeom>
          <a:solidFill>
            <a:srgbClr val="5AA85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9291" y="8604504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綠</a:t>
            </a:r>
          </a:p>
        </p:txBody>
      </p:sp>
      <p:sp>
        <p:nvSpPr>
          <p:cNvPr id="35" name="Oval 34"/>
          <p:cNvSpPr/>
          <p:nvPr/>
        </p:nvSpPr>
        <p:spPr>
          <a:xfrm>
            <a:off x="3063240" y="7924125"/>
            <a:ext cx="384048" cy="384048"/>
          </a:xfrm>
          <a:prstGeom prst="ellipse">
            <a:avLst/>
          </a:prstGeom>
          <a:solidFill>
            <a:srgbClr val="4AA89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8399918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藍綠</a:t>
            </a:r>
          </a:p>
        </p:txBody>
      </p:sp>
      <p:sp>
        <p:nvSpPr>
          <p:cNvPr id="37" name="Oval 36"/>
          <p:cNvSpPr/>
          <p:nvPr/>
        </p:nvSpPr>
        <p:spPr>
          <a:xfrm>
            <a:off x="2678342" y="7539227"/>
            <a:ext cx="384048" cy="384048"/>
          </a:xfrm>
          <a:prstGeom prst="ellipse">
            <a:avLst/>
          </a:prstGeom>
          <a:solidFill>
            <a:srgbClr val="4A7AC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56829" y="7840979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藍</a:t>
            </a:r>
          </a:p>
        </p:txBody>
      </p:sp>
      <p:sp>
        <p:nvSpPr>
          <p:cNvPr id="39" name="Oval 38"/>
          <p:cNvSpPr/>
          <p:nvPr/>
        </p:nvSpPr>
        <p:spPr>
          <a:xfrm>
            <a:off x="2537460" y="7013448"/>
            <a:ext cx="384048" cy="384048"/>
          </a:xfrm>
          <a:prstGeom prst="ellipse">
            <a:avLst/>
          </a:prstGeom>
          <a:solidFill>
            <a:srgbClr val="6A5AB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52243" y="7077456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藍紫</a:t>
            </a:r>
          </a:p>
        </p:txBody>
      </p:sp>
      <p:sp>
        <p:nvSpPr>
          <p:cNvPr id="41" name="Oval 40"/>
          <p:cNvSpPr/>
          <p:nvPr/>
        </p:nvSpPr>
        <p:spPr>
          <a:xfrm>
            <a:off x="2678342" y="6487668"/>
            <a:ext cx="384048" cy="384048"/>
          </a:xfrm>
          <a:prstGeom prst="ellipse">
            <a:avLst/>
          </a:prstGeom>
          <a:solidFill>
            <a:srgbClr val="9A5AB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56829" y="6313932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紫</a:t>
            </a:r>
          </a:p>
        </p:txBody>
      </p:sp>
      <p:sp>
        <p:nvSpPr>
          <p:cNvPr id="43" name="Oval 42"/>
          <p:cNvSpPr/>
          <p:nvPr/>
        </p:nvSpPr>
        <p:spPr>
          <a:xfrm>
            <a:off x="3063239" y="6102770"/>
            <a:ext cx="384048" cy="384048"/>
          </a:xfrm>
          <a:prstGeom prst="ellipse">
            <a:avLst/>
          </a:prstGeom>
          <a:solidFill>
            <a:srgbClr val="C84A8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15767" y="5754993"/>
            <a:ext cx="603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紅紫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SCHEMES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五種經典配色法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6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6556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1664207"/>
            <a:ext cx="438912" cy="438912"/>
          </a:xfrm>
          <a:prstGeom prst="ellipse">
            <a:avLst/>
          </a:prstGeom>
          <a:solidFill>
            <a:srgbClr val="F0C8C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664207"/>
            <a:ext cx="438912" cy="438912"/>
          </a:xfrm>
          <a:prstGeom prst="ellipse">
            <a:avLst/>
          </a:prstGeom>
          <a:solidFill>
            <a:srgbClr val="C97B84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8216" y="1664207"/>
            <a:ext cx="438912" cy="438912"/>
          </a:xfrm>
          <a:prstGeom prst="ellipse">
            <a:avLst/>
          </a:prstGeom>
          <a:solidFill>
            <a:srgbClr val="8E444D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07008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同類配色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225295"/>
            <a:ext cx="3721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同色相・不同明彩度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1618488"/>
            <a:ext cx="4270248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整體感強，適合寧靜冥想主題；以不同明度製造層次，避免過於單調。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350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和諧內斂，統一氛圍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71215"/>
            <a:ext cx="6556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3419856"/>
            <a:ext cx="438912" cy="438912"/>
          </a:xfrm>
          <a:prstGeom prst="ellipse">
            <a:avLst/>
          </a:prstGeom>
          <a:solidFill>
            <a:srgbClr val="4A7AC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7864" y="3419856"/>
            <a:ext cx="438912" cy="438912"/>
          </a:xfrm>
          <a:prstGeom prst="ellipse">
            <a:avLst/>
          </a:prstGeom>
          <a:solidFill>
            <a:srgbClr val="6A5AB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28216" y="3419856"/>
            <a:ext cx="438912" cy="438912"/>
          </a:xfrm>
          <a:prstGeom prst="ellipse">
            <a:avLst/>
          </a:prstGeom>
          <a:solidFill>
            <a:srgbClr val="9A5AB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962656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鄰近配色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2980944"/>
            <a:ext cx="3721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相鄰 2–3 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3374135"/>
            <a:ext cx="4270248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視覺舒適，是最常見的配色方式；顏色過渡自然，適合初學者嘗試。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10565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自然柔和，過渡流暢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26864"/>
            <a:ext cx="6556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7512" y="5175503"/>
            <a:ext cx="438912" cy="438912"/>
          </a:xfrm>
          <a:prstGeom prst="ellipse">
            <a:avLst/>
          </a:prstGeom>
          <a:solidFill>
            <a:srgbClr val="E8434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97864" y="5175503"/>
            <a:ext cx="438912" cy="438912"/>
          </a:xfrm>
          <a:prstGeom prst="ellipse">
            <a:avLst/>
          </a:prstGeom>
          <a:solidFill>
            <a:srgbClr val="5AA85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718303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互補配色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2968" y="4736592"/>
            <a:ext cx="3721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色環對角兩色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39" y="5129783"/>
            <a:ext cx="4270248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視覺衝擊力強；一色為主、互補色為點綴，避免兩色等量使畫面緊張。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8613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強烈對比，最具張力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382512"/>
            <a:ext cx="6556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" y="6931151"/>
            <a:ext cx="438912" cy="438912"/>
          </a:xfrm>
          <a:prstGeom prst="ellipse">
            <a:avLst/>
          </a:prstGeom>
          <a:solidFill>
            <a:srgbClr val="E8434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97864" y="6931151"/>
            <a:ext cx="438912" cy="438912"/>
          </a:xfrm>
          <a:prstGeom prst="ellipse">
            <a:avLst/>
          </a:prstGeom>
          <a:solidFill>
            <a:srgbClr val="4AA89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28216" y="6931151"/>
            <a:ext cx="438912" cy="438912"/>
          </a:xfrm>
          <a:prstGeom prst="ellipse">
            <a:avLst/>
          </a:prstGeom>
          <a:solidFill>
            <a:srgbClr val="A8C84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6473951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分裂互補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72968" y="6492240"/>
            <a:ext cx="3721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一色＋互補兩側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39" y="6885431"/>
            <a:ext cx="4270248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保有互補的張力，卻因主色兩側分裂而柔和許多，是最安全的對比配色。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76169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有對比又不刺眼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8138160"/>
            <a:ext cx="6556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7512" y="8686800"/>
            <a:ext cx="438912" cy="438912"/>
          </a:xfrm>
          <a:prstGeom prst="ellipse">
            <a:avLst/>
          </a:prstGeom>
          <a:solidFill>
            <a:srgbClr val="E8434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97864" y="8686800"/>
            <a:ext cx="438912" cy="438912"/>
          </a:xfrm>
          <a:prstGeom prst="ellipse">
            <a:avLst/>
          </a:prstGeom>
          <a:solidFill>
            <a:srgbClr val="E6DA55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728216" y="8686800"/>
            <a:ext cx="438912" cy="438912"/>
          </a:xfrm>
          <a:prstGeom prst="ellipse">
            <a:avLst/>
          </a:prstGeom>
          <a:solidFill>
            <a:srgbClr val="4A7AC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" y="8229600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三角配色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72968" y="8247888"/>
            <a:ext cx="3721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等距三色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39" y="8641080"/>
            <a:ext cx="4270248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三色均衡搭配，畫面活潑；以一色為主調，其餘二色輔助，保持視覺平衡。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9372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活潑均衡，色彩豐富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MIXING 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實用調色技巧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7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65562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91440" cy="123444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43584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提高明度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152144"/>
            <a:ext cx="417880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60" b="0" i="0">
                <a:solidFill>
                  <a:srgbClr val="8A7A6A"/>
                </a:solidFill>
                <a:latin typeface="微軟正黑體"/>
              </a:rPr>
              <a:t>加入白色——顏色變亮、變粉嫩，適合花瓣高光與漸層。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51176"/>
            <a:ext cx="65562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51176"/>
            <a:ext cx="91440" cy="123444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679192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降低明度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87752"/>
            <a:ext cx="417880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60" b="0" i="0">
                <a:solidFill>
                  <a:srgbClr val="8A7A6A"/>
                </a:solidFill>
                <a:latin typeface="微軟正黑體"/>
              </a:rPr>
              <a:t>加入少量黑或深褐——加深陰影，黑色易濁，宜少量多次。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86784"/>
            <a:ext cx="65562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86784"/>
            <a:ext cx="91440" cy="123444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11480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降低彩度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023360"/>
            <a:ext cx="417880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60" b="0" i="0">
                <a:solidFill>
                  <a:srgbClr val="8A7A6A"/>
                </a:solidFill>
                <a:latin typeface="微軟正黑體"/>
              </a:rPr>
              <a:t>加灰或加一點互補色——讓過於鮮豔的色變柔和耐看。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22392"/>
            <a:ext cx="65562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422392"/>
            <a:ext cx="91440" cy="123444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550407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調出高級灰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458968"/>
            <a:ext cx="417880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60" b="0" i="0">
                <a:solidFill>
                  <a:srgbClr val="8A7A6A"/>
                </a:solidFill>
                <a:latin typeface="微軟正黑體"/>
              </a:rPr>
              <a:t>互補色相混可中和成有層次的「高級灰」，勝過直接用黑灰。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6858000"/>
            <a:ext cx="65562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6858000"/>
            <a:ext cx="91440" cy="123444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6986016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漸層練習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6894576"/>
            <a:ext cx="417880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60" b="0" i="0">
                <a:solidFill>
                  <a:srgbClr val="8A7A6A"/>
                </a:solidFill>
                <a:latin typeface="微軟正黑體"/>
              </a:rPr>
              <a:t>同色相由淺到深排出 5 階，是曼陀羅層次感的關鍵基本功。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8293608"/>
            <a:ext cx="65562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8293608"/>
            <a:ext cx="91440" cy="123444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8421624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先淺後深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8330183"/>
            <a:ext cx="417880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60" b="0" i="0">
                <a:solidFill>
                  <a:srgbClr val="8A7A6A"/>
                </a:solidFill>
                <a:latin typeface="微軟正黑體"/>
              </a:rPr>
              <a:t>由淺色鋪底、再疊深色——好修正，畫面也更通透乾淨。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8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顏色會說話。理解色彩傳遞的情緒，讓曼陀羅不只好看，更能呼應內在。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1775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420624" cy="1389888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481328"/>
            <a:ext cx="210312" cy="1389888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1984248"/>
            <a:ext cx="347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20" b="1" i="0">
                <a:solidFill>
                  <a:srgbClr val="FFFFFF"/>
                </a:solidFill>
                <a:latin typeface="微軟正黑體"/>
              </a:rPr>
              <a:t>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572768"/>
            <a:ext cx="25008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熱情・能量・行動力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956816"/>
            <a:ext cx="25008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激發動能、提振精神。象徵勇氣與強烈的生命力，使人感到興奮與躍躍欲試。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1628" y="1481328"/>
            <a:ext cx="31775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81628" y="1481328"/>
            <a:ext cx="420624" cy="1389888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91940" y="1481328"/>
            <a:ext cx="210312" cy="1389888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8204" y="1984248"/>
            <a:ext cx="347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20" b="1" i="0">
                <a:solidFill>
                  <a:srgbClr val="FFFFFF"/>
                </a:solidFill>
                <a:latin typeface="微軟正黑體"/>
              </a:rPr>
              <a:t>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0268" y="1572768"/>
            <a:ext cx="25008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溫暖・喜悅・社交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0268" y="1956816"/>
            <a:ext cx="25008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帶來歡快、開朗的氛圍。有助增進人際溝通，讓人感受到溫度與活力。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35808"/>
            <a:ext cx="31775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035808"/>
            <a:ext cx="420624" cy="1389888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035808"/>
            <a:ext cx="210312" cy="1389888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538728"/>
            <a:ext cx="347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20" b="1" i="0">
                <a:solidFill>
                  <a:srgbClr val="FFFFFF"/>
                </a:solidFill>
                <a:latin typeface="微軟正黑體"/>
              </a:rPr>
              <a:t>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127248"/>
            <a:ext cx="25008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陽光・希望・自信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511296"/>
            <a:ext cx="25008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象徵光明與樂觀的心境。激發創意與好奇心，讓人充滿希望感與正能量。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1628" y="3035808"/>
            <a:ext cx="31775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81628" y="3035808"/>
            <a:ext cx="420624" cy="1389888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91940" y="3035808"/>
            <a:ext cx="210312" cy="1389888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8204" y="3538728"/>
            <a:ext cx="347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20" b="1" i="0">
                <a:solidFill>
                  <a:srgbClr val="FFFFFF"/>
                </a:solidFill>
                <a:latin typeface="微軟正黑體"/>
              </a:rPr>
              <a:t>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0268" y="3127248"/>
            <a:ext cx="25008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療癒・平衡・安定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0268" y="3511296"/>
            <a:ext cx="25008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自然界最和諧的色彩。緩解壓力、平衡身心，帶來放鬆、平靜的療癒感。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590288"/>
            <a:ext cx="31775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590288"/>
            <a:ext cx="420624" cy="1389888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590288"/>
            <a:ext cx="210312" cy="1389888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" y="5093207"/>
            <a:ext cx="347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20" b="1" i="0">
                <a:solidFill>
                  <a:srgbClr val="FFFFFF"/>
                </a:solidFill>
                <a:latin typeface="微軟正黑體"/>
              </a:rPr>
              <a:t>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681727"/>
            <a:ext cx="25008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冷靜・信任・沉澱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065775"/>
            <a:ext cx="25008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讓思緒沉澱、回歸理性。傳遞誠信與穩重，適合需要靜心專注的狀態。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1628" y="4590288"/>
            <a:ext cx="31775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81628" y="4590288"/>
            <a:ext cx="420624" cy="1389888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91940" y="4590288"/>
            <a:ext cx="210312" cy="1389888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8204" y="5093207"/>
            <a:ext cx="347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20" b="1" i="0">
                <a:solidFill>
                  <a:srgbClr val="FFFFFF"/>
                </a:solidFill>
                <a:latin typeface="微軟正黑體"/>
              </a:rPr>
              <a:t>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0268" y="4681727"/>
            <a:ext cx="25008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靈性・直覺・想像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0268" y="5065775"/>
            <a:ext cx="25008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連結內在深層意識。象徵智慧與神秘，喚起靈感、直覺與靈性感受。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6144768"/>
            <a:ext cx="31775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2920" y="6144768"/>
            <a:ext cx="420624" cy="1389888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6144768"/>
            <a:ext cx="210312" cy="1389888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6647688"/>
            <a:ext cx="347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20" b="1" i="0">
                <a:solidFill>
                  <a:srgbClr val="FFFFFF"/>
                </a:solidFill>
                <a:latin typeface="微軟正黑體"/>
              </a:rPr>
              <a:t>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6236207"/>
            <a:ext cx="25008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溫柔・愛・包容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6620256"/>
            <a:ext cx="25008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傳遞溫柔與無條件的愛。讓人放下防備、敞開心房，感受被呵護與接納的溫暖。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81628" y="6144768"/>
            <a:ext cx="31775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881628" y="6144768"/>
            <a:ext cx="420624" cy="1389888"/>
          </a:xfrm>
          <a:prstGeom prst="roundRect">
            <a:avLst/>
          </a:prstGeom>
          <a:solidFill>
            <a:srgbClr val="F0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91940" y="6144768"/>
            <a:ext cx="210312" cy="1389888"/>
          </a:xfrm>
          <a:prstGeom prst="rect">
            <a:avLst/>
          </a:prstGeom>
          <a:solidFill>
            <a:srgbClr val="F0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8204" y="6647688"/>
            <a:ext cx="347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20" b="1" i="0">
                <a:solidFill>
                  <a:srgbClr val="FFFFFF"/>
                </a:solidFill>
                <a:latin typeface="微軟正黑體"/>
              </a:rPr>
              <a:t>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0268" y="6236207"/>
            <a:ext cx="25008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A95C66"/>
                </a:solidFill>
                <a:latin typeface="微軟正黑體"/>
              </a:rPr>
              <a:t>純淨・開始・留白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0268" y="6620256"/>
            <a:ext cx="25008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0" i="0">
                <a:solidFill>
                  <a:srgbClr val="8A7A6A"/>
                </a:solidFill>
                <a:latin typeface="微軟正黑體"/>
              </a:rPr>
              <a:t>象徵清白與全新的起點。在畫面中製造「留白」，讓其他色彩更顯呼吸與空間感。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ENERGY  &amp;  PERSONALITY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色彩能量・個性對照表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9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3177540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713232" cy="2121408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1115568"/>
            <a:ext cx="356616" cy="2121408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947672"/>
            <a:ext cx="676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1261872"/>
            <a:ext cx="215341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1" i="0">
                <a:solidFill>
                  <a:srgbClr val="E8434B"/>
                </a:solidFill>
                <a:latin typeface="微軟正黑體"/>
              </a:rPr>
              <a:t>行動 · 能量 · 熱情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744" y="1719072"/>
            <a:ext cx="2061972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744" y="1810512"/>
            <a:ext cx="21534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行動力強  充滿幹勁</a:t>
            </a:r>
          </a:p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勇氣十足  領導氣質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1628" y="1115568"/>
            <a:ext cx="3177540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81628" y="1115568"/>
            <a:ext cx="713232" cy="2121408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8244" y="1115568"/>
            <a:ext cx="356616" cy="2121408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9915" y="1947672"/>
            <a:ext cx="676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9452" y="1261872"/>
            <a:ext cx="215341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1" i="0">
                <a:solidFill>
                  <a:srgbClr val="E89A3A"/>
                </a:solidFill>
                <a:latin typeface="微軟正黑體"/>
              </a:rPr>
              <a:t>溫暖 · 社交 · 喜悅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9452" y="1719072"/>
            <a:ext cx="2061972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9452" y="1810512"/>
            <a:ext cx="21534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外向開朗  善於溝通</a:t>
            </a:r>
          </a:p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活潑感染  暖化人心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01568"/>
            <a:ext cx="3177540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D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401568"/>
            <a:ext cx="713232" cy="2121408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" y="3401568"/>
            <a:ext cx="356616" cy="2121408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233672"/>
            <a:ext cx="676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0744" y="3547872"/>
            <a:ext cx="215341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1" i="0">
                <a:solidFill>
                  <a:srgbClr val="E6DA55"/>
                </a:solidFill>
                <a:latin typeface="微軟正黑體"/>
              </a:rPr>
              <a:t>陽光 · 智慧 · 希望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0744" y="4005072"/>
            <a:ext cx="2061972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0744" y="4096511"/>
            <a:ext cx="21534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積極樂觀  創意豐富</a:t>
            </a:r>
          </a:p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自信滿滿  活力四射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1628" y="3401568"/>
            <a:ext cx="3177540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81628" y="3401568"/>
            <a:ext cx="713232" cy="2121408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38244" y="3401568"/>
            <a:ext cx="356616" cy="2121408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99915" y="4233672"/>
            <a:ext cx="676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9452" y="3547872"/>
            <a:ext cx="215341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1" i="0">
                <a:solidFill>
                  <a:srgbClr val="5AA85A"/>
                </a:solidFill>
                <a:latin typeface="微軟正黑體"/>
              </a:rPr>
              <a:t>療癒 · 平衡 · 安定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9452" y="4005072"/>
            <a:ext cx="2061972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9452" y="4096511"/>
            <a:ext cx="21534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穩重踏實  善解人意</a:t>
            </a:r>
          </a:p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身心放鬆  平靜舒緩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687568"/>
            <a:ext cx="3177540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5687568"/>
            <a:ext cx="713232" cy="2121408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" y="5687568"/>
            <a:ext cx="356616" cy="2121408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6519672"/>
            <a:ext cx="676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0744" y="5833872"/>
            <a:ext cx="215341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1" i="0">
                <a:solidFill>
                  <a:srgbClr val="4A7AC8"/>
                </a:solidFill>
                <a:latin typeface="微軟正黑體"/>
              </a:rPr>
              <a:t>冷靜 · 信任 · 深度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80744" y="6291072"/>
            <a:ext cx="2061972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0744" y="6382512"/>
            <a:ext cx="21534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理性分析  邏輯清晰</a:t>
            </a:r>
          </a:p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值得信賴  追求深度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81628" y="5687568"/>
            <a:ext cx="3177540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81628" y="5687568"/>
            <a:ext cx="713232" cy="2121408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38244" y="5687568"/>
            <a:ext cx="356616" cy="2121408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99915" y="6519672"/>
            <a:ext cx="676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9452" y="5833872"/>
            <a:ext cx="215341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1" i="0">
                <a:solidFill>
                  <a:srgbClr val="9A5AB8"/>
                </a:solidFill>
                <a:latin typeface="微軟正黑體"/>
              </a:rPr>
              <a:t>靈性 · 直覺 · 神秘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9452" y="6291072"/>
            <a:ext cx="2061972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9452" y="6382512"/>
            <a:ext cx="21534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富想象力  靈性敏感</a:t>
            </a:r>
          </a:p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神秘獨特  直覺敏銳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7973568"/>
            <a:ext cx="3177540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A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7973568"/>
            <a:ext cx="713232" cy="2121408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9536" y="7973568"/>
            <a:ext cx="356616" cy="2121408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" y="8805672"/>
            <a:ext cx="676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80744" y="8119872"/>
            <a:ext cx="215341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1" i="0">
                <a:solidFill>
                  <a:srgbClr val="E6A9C0"/>
                </a:solidFill>
                <a:latin typeface="微軟正黑體"/>
              </a:rPr>
              <a:t>溫柔 · 愛 · 包容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80744" y="8577072"/>
            <a:ext cx="2061972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80744" y="8668512"/>
            <a:ext cx="21534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溫柔細膩  善於關懷</a:t>
            </a:r>
          </a:p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情感豐富  包容體貼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81628" y="7973568"/>
            <a:ext cx="3177540" cy="21214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881628" y="7973568"/>
            <a:ext cx="713232" cy="2121408"/>
          </a:xfrm>
          <a:prstGeom prst="roundRect">
            <a:avLst/>
          </a:prstGeom>
          <a:solidFill>
            <a:srgbClr val="CCC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38244" y="7973568"/>
            <a:ext cx="356616" cy="2121408"/>
          </a:xfrm>
          <a:prstGeom prst="rect">
            <a:avLst/>
          </a:prstGeom>
          <a:solidFill>
            <a:srgbClr val="CCC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99915" y="8805672"/>
            <a:ext cx="676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9452" y="8119872"/>
            <a:ext cx="215341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1" i="0">
                <a:solidFill>
                  <a:srgbClr val="CCCCC0"/>
                </a:solidFill>
                <a:latin typeface="微軟正黑體"/>
              </a:rPr>
              <a:t>純淨 · 開始 · 留白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9452" y="8577072"/>
            <a:ext cx="2061972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9452" y="8668512"/>
            <a:ext cx="21534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簡約純粹  追求完美</a:t>
            </a:r>
          </a:p>
          <a:p>
            <a:pPr algn="l">
              <a:lnSpc>
                <a:spcPct val="135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心靈通透  全新起點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  · 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色彩心理學深度解析・紅色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10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6556248" cy="1024128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0" b="1" i="0">
                <a:solidFill>
                  <a:srgbClr val="FFFFFF"/>
                </a:solidFill>
                <a:latin typeface="微軟正黑體"/>
              </a:rPr>
              <a:t>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70432"/>
            <a:ext cx="46360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FFFFFF"/>
                </a:solidFill>
                <a:latin typeface="微軟正黑體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09344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FFFFFF"/>
                </a:solidFill>
                <a:latin typeface="微軟正黑體"/>
              </a:rPr>
              <a:t>熱情  ·  能量  ·  行動  ·  勇氣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29830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983092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2633472"/>
            <a:ext cx="1704654" cy="237744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2236" y="26060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118104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118104"/>
            <a:ext cx="1758485" cy="237744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236" y="3090672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02736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1640" y="3602736"/>
            <a:ext cx="269155" cy="237744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2236" y="3575304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087368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91640" y="4087368"/>
            <a:ext cx="1435498" cy="237744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2236" y="405993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572000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4572000"/>
            <a:ext cx="538311" cy="237744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2236" y="454456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5468" y="2231136"/>
            <a:ext cx="33536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個 性 特 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5468" y="2542032"/>
            <a:ext cx="3353699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2044" y="2715768"/>
            <a:ext cx="109728" cy="109728"/>
          </a:xfrm>
          <a:prstGeom prst="ellipse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924" y="2633472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行動力強，敢於挑戰、突破現狀</a:t>
            </a:r>
          </a:p>
        </p:txBody>
      </p:sp>
      <p:sp>
        <p:nvSpPr>
          <p:cNvPr id="38" name="Oval 37"/>
          <p:cNvSpPr/>
          <p:nvPr/>
        </p:nvSpPr>
        <p:spPr>
          <a:xfrm>
            <a:off x="3742044" y="3118103"/>
            <a:ext cx="109728" cy="109728"/>
          </a:xfrm>
          <a:prstGeom prst="ellipse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924" y="3035808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充滿熱情，能感染身邊每一個人</a:t>
            </a:r>
          </a:p>
        </p:txBody>
      </p:sp>
      <p:sp>
        <p:nvSpPr>
          <p:cNvPr id="40" name="Oval 39"/>
          <p:cNvSpPr/>
          <p:nvPr/>
        </p:nvSpPr>
        <p:spPr>
          <a:xfrm>
            <a:off x="3742044" y="3520439"/>
            <a:ext cx="109728" cy="109728"/>
          </a:xfrm>
          <a:prstGeom prst="ellipse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924" y="3438144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天生領導氣質，果斷而積極主動</a:t>
            </a:r>
          </a:p>
        </p:txBody>
      </p:sp>
      <p:sp>
        <p:nvSpPr>
          <p:cNvPr id="42" name="Oval 41"/>
          <p:cNvSpPr/>
          <p:nvPr/>
        </p:nvSpPr>
        <p:spPr>
          <a:xfrm>
            <a:off x="3742044" y="3922776"/>
            <a:ext cx="109728" cy="109728"/>
          </a:xfrm>
          <a:prstGeom prst="ellipse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24924" y="3840480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對生命充滿渴望與旺盛的活力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38928"/>
            <a:ext cx="91440" cy="457200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175504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E8434B"/>
                </a:solidFill>
                <a:latin typeface="微軟正黑體"/>
              </a:rPr>
              <a:t>生理 · 心理影響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632704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5724144"/>
            <a:ext cx="6446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紅色刺激腎上腺素分泌，使心跳加速、呼吸加快，帶來興奮、緊迫與高度專注；</a:t>
            </a:r>
          </a:p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是波長最長、最能凝聚行動能量的顏色。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821424"/>
            <a:ext cx="91440" cy="457200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6858000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E8434B"/>
                </a:solidFill>
                <a:latin typeface="微軟正黑體"/>
              </a:rPr>
              <a:t>心 靈 意 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7315200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7406640"/>
            <a:ext cx="64465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在心靈彩繪中，紅色點燃內在火種，適合需要勇氣、突破與自我肯定的階段，幫助重拾生命熱度。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8266175"/>
            <a:ext cx="6556248" cy="118872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8339327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8650224"/>
            <a:ext cx="62270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以紅作花心或主花瓣，搭配金色輪廓，展現強烈生命力；少量點綴即有畫龍點睛之效。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  ·  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色彩心理學深度解析・橙色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11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6556248" cy="1024128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0" b="1" i="0">
                <a:solidFill>
                  <a:srgbClr val="FFFFFF"/>
                </a:solidFill>
                <a:latin typeface="微軟正黑體"/>
              </a:rPr>
              <a:t>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70432"/>
            <a:ext cx="46360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FFFFFF"/>
                </a:solidFill>
                <a:latin typeface="微軟正黑體"/>
              </a:rPr>
              <a:t>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09344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FFFFFF"/>
                </a:solidFill>
                <a:latin typeface="微軟正黑體"/>
              </a:rPr>
              <a:t>溫暖  ·  喜悅  ·  社交  ·  創意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29830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983092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2633472"/>
            <a:ext cx="1525216" cy="237744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2236" y="26060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118104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118104"/>
            <a:ext cx="1579048" cy="237744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236" y="3090672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02736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1640" y="3602736"/>
            <a:ext cx="628030" cy="237744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2236" y="3575304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087368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91640" y="4087368"/>
            <a:ext cx="1704654" cy="237744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2236" y="405993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572000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4572000"/>
            <a:ext cx="628030" cy="237744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2236" y="454456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5468" y="2231136"/>
            <a:ext cx="33536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個 性 特 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5468" y="2542032"/>
            <a:ext cx="3353699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2044" y="2715768"/>
            <a:ext cx="109728" cy="109728"/>
          </a:xfrm>
          <a:prstGeom prst="ellipse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924" y="2633472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外向開朗，善於人際溝通互動</a:t>
            </a:r>
          </a:p>
        </p:txBody>
      </p:sp>
      <p:sp>
        <p:nvSpPr>
          <p:cNvPr id="38" name="Oval 37"/>
          <p:cNvSpPr/>
          <p:nvPr/>
        </p:nvSpPr>
        <p:spPr>
          <a:xfrm>
            <a:off x="3742044" y="3118103"/>
            <a:ext cx="109728" cy="109728"/>
          </a:xfrm>
          <a:prstGeom prst="ellipse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924" y="3035808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感染力強，能帶動整體氛圍</a:t>
            </a:r>
          </a:p>
        </p:txBody>
      </p:sp>
      <p:sp>
        <p:nvSpPr>
          <p:cNvPr id="40" name="Oval 39"/>
          <p:cNvSpPr/>
          <p:nvPr/>
        </p:nvSpPr>
        <p:spPr>
          <a:xfrm>
            <a:off x="3742044" y="3520439"/>
            <a:ext cx="109728" cy="109728"/>
          </a:xfrm>
          <a:prstGeom prst="ellipse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924" y="3438144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思維活潑，富有創意與巧思</a:t>
            </a:r>
          </a:p>
        </p:txBody>
      </p:sp>
      <p:sp>
        <p:nvSpPr>
          <p:cNvPr id="42" name="Oval 41"/>
          <p:cNvSpPr/>
          <p:nvPr/>
        </p:nvSpPr>
        <p:spPr>
          <a:xfrm>
            <a:off x="3742044" y="3922776"/>
            <a:ext cx="109728" cy="109728"/>
          </a:xfrm>
          <a:prstGeom prst="ellipse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24924" y="3840480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情感豐沛，自然地溫暖他人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38928"/>
            <a:ext cx="91440" cy="457200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175504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E89A3A"/>
                </a:solidFill>
                <a:latin typeface="微軟正黑體"/>
              </a:rPr>
              <a:t>生理 · 心理影響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632704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5724144"/>
            <a:ext cx="6446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橙色結合紅的能量與黃的溫暖，刺激食慾、提振情緒，</a:t>
            </a:r>
          </a:p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帶來歡快輕鬆的心情，對低落、退縮的狀態特別有提振作用。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821424"/>
            <a:ext cx="91440" cy="457200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6858000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E89A3A"/>
                </a:solidFill>
                <a:latin typeface="微軟正黑體"/>
              </a:rPr>
              <a:t>心 靈 意 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7315200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7406640"/>
            <a:ext cx="64465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橙色開啟表達與連結的能量，適合需要打開心房、增進互動與重燃熱情的時刻。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8266175"/>
            <a:ext cx="6556248" cy="118872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8339327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8650224"/>
            <a:ext cx="62270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橙色用於中圈花瓣搭配黃色漸層，溫暖明亮；與藍色互補可大幅增強視覺活力。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  ·  YELLOW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色彩心理學深度解析・黃色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12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6556248" cy="1024128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0" b="1" i="0">
                <a:solidFill>
                  <a:srgbClr val="FFFFFF"/>
                </a:solidFill>
                <a:latin typeface="微軟正黑體"/>
              </a:rPr>
              <a:t>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70432"/>
            <a:ext cx="46360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FFFFFF"/>
                </a:solidFill>
                <a:latin typeface="微軟正黑體"/>
              </a:rPr>
              <a:t>YELLOW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09344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FFFFFF"/>
                </a:solidFill>
                <a:latin typeface="微軟正黑體"/>
              </a:rPr>
              <a:t>陽光  ·  智慧  ·  希望  ·  自信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29830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983092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2633472"/>
            <a:ext cx="1614935" cy="237744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2236" y="26060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118104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118104"/>
            <a:ext cx="1256060" cy="237744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236" y="3090672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02736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1640" y="3602736"/>
            <a:ext cx="717749" cy="237744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2236" y="3575304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087368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91640" y="4087368"/>
            <a:ext cx="1525216" cy="237744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2236" y="405993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572000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4572000"/>
            <a:ext cx="807467" cy="237744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2236" y="454456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5468" y="2231136"/>
            <a:ext cx="33536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個 性 特 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5468" y="2542032"/>
            <a:ext cx="3353699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2044" y="2715768"/>
            <a:ext cx="109728" cy="109728"/>
          </a:xfrm>
          <a:prstGeom prst="ellipse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924" y="2633472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思維清晰，邏輯與分析力強</a:t>
            </a:r>
          </a:p>
        </p:txBody>
      </p:sp>
      <p:sp>
        <p:nvSpPr>
          <p:cNvPr id="38" name="Oval 37"/>
          <p:cNvSpPr/>
          <p:nvPr/>
        </p:nvSpPr>
        <p:spPr>
          <a:xfrm>
            <a:off x="3742044" y="3118103"/>
            <a:ext cx="109728" cy="109728"/>
          </a:xfrm>
          <a:prstGeom prst="ellipse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924" y="3035808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積極向上，充滿好奇心</a:t>
            </a:r>
          </a:p>
        </p:txBody>
      </p:sp>
      <p:sp>
        <p:nvSpPr>
          <p:cNvPr id="40" name="Oval 39"/>
          <p:cNvSpPr/>
          <p:nvPr/>
        </p:nvSpPr>
        <p:spPr>
          <a:xfrm>
            <a:off x="3742044" y="3520439"/>
            <a:ext cx="109728" cy="109728"/>
          </a:xfrm>
          <a:prstGeom prst="ellipse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924" y="3438144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自信從容，樂於表達自我</a:t>
            </a:r>
          </a:p>
        </p:txBody>
      </p:sp>
      <p:sp>
        <p:nvSpPr>
          <p:cNvPr id="42" name="Oval 41"/>
          <p:cNvSpPr/>
          <p:nvPr/>
        </p:nvSpPr>
        <p:spPr>
          <a:xfrm>
            <a:off x="3742044" y="3922776"/>
            <a:ext cx="109728" cy="109728"/>
          </a:xfrm>
          <a:prstGeom prst="ellipse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24924" y="3840480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散發正能量，帶動希望感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38928"/>
            <a:ext cx="91440" cy="457200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175504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E6DA55"/>
                </a:solidFill>
                <a:latin typeface="微軟正黑體"/>
              </a:rPr>
              <a:t>生理 · 心理影響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632704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5724144"/>
            <a:ext cx="6446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黃色是視覺上最明亮的顏色，刺激神經系統、提升思考清晰度與注意力，</a:t>
            </a:r>
          </a:p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與陽光、希望、輕鬆愉快的感受緊密相連。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821424"/>
            <a:ext cx="91440" cy="457200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6858000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E6DA55"/>
                </a:solidFill>
                <a:latin typeface="微軟正黑體"/>
              </a:rPr>
              <a:t>心 靈 意 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7315200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7406640"/>
            <a:ext cx="64465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黃色是「永遠向陽」的生命力顏色，適合需要信心、樂觀與重新點亮希望的心靈狀態。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8266175"/>
            <a:ext cx="6556248" cy="118872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8339327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8650224"/>
            <a:ext cx="62270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黃色與金色同頻，常用於花心發光效果；搭配紫色形成最強力的互補配色。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  · 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色彩心理學深度解析・綠色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13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6556248" cy="1024128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0" b="1" i="0">
                <a:solidFill>
                  <a:srgbClr val="FFFFFF"/>
                </a:solidFill>
                <a:latin typeface="微軟正黑體"/>
              </a:rPr>
              <a:t>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70432"/>
            <a:ext cx="46360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FFFFFF"/>
                </a:solidFill>
                <a:latin typeface="微軟正黑體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09344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FFFFFF"/>
                </a:solidFill>
                <a:latin typeface="微軟正黑體"/>
              </a:rPr>
              <a:t>療癒  ·  平衡  ·  安定  ·  自然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29830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983092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2633472"/>
            <a:ext cx="897186" cy="237744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2236" y="26060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118104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118104"/>
            <a:ext cx="807467" cy="237744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236" y="3090672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02736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1640" y="3602736"/>
            <a:ext cx="1704654" cy="237744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2236" y="3575304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087368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91640" y="4087368"/>
            <a:ext cx="986905" cy="237744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2236" y="405993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572000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4572000"/>
            <a:ext cx="1076623" cy="237744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2236" y="454456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5468" y="2231136"/>
            <a:ext cx="33536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個 性 特 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5468" y="2542032"/>
            <a:ext cx="3353699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2044" y="2715768"/>
            <a:ext cx="109728" cy="109728"/>
          </a:xfrm>
          <a:prstGeom prst="ellipse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924" y="2633472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穩重踏實，重視內外和諧</a:t>
            </a:r>
          </a:p>
        </p:txBody>
      </p:sp>
      <p:sp>
        <p:nvSpPr>
          <p:cNvPr id="38" name="Oval 37"/>
          <p:cNvSpPr/>
          <p:nvPr/>
        </p:nvSpPr>
        <p:spPr>
          <a:xfrm>
            <a:off x="3742044" y="3118103"/>
            <a:ext cx="109728" cy="109728"/>
          </a:xfrm>
          <a:prstGeom prst="ellipse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924" y="3035808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善解人意，體貼而包容</a:t>
            </a:r>
          </a:p>
        </p:txBody>
      </p:sp>
      <p:sp>
        <p:nvSpPr>
          <p:cNvPr id="40" name="Oval 39"/>
          <p:cNvSpPr/>
          <p:nvPr/>
        </p:nvSpPr>
        <p:spPr>
          <a:xfrm>
            <a:off x="3742044" y="3520439"/>
            <a:ext cx="109728" cy="109728"/>
          </a:xfrm>
          <a:prstGeom prst="ellipse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924" y="3438144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親近自然，喜愛寧靜的環境</a:t>
            </a:r>
          </a:p>
        </p:txBody>
      </p:sp>
      <p:sp>
        <p:nvSpPr>
          <p:cNvPr id="42" name="Oval 41"/>
          <p:cNvSpPr/>
          <p:nvPr/>
        </p:nvSpPr>
        <p:spPr>
          <a:xfrm>
            <a:off x="3742044" y="3922776"/>
            <a:ext cx="109728" cy="109728"/>
          </a:xfrm>
          <a:prstGeom prst="ellipse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24924" y="3840480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身心容易取得平衡與安定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38928"/>
            <a:ext cx="91440" cy="457200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175504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5AA85A"/>
                </a:solidFill>
                <a:latin typeface="微軟正黑體"/>
              </a:rPr>
              <a:t>生理 · 心理影響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632704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5724144"/>
            <a:ext cx="6446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綠色位於色相環中央，是眼睛最不費力辨識的顏色；</a:t>
            </a:r>
          </a:p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能降低血壓、放鬆眼部肌肉與神經，是最具療癒能量的波長之一。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821424"/>
            <a:ext cx="91440" cy="457200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6858000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5AA85A"/>
                </a:solidFill>
                <a:latin typeface="微軟正黑體"/>
              </a:rPr>
              <a:t>心 靈 意 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7315200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7406640"/>
            <a:ext cx="64465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綠色帶來休息與重整的力量，適合疲憊、需要被安撫與回到平衡的階段。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8266175"/>
            <a:ext cx="6556248" cy="118872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8339327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8650224"/>
            <a:ext cx="62270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大面積綠色搭配白色與金色細節，呈現森林療癒感；加入粉紅花朵帶來春天生機。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  ·  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色彩心理學深度解析・藍色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14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6556248" cy="1024128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0" b="1" i="0">
                <a:solidFill>
                  <a:srgbClr val="FFFFFF"/>
                </a:solidFill>
                <a:latin typeface="微軟正黑體"/>
              </a:rPr>
              <a:t>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70432"/>
            <a:ext cx="46360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FFFFFF"/>
                </a:solidFill>
                <a:latin typeface="微軟正黑體"/>
              </a:rPr>
              <a:t>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09344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FFFFFF"/>
                </a:solidFill>
                <a:latin typeface="微軟正黑體"/>
              </a:rPr>
              <a:t>冷靜  ·  信任  ·  深度  ·  專注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29830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983092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2633472"/>
            <a:ext cx="807467" cy="237744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2236" y="26060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118104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118104"/>
            <a:ext cx="538311" cy="237744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236" y="3090672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02736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1640" y="3602736"/>
            <a:ext cx="1614935" cy="237744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2236" y="3575304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087368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91640" y="4087368"/>
            <a:ext cx="717749" cy="237744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2236" y="405993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572000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4572000"/>
            <a:ext cx="1256060" cy="237744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2236" y="454456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5468" y="2231136"/>
            <a:ext cx="33536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個 性 特 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5468" y="2542032"/>
            <a:ext cx="3353699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2044" y="2715768"/>
            <a:ext cx="109728" cy="109728"/>
          </a:xfrm>
          <a:prstGeom prst="ellipse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924" y="2633472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理性分析，思維邏輯清晰</a:t>
            </a:r>
          </a:p>
        </p:txBody>
      </p:sp>
      <p:sp>
        <p:nvSpPr>
          <p:cNvPr id="38" name="Oval 37"/>
          <p:cNvSpPr/>
          <p:nvPr/>
        </p:nvSpPr>
        <p:spPr>
          <a:xfrm>
            <a:off x="3742044" y="3118103"/>
            <a:ext cx="109728" cy="109728"/>
          </a:xfrm>
          <a:prstGeom prst="ellipse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924" y="3035808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值得信賴，誠實而穩重</a:t>
            </a:r>
          </a:p>
        </p:txBody>
      </p:sp>
      <p:sp>
        <p:nvSpPr>
          <p:cNvPr id="40" name="Oval 39"/>
          <p:cNvSpPr/>
          <p:nvPr/>
        </p:nvSpPr>
        <p:spPr>
          <a:xfrm>
            <a:off x="3742044" y="3520439"/>
            <a:ext cx="109728" cy="109728"/>
          </a:xfrm>
          <a:prstGeom prst="ellipse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924" y="3438144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追求深度，不甘流於表面</a:t>
            </a:r>
          </a:p>
        </p:txBody>
      </p:sp>
      <p:sp>
        <p:nvSpPr>
          <p:cNvPr id="42" name="Oval 41"/>
          <p:cNvSpPr/>
          <p:nvPr/>
        </p:nvSpPr>
        <p:spPr>
          <a:xfrm>
            <a:off x="3742044" y="3922776"/>
            <a:ext cx="109728" cy="109728"/>
          </a:xfrm>
          <a:prstGeom prst="ellipse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24924" y="3840480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靜心沉澱後能爆發創意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38928"/>
            <a:ext cx="91440" cy="457200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175504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4A7AC8"/>
                </a:solidFill>
                <a:latin typeface="微軟正黑體"/>
              </a:rPr>
              <a:t>生理 · 心理影響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632704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5724144"/>
            <a:ext cx="6446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藍色降低心跳速率與血壓，幫助神經進入放鬆狀態；</a:t>
            </a:r>
          </a:p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研究顯示藍色環境能提升專注、效率與被信任感。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821424"/>
            <a:ext cx="91440" cy="457200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6858000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4A7AC8"/>
                </a:solidFill>
                <a:latin typeface="微軟正黑體"/>
              </a:rPr>
              <a:t>心 靈 意 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7315200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7406640"/>
            <a:ext cx="64465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藍色是沉澱心靈最有效的顏色，適合需要冷靜、沉思與回歸理性秩序的時刻。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8266175"/>
            <a:ext cx="6556248" cy="118872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8339327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8650224"/>
            <a:ext cx="62270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深淺藍漸層表現寧靜與深度；搭配橙色互補，讓冷靜中帶有活力的點綴。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  ·  PURPLE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色彩心理學深度解析・紫色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15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6556248" cy="1024128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0" b="1" i="0">
                <a:solidFill>
                  <a:srgbClr val="FFFFFF"/>
                </a:solidFill>
                <a:latin typeface="微軟正黑體"/>
              </a:rPr>
              <a:t>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70432"/>
            <a:ext cx="46360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FFFFFF"/>
                </a:solidFill>
                <a:latin typeface="微軟正黑體"/>
              </a:rPr>
              <a:t>PURPLE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09344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FFFFFF"/>
                </a:solidFill>
                <a:latin typeface="微軟正黑體"/>
              </a:rPr>
              <a:t>靈性  ·  直覺  ·  神秘  ·  智慧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29830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983092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2633472"/>
            <a:ext cx="986905" cy="237744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2236" y="26060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118104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118104"/>
            <a:ext cx="897186" cy="237744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236" y="3090672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02736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1640" y="3602736"/>
            <a:ext cx="1166342" cy="237744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2236" y="3575304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087368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91640" y="4087368"/>
            <a:ext cx="807467" cy="237744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2236" y="405993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572000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4572000"/>
            <a:ext cx="1758485" cy="237744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2236" y="454456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5468" y="2231136"/>
            <a:ext cx="33536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個 性 特 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5468" y="2542032"/>
            <a:ext cx="3353699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2044" y="2715768"/>
            <a:ext cx="109728" cy="109728"/>
          </a:xfrm>
          <a:prstGeom prst="ellipse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924" y="2633472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靈性敏感，直覺力豐富</a:t>
            </a:r>
          </a:p>
        </p:txBody>
      </p:sp>
      <p:sp>
        <p:nvSpPr>
          <p:cNvPr id="38" name="Oval 37"/>
          <p:cNvSpPr/>
          <p:nvPr/>
        </p:nvSpPr>
        <p:spPr>
          <a:xfrm>
            <a:off x="3742044" y="3118103"/>
            <a:ext cx="109728" cy="109728"/>
          </a:xfrm>
          <a:prstGeom prst="ellipse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924" y="3035808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想像力強，思維獨特深邃</a:t>
            </a:r>
          </a:p>
        </p:txBody>
      </p:sp>
      <p:sp>
        <p:nvSpPr>
          <p:cNvPr id="40" name="Oval 39"/>
          <p:cNvSpPr/>
          <p:nvPr/>
        </p:nvSpPr>
        <p:spPr>
          <a:xfrm>
            <a:off x="3742044" y="3520439"/>
            <a:ext cx="109728" cy="109728"/>
          </a:xfrm>
          <a:prstGeom prst="ellipse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924" y="3438144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追求生命意義，喜愛自省</a:t>
            </a:r>
          </a:p>
        </p:txBody>
      </p:sp>
      <p:sp>
        <p:nvSpPr>
          <p:cNvPr id="42" name="Oval 41"/>
          <p:cNvSpPr/>
          <p:nvPr/>
        </p:nvSpPr>
        <p:spPr>
          <a:xfrm>
            <a:off x="3742044" y="3922776"/>
            <a:ext cx="109728" cy="109728"/>
          </a:xfrm>
          <a:prstGeom prst="ellipse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24924" y="3840480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散發神秘魅力，引人入勝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38928"/>
            <a:ext cx="91440" cy="457200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175504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9A5AB8"/>
                </a:solidFill>
                <a:latin typeface="微軟正黑體"/>
              </a:rPr>
              <a:t>生理 · 心理影響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632704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5724144"/>
            <a:ext cx="6446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紫色融合紅的熱情與藍的冷靜，形成獨特而高頻的靈性波長；</a:t>
            </a:r>
          </a:p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自古與高貴、神秘、智慧相連，能誘發冥想與深層感受。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821424"/>
            <a:ext cx="91440" cy="457200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6858000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9A5AB8"/>
                </a:solidFill>
                <a:latin typeface="微軟正黑體"/>
              </a:rPr>
              <a:t>心 靈 意 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7315200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7406640"/>
            <a:ext cx="64465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紫色連結高層意識與靈感泉源，是冥想與心靈藝術中能量最強的顏色。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8266175"/>
            <a:ext cx="6556248" cy="118872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8339327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8650224"/>
            <a:ext cx="62270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紫色搭配金色展現高貴靈性感；淺到深紫漸層在花心創造神秘而深邃的效果。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  ·  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色彩心理學深度解析・粉色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16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6556248" cy="1024128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0" b="1" i="0">
                <a:solidFill>
                  <a:srgbClr val="FFFFFF"/>
                </a:solidFill>
                <a:latin typeface="微軟正黑體"/>
              </a:rPr>
              <a:t>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70432"/>
            <a:ext cx="46360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FFFFFF"/>
                </a:solidFill>
                <a:latin typeface="微軟正黑體"/>
              </a:rPr>
              <a:t>PINK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09344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FFFFFF"/>
                </a:solidFill>
                <a:latin typeface="微軟正黑體"/>
              </a:rPr>
              <a:t>溫柔  ·  愛  ·  包容  ·  呵護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29830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983092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2633472"/>
            <a:ext cx="986905" cy="237744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2236" y="26060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118104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118104"/>
            <a:ext cx="1345779" cy="237744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236" y="3090672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02736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1640" y="3602736"/>
            <a:ext cx="1256060" cy="237744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2236" y="3575304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087368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91640" y="4087368"/>
            <a:ext cx="1256060" cy="237744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2236" y="405993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572000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4572000"/>
            <a:ext cx="1076623" cy="237744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2236" y="454456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5468" y="2231136"/>
            <a:ext cx="33536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個 性 特 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5468" y="2542032"/>
            <a:ext cx="3353699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2044" y="2715768"/>
            <a:ext cx="109728" cy="109728"/>
          </a:xfrm>
          <a:prstGeom prst="ellipse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924" y="2633472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溫柔細膩，善於關懷他人</a:t>
            </a:r>
          </a:p>
        </p:txBody>
      </p:sp>
      <p:sp>
        <p:nvSpPr>
          <p:cNvPr id="38" name="Oval 37"/>
          <p:cNvSpPr/>
          <p:nvPr/>
        </p:nvSpPr>
        <p:spPr>
          <a:xfrm>
            <a:off x="3742044" y="3118103"/>
            <a:ext cx="109728" cy="109728"/>
          </a:xfrm>
          <a:prstGeom prst="ellipse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924" y="3035808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情感豐富，易感受他人情緒</a:t>
            </a:r>
          </a:p>
        </p:txBody>
      </p:sp>
      <p:sp>
        <p:nvSpPr>
          <p:cNvPr id="40" name="Oval 39"/>
          <p:cNvSpPr/>
          <p:nvPr/>
        </p:nvSpPr>
        <p:spPr>
          <a:xfrm>
            <a:off x="3742044" y="3520439"/>
            <a:ext cx="109728" cy="109728"/>
          </a:xfrm>
          <a:prstGeom prst="ellipse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924" y="3438144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包容體諒，不輕易批判他人</a:t>
            </a:r>
          </a:p>
        </p:txBody>
      </p:sp>
      <p:sp>
        <p:nvSpPr>
          <p:cNvPr id="42" name="Oval 41"/>
          <p:cNvSpPr/>
          <p:nvPr/>
        </p:nvSpPr>
        <p:spPr>
          <a:xfrm>
            <a:off x="3742044" y="3922776"/>
            <a:ext cx="109728" cy="109728"/>
          </a:xfrm>
          <a:prstGeom prst="ellipse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24924" y="3840480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傳遞溫暖，讓人卸下防備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38928"/>
            <a:ext cx="91440" cy="457200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175504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E6A9C0"/>
                </a:solidFill>
                <a:latin typeface="微軟正黑體"/>
              </a:rPr>
              <a:t>生理 · 心理影響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632704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5724144"/>
            <a:ext cx="6446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粉色是紅色柔化後的版本，保留愛的能量卻去除攻擊性；</a:t>
            </a:r>
          </a:p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研究顯示粉色環境能平息激動情緒、降低敵意，帶來安全感。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821424"/>
            <a:ext cx="91440" cy="457200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6858000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E6A9C0"/>
                </a:solidFill>
                <a:latin typeface="微軟正黑體"/>
              </a:rPr>
              <a:t>心 靈 意 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7315200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7406640"/>
            <a:ext cx="64465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粉色開啟自我疼惜與被愛的能量，適合需要溫柔對待自己、修復情感的階段。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8266175"/>
            <a:ext cx="6556248" cy="118872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8339327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8650224"/>
            <a:ext cx="62270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粉色搭配白色與玫瑰金，呈現浪漫溫柔基調；加入少許紫色，可提升靈性層次。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COLOR  PSYCHOLOGY  ·  WHITE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色彩心理學深度解析・白色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17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6556248" cy="1024128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0" b="1" i="0">
                <a:solidFill>
                  <a:srgbClr val="FFFFFF"/>
                </a:solidFill>
                <a:latin typeface="微軟正黑體"/>
              </a:rPr>
              <a:t>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70432"/>
            <a:ext cx="46360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FFFFFF"/>
                </a:solidFill>
                <a:latin typeface="微軟正黑體"/>
              </a:rPr>
              <a:t>WHITE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09344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FFFFFF"/>
                </a:solidFill>
                <a:latin typeface="微軟正黑體"/>
              </a:rPr>
              <a:t>純淨  ·  開始  ·  留白  ·  整合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29830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2983092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633472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2633472"/>
            <a:ext cx="717749" cy="237744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2236" y="26060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118104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118104"/>
            <a:ext cx="628030" cy="237744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236" y="3090672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02736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1640" y="3602736"/>
            <a:ext cx="1650823" cy="237744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2236" y="3575304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0791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087368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91640" y="4087368"/>
            <a:ext cx="807467" cy="237744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2236" y="405993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4572000"/>
            <a:ext cx="1794372" cy="237744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4572000"/>
            <a:ext cx="1435498" cy="237744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2236" y="454456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8A7A6A"/>
                </a:solidFill>
                <a:latin typeface="微軟正黑體"/>
              </a:rPr>
              <a:t>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5468" y="2231136"/>
            <a:ext cx="335369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9" b="1" i="0">
                <a:solidFill>
                  <a:srgbClr val="A95C66"/>
                </a:solidFill>
                <a:latin typeface="微軟正黑體"/>
              </a:rPr>
              <a:t>個 性 特 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5468" y="2542032"/>
            <a:ext cx="3353699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2044" y="2715768"/>
            <a:ext cx="109728" cy="109728"/>
          </a:xfrm>
          <a:prstGeom prst="ellips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924" y="2633472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追求完美，注重每一個細節</a:t>
            </a:r>
          </a:p>
        </p:txBody>
      </p:sp>
      <p:sp>
        <p:nvSpPr>
          <p:cNvPr id="38" name="Oval 37"/>
          <p:cNvSpPr/>
          <p:nvPr/>
        </p:nvSpPr>
        <p:spPr>
          <a:xfrm>
            <a:off x="3742044" y="3118103"/>
            <a:ext cx="109728" cy="109728"/>
          </a:xfrm>
          <a:prstGeom prst="ellips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924" y="3035808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心靈通透，格局開闊包容</a:t>
            </a:r>
          </a:p>
        </p:txBody>
      </p:sp>
      <p:sp>
        <p:nvSpPr>
          <p:cNvPr id="40" name="Oval 39"/>
          <p:cNvSpPr/>
          <p:nvPr/>
        </p:nvSpPr>
        <p:spPr>
          <a:xfrm>
            <a:off x="3742044" y="3520439"/>
            <a:ext cx="109728" cy="109728"/>
          </a:xfrm>
          <a:prstGeom prst="ellips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924" y="3438144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懂得留白，擅於取捨化簡</a:t>
            </a:r>
          </a:p>
        </p:txBody>
      </p:sp>
      <p:sp>
        <p:nvSpPr>
          <p:cNvPr id="42" name="Oval 41"/>
          <p:cNvSpPr/>
          <p:nvPr/>
        </p:nvSpPr>
        <p:spPr>
          <a:xfrm>
            <a:off x="3742044" y="3922776"/>
            <a:ext cx="109728" cy="109728"/>
          </a:xfrm>
          <a:prstGeom prst="ellips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24924" y="3840480"/>
            <a:ext cx="309766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 i="0">
                <a:solidFill>
                  <a:srgbClr val="4A403A"/>
                </a:solidFill>
                <a:latin typeface="微軟正黑體"/>
              </a:rPr>
              <a:t>有整合能力，化繁為簡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138928"/>
            <a:ext cx="91440" cy="45720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175504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8A7A6A"/>
                </a:solidFill>
                <a:latin typeface="微軟正黑體"/>
              </a:rPr>
              <a:t>生理 · 心理影響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632704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5724144"/>
            <a:ext cx="6446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白色涵蓋所有光的波長，象徵完整與純粹；</a:t>
            </a:r>
          </a:p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在視覺上製造空間與呼吸感，心理上帶來清晰與重新開始的期許。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821424"/>
            <a:ext cx="91440" cy="45720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" y="6858000"/>
            <a:ext cx="6281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8A7A6A"/>
                </a:solidFill>
                <a:latin typeface="微軟正黑體"/>
              </a:rPr>
              <a:t>心 靈 意 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7315200"/>
            <a:ext cx="6556248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7406640"/>
            <a:ext cx="64465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白色是「重置」心靈最有效的顏色，適合需要放下、清空與迎接全新開始的時刻。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8266175"/>
            <a:ext cx="6556248" cy="118872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8339327"/>
            <a:ext cx="6227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8650224"/>
            <a:ext cx="62270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8A7A6A"/>
                </a:solidFill>
                <a:latin typeface="微軟正黑體"/>
              </a:rPr>
              <a:t>白色作底色或高光點，讓其他顏色更透亮；中心留白的設計，給觀者呼吸與冥想的空間。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MANDALA  ·  MEANING  &amp; 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曼陀羅的意涵・起源與結構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18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「Mandala」源自古印度梵語，原義為「圓」與「中心」，是宇宙、圓滿與內在完整的象徵。在藏傳佛教中，曼陀羅是宇宙地圖，也是修行者凝神入定的工具。在現代心靈藝術中，繪製曼陀羅是「專注當下」的靜心歷程——由圓心出發，一筆一畫安放自己的心，每一件作品都是創作者內在的鏡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91440" cy="475488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44144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A95C66"/>
                </a:solidFill>
                <a:latin typeface="微軟正黑體"/>
              </a:rPr>
              <a:t>圓滿・完整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752344"/>
            <a:ext cx="6281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從圓心向外，象徵生命由核心向外擴展的力量。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91440" cy="475488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303580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A95C66"/>
                </a:solidFill>
                <a:latin typeface="微軟正黑體"/>
              </a:rPr>
              <a:t>秩序・和諧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346703"/>
            <a:ext cx="6281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等分對稱讓視覺平衡，呼應內在對秩序的渴望。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11879"/>
            <a:ext cx="91440" cy="475488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63016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1" i="0">
                <a:solidFill>
                  <a:srgbClr val="A95C66"/>
                </a:solidFill>
                <a:latin typeface="微軟正黑體"/>
              </a:rPr>
              <a:t>靜心・療癒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941063"/>
            <a:ext cx="6281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創作過程即冥想，讓雜念沉澱、專注回歸當下。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65562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20" b="1" i="0">
                <a:solidFill>
                  <a:srgbClr val="A95C66"/>
                </a:solidFill>
                <a:latin typeface="微軟正黑體"/>
              </a:rPr>
              <a:t>曼陀羅的四大結構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45152"/>
            <a:ext cx="6556248" cy="5029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791456"/>
            <a:ext cx="655624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791456"/>
            <a:ext cx="91440" cy="987552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4901184"/>
            <a:ext cx="2011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圓心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4828032"/>
            <a:ext cx="406907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一切的起點，視覺與能量的核心。所有圖案由此向外生長。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907024"/>
            <a:ext cx="655624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907024"/>
            <a:ext cx="91440" cy="987552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6016752"/>
            <a:ext cx="2011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放射 Radial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39" y="5943600"/>
            <a:ext cx="406907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圖案由圓心向外發散，如光芒、花瓣，引導視線流動。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7022592"/>
            <a:ext cx="655624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7022592"/>
            <a:ext cx="91440" cy="987552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7132320"/>
            <a:ext cx="2011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對稱 Symmetry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39" y="7059168"/>
            <a:ext cx="406907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以對稱軸重複，產生穩定有秩序之美；常見 8／12 等分。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8138160"/>
            <a:ext cx="655624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8138160"/>
            <a:ext cx="91440" cy="987552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8247888"/>
            <a:ext cx="2011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層次 Layers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39" y="8174736"/>
            <a:ext cx="406907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由內而外一圈圈堆疊，節奏感與豐富度同步提升。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GEOMETRY  &amp;  SYMMETRY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幾何基礎：對稱與分割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19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曼陀羅之美，建立在「等分」之上。先畫出輔助線，在一個扇形設計好圖案，對稱重複即完成。</a:t>
            </a:r>
          </a:p>
        </p:txBody>
      </p:sp>
      <p:pic>
        <p:nvPicPr>
          <p:cNvPr id="9" name="Picture 8" descr="_ho_div_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" y="1682496"/>
            <a:ext cx="1570482" cy="1570482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02920" y="3307842"/>
            <a:ext cx="157048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1" i="0">
                <a:solidFill>
                  <a:srgbClr val="A95C66"/>
                </a:solidFill>
                <a:latin typeface="微軟正黑體"/>
              </a:rPr>
              <a:t>4 等分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8738"/>
            <a:ext cx="157048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0" i="0">
                <a:solidFill>
                  <a:srgbClr val="8A7A6A"/>
                </a:solidFill>
                <a:latin typeface="微軟正黑體"/>
              </a:rPr>
              <a:t>簡潔十字構圖</a:t>
            </a:r>
          </a:p>
        </p:txBody>
      </p:sp>
      <p:pic>
        <p:nvPicPr>
          <p:cNvPr id="12" name="Picture 11" descr="_ho_div_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64842" y="1682496"/>
            <a:ext cx="1570482" cy="1570482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2164842" y="3307842"/>
            <a:ext cx="157048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1" i="0">
                <a:solidFill>
                  <a:srgbClr val="A95C66"/>
                </a:solidFill>
                <a:latin typeface="微軟正黑體"/>
              </a:rPr>
              <a:t>6 等分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4842" y="3618738"/>
            <a:ext cx="157048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0" i="0">
                <a:solidFill>
                  <a:srgbClr val="8A7A6A"/>
                </a:solidFill>
                <a:latin typeface="微軟正黑體"/>
              </a:rPr>
              <a:t>柔和花型</a:t>
            </a:r>
          </a:p>
        </p:txBody>
      </p:sp>
      <p:pic>
        <p:nvPicPr>
          <p:cNvPr id="15" name="Picture 14" descr="_ho_div_8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26764" y="1682496"/>
            <a:ext cx="1570482" cy="1570482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3826764" y="3307842"/>
            <a:ext cx="157048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1" i="0">
                <a:solidFill>
                  <a:srgbClr val="A95C66"/>
                </a:solidFill>
                <a:latin typeface="微軟正黑體"/>
              </a:rPr>
              <a:t>8 等分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6764" y="3618738"/>
            <a:ext cx="157048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0" i="0">
                <a:solidFill>
                  <a:srgbClr val="8A7A6A"/>
                </a:solidFill>
                <a:latin typeface="微軟正黑體"/>
              </a:rPr>
              <a:t>最常用，與八角板契合</a:t>
            </a:r>
          </a:p>
        </p:txBody>
      </p:sp>
      <p:pic>
        <p:nvPicPr>
          <p:cNvPr id="18" name="Picture 17" descr="_ho_div_12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488686" y="1682496"/>
            <a:ext cx="1570482" cy="1570482"/>
          </a:xfrm>
          <a:prstGeom prst="rect">
            <a:avLst/>
          </a:prstGeom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5488686" y="3307842"/>
            <a:ext cx="157048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1" i="0">
                <a:solidFill>
                  <a:srgbClr val="A95C66"/>
                </a:solidFill>
                <a:latin typeface="微軟正黑體"/>
              </a:rPr>
              <a:t>12 等分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8686" y="3618738"/>
            <a:ext cx="157048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0" i="0">
                <a:solidFill>
                  <a:srgbClr val="8A7A6A"/>
                </a:solidFill>
                <a:latin typeface="微軟正黑體"/>
              </a:rPr>
              <a:t>細緻繁複，進階挑戰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47922"/>
            <a:ext cx="6556248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403A"/>
                </a:solidFill>
                <a:latin typeface="微軟正黑體"/>
              </a:rPr>
              <a:t>・分割數越多，圖案越繁複細緻。初學常用 8 等分，與八角板的造型相呼應。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403A"/>
                </a:solidFill>
                <a:latin typeface="微軟正黑體"/>
              </a:rPr>
              <a:t>・先以鉛筆淡淡畫出同心圓與放射線當「輔助線」，再沿線設計，完成後可擦除或覆蓋。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403A"/>
                </a:solidFill>
                <a:latin typeface="微軟正黑體"/>
              </a:rPr>
              <a:t>・只要在一個扇形區塊設計好圖案，再依對稱重複到每一等分，整體就會自然和諧。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DESIGN 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常見圖案元素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20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曼陀羅由幾種基本「語彙」組合而成。熟悉每種元素的畫法，就能靈活搭配、自由創作。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1775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l_dot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7784" y="2020824"/>
            <a:ext cx="914400" cy="91440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1581912" y="1920240"/>
            <a:ext cx="20436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圓點 Dots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359152"/>
            <a:ext cx="204368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由大到小排列出律動感，是最基本也最萬用的元素。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1628" y="1828800"/>
            <a:ext cx="31775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l_petal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936491" y="2020824"/>
            <a:ext cx="914400" cy="914400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4960620" y="1920240"/>
            <a:ext cx="20436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花瓣 Petals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0620" y="2359152"/>
            <a:ext cx="204368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水滴形、橢圓形組合成花朵，是最常見的主視覺元素。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28415"/>
            <a:ext cx="31775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l_leaves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7784" y="3520439"/>
            <a:ext cx="914400" cy="914400"/>
          </a:xfrm>
          <a:prstGeom prst="rect">
            <a:avLst/>
          </a:prstGeom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1581912" y="3419856"/>
            <a:ext cx="20436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葉形 Leaves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858768"/>
            <a:ext cx="204368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尖葉、羽葉穿插花朵之間，增添自然生氣與流動感。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1628" y="3328415"/>
            <a:ext cx="31775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l_teardrop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936491" y="3520439"/>
            <a:ext cx="914400" cy="914400"/>
          </a:xfrm>
          <a:prstGeom prst="rect">
            <a:avLst/>
          </a:prstGeom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4960620" y="3419856"/>
            <a:ext cx="20436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水滴 Teardrop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0620" y="3858768"/>
            <a:ext cx="204368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一頭圓一頭尖，可放射、可串連，變化萬千。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28031"/>
            <a:ext cx="31775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l_lines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57784" y="5020055"/>
            <a:ext cx="914400" cy="914400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1581912" y="4919471"/>
            <a:ext cx="20436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線條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1912" y="5358383"/>
            <a:ext cx="204368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直線、波浪線、卷草串起各層，引導視線流動。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1628" y="4828031"/>
            <a:ext cx="31775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l_geometry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936491" y="5020055"/>
            <a:ext cx="914400" cy="914400"/>
          </a:xfrm>
          <a:prstGeom prst="rect">
            <a:avLst/>
          </a:prstGeom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4960620" y="4919471"/>
            <a:ext cx="20436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幾何 Shapes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60620" y="5358383"/>
            <a:ext cx="204368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三角、菱形、弧形構成骨架，穩定整體結構。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STEP  BY 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曼陀羅設計六步驟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21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31775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426464"/>
            <a:ext cx="566928" cy="5669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56692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280160"/>
            <a:ext cx="209854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定圓心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1709928"/>
            <a:ext cx="206197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在板面正中央定出圓心，這是整個曼陀羅的核心。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1628" y="1115568"/>
            <a:ext cx="31775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4508" y="1426464"/>
            <a:ext cx="566928" cy="5669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4508" y="1481328"/>
            <a:ext cx="56692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4316" y="1280160"/>
            <a:ext cx="209854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畫輔助線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2604" y="1709928"/>
            <a:ext cx="206197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以鉛筆淡淡畫出同心圓與放射對稱線，建立骨架。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42615"/>
            <a:ext cx="31775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953511"/>
            <a:ext cx="566928" cy="5669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08375"/>
            <a:ext cx="56692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2807208"/>
            <a:ext cx="209854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設計核心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" y="3236975"/>
            <a:ext cx="206197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從圓心開始設計第一層主圖（如花心），奠定主題。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1628" y="2642615"/>
            <a:ext cx="31775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64508" y="2953511"/>
            <a:ext cx="566928" cy="5669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4508" y="3008375"/>
            <a:ext cx="56692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4316" y="2807208"/>
            <a:ext cx="209854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由內而外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2604" y="3236975"/>
            <a:ext cx="206197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一層一層向外擴展，注意每層的大小與間距節奏。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69663"/>
            <a:ext cx="31775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480559"/>
            <a:ext cx="566928" cy="5669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535424"/>
            <a:ext cx="56692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8" y="4334255"/>
            <a:ext cx="209854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對稱重複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6" y="4764024"/>
            <a:ext cx="206197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在一個扇形設計好，再對稱複製到每一等分。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1628" y="4169663"/>
            <a:ext cx="31775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064508" y="4480559"/>
            <a:ext cx="566928" cy="566928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4508" y="4535424"/>
            <a:ext cx="56692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4316" y="4334255"/>
            <a:ext cx="209854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配色點綴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2604" y="4764024"/>
            <a:ext cx="206197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依色彩學配色上色，最後以圓點與鑽飾點睛收尾。</a:t>
            </a:r>
          </a:p>
        </p:txBody>
      </p:sp>
      <p:pic>
        <p:nvPicPr>
          <p:cNvPr id="38" name="Picture 37" descr="art2.jpg"/>
          <p:cNvPicPr>
            <a:picLocks noChangeAspect="1"/>
          </p:cNvPicPr>
          <p:nvPr/>
        </p:nvPicPr>
        <p:blipFill>
          <a:blip r:embed="rId3"/>
          <a:srcRect t="26875" b="27083"/>
          <a:stretch>
            <a:fillRect/>
          </a:stretch>
        </p:blipFill>
        <p:spPr>
          <a:xfrm>
            <a:off x="502920" y="5742432"/>
            <a:ext cx="2093976" cy="171907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39" name="Picture 38" descr="art5.jpg"/>
          <p:cNvPicPr>
            <a:picLocks noChangeAspect="1"/>
          </p:cNvPicPr>
          <p:nvPr/>
        </p:nvPicPr>
        <p:blipFill>
          <a:blip r:embed="rId4"/>
          <a:srcRect l="15155" r="15155"/>
          <a:stretch>
            <a:fillRect/>
          </a:stretch>
        </p:blipFill>
        <p:spPr>
          <a:xfrm>
            <a:off x="2734056" y="5742432"/>
            <a:ext cx="2093976" cy="171907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40" name="Picture 39" descr="art6.jpg"/>
          <p:cNvPicPr>
            <a:picLocks noChangeAspect="1"/>
          </p:cNvPicPr>
          <p:nvPr/>
        </p:nvPicPr>
        <p:blipFill>
          <a:blip r:embed="rId5"/>
          <a:srcRect t="25417" b="25417"/>
          <a:stretch>
            <a:fillRect/>
          </a:stretch>
        </p:blipFill>
        <p:spPr>
          <a:xfrm>
            <a:off x="4965192" y="5742432"/>
            <a:ext cx="2093976" cy="171907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COURSE  FLOW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課程流程總覽・第一天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22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連續兩天密集班——從進階色彩學、設計規劃，到大型八角板創作與貼鑽完成，最後進入作品解析與教學技巧引導。從「會畫」到「能教」，一次到位。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19072"/>
            <a:ext cx="157048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157048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79" b="1" i="0">
                <a:solidFill>
                  <a:srgbClr val="C97B84"/>
                </a:solidFill>
                <a:latin typeface="微軟正黑體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61488"/>
            <a:ext cx="157048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1" i="0">
                <a:solidFill>
                  <a:srgbClr val="C9A96E"/>
                </a:solidFill>
                <a:latin typeface="微軟正黑體"/>
              </a:rPr>
              <a:t>小時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27248"/>
            <a:ext cx="157048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兩日密集實作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4842" y="1719072"/>
            <a:ext cx="157048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4842" y="1993392"/>
            <a:ext cx="157048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79" b="1" i="0">
                <a:solidFill>
                  <a:srgbClr val="C97B84"/>
                </a:solidFill>
                <a:latin typeface="微軟正黑體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4842" y="2761488"/>
            <a:ext cx="157048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1" i="0">
                <a:solidFill>
                  <a:srgbClr val="C9A96E"/>
                </a:solidFill>
                <a:latin typeface="微軟正黑體"/>
              </a:rPr>
              <a:t>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4842" y="3127248"/>
            <a:ext cx="157048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色彩×設計×教學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26764" y="1719072"/>
            <a:ext cx="157048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6764" y="1993392"/>
            <a:ext cx="157048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79" b="1" i="0">
                <a:solidFill>
                  <a:srgbClr val="C97B84"/>
                </a:solidFill>
                <a:latin typeface="微軟正黑體"/>
              </a:rPr>
              <a:t>≤10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6764" y="2761488"/>
            <a:ext cx="157048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1" i="0">
                <a:solidFill>
                  <a:srgbClr val="C9A96E"/>
                </a:solidFill>
                <a:latin typeface="微軟正黑體"/>
              </a:rPr>
              <a:t>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6764" y="3127248"/>
            <a:ext cx="157048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小班精緻教學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8686" y="1719072"/>
            <a:ext cx="157048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8686" y="1993392"/>
            <a:ext cx="157048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79" b="1" i="0">
                <a:solidFill>
                  <a:srgbClr val="C97B84"/>
                </a:solidFill>
                <a:latin typeface="微軟正黑體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8686" y="2761488"/>
            <a:ext cx="157048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60" b="1" i="0">
                <a:solidFill>
                  <a:srgbClr val="C9A96E"/>
                </a:solidFill>
                <a:latin typeface="微軟正黑體"/>
              </a:rPr>
              <a:t>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8686" y="3127248"/>
            <a:ext cx="157048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免費無限複訓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40480"/>
            <a:ext cx="65562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20" b="1" i="0">
                <a:solidFill>
                  <a:srgbClr val="A95C66"/>
                </a:solidFill>
                <a:latin typeface="微軟正黑體"/>
              </a:rPr>
              <a:t>第一天・打底與色彩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87952"/>
            <a:ext cx="6556248" cy="5029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4334256"/>
            <a:ext cx="548640" cy="54864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4315968"/>
            <a:ext cx="5733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進階色彩學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1016" y="4718304"/>
            <a:ext cx="5715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複習並深化調色、配色原理，導入色彩心理學，建立自己的用色語言。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5504688"/>
            <a:ext cx="548640" cy="54864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55955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5486400"/>
            <a:ext cx="5733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構圖與設計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1016" y="5888736"/>
            <a:ext cx="5715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規劃曼陀羅對稱結構與層次，於大型八角板上完成精準底稿。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6675120"/>
            <a:ext cx="548640" cy="54864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72998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6656832"/>
            <a:ext cx="57332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分層上色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1016" y="7059168"/>
            <a:ext cx="5715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由底色到主視覺逐層堆疊，掌握漸層、暈染與層次處理。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DAY 2  ·  FINISHING  &amp;  TEACHING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1" i="0">
                <a:solidFill>
                  <a:srgbClr val="4A403A"/>
                </a:solidFill>
                <a:latin typeface="微軟正黑體"/>
              </a:rPr>
              <a:t>第二天・完成細節・貼鑽・作品解析・教學引導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23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20" b="1" i="0">
                <a:solidFill>
                  <a:srgbClr val="A95C66"/>
                </a:solidFill>
                <a:latin typeface="微軟正黑體"/>
              </a:rPr>
              <a:t>第二天・完成與教學力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08176"/>
            <a:ext cx="6556248" cy="5029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65562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36192"/>
            <a:ext cx="530352" cy="1828800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" y="1536192"/>
            <a:ext cx="265176" cy="18288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249424"/>
            <a:ext cx="4937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1664207"/>
            <a:ext cx="57515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立體畫法與完成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2066543"/>
            <a:ext cx="5733288" cy="1225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運用光影原理，讓平面圖案呈現真實的立體質感。同一色系由淺至深分三層堆疊——最亮處用白色或同色淺化提出高光，最深處以同色加深或疊一點互補色強化陰影，中間過渡層自然連接。細修所有邊緣線條，確保每一筆都乾淨落位，整件作品達到細緻、飽滿、富張力的最終呈現水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83863"/>
            <a:ext cx="65562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483863"/>
            <a:ext cx="530352" cy="1828800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483863"/>
            <a:ext cx="265176" cy="18288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4197096"/>
            <a:ext cx="4937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" y="3611879"/>
            <a:ext cx="57515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施華洛世奇貼鑽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4014215"/>
            <a:ext cx="5733288" cy="1225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使用透明珠寶膠搭配沾珠筆，逐顆將施華洛世奇水晶鑽飾精準黏貼於圓點中心或圖案焦點處。鑽飾分佈應有節奏感——不宜全面鋪蓋，以每隔幾個圓點點綴一顆為宜，讓光澤在畫面中自然閃爍。貼附後輕壓定位，等膠乾燥後作品即提升至展覽販售水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31536"/>
            <a:ext cx="65562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431536"/>
            <a:ext cx="530352" cy="1828800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" y="5431536"/>
            <a:ext cx="265176" cy="18288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6144768"/>
            <a:ext cx="4937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" y="5559551"/>
            <a:ext cx="57515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作品解析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" y="5961888"/>
            <a:ext cx="5733288" cy="1225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老師帶領逐一解析 15 件精選示範作品，培養你從配色、圖案佈局與整體氛圍解讀學員內在狀態的洞察力。學習在教學現場如何給予有建設性、有溫度的作品回饋——這是讓你不只「會畫曼陀羅」，更能「讀懂學員作品」的關鍵教學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7379208"/>
            <a:ext cx="65562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7379208"/>
            <a:ext cx="530352" cy="1828800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" y="7379208"/>
            <a:ext cx="265176" cy="18288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8092440"/>
            <a:ext cx="4937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" y="7507224"/>
            <a:ext cx="57515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教學引導訓練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9576" y="7909560"/>
            <a:ext cx="5733288" cy="1225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實際演練課堂教學語言：如何清晰示範每個步驟、如何觀察學員的專注狀態與困難點、如何調整現場節奏與氣氛。採小組輪替方式，讓每位學員同時體驗「學員」與「講師」兩種角色，在真實演練中建立面對學生時的自信心與教學節奏感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OCTAGON  BOARD 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大型八角板・設計應用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24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A7A6A"/>
                </a:solidFill>
                <a:latin typeface="微軟正黑體"/>
              </a:rPr>
              <a:t>一級課程的考核作品，是在「大型八角板」上完成的曼陀羅。八角的外形與 8 等分的放射結構天然契合，讓設計更顯大器而穩定。以下是在八角板上設計曼陀羅的五大要點：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83664"/>
            <a:ext cx="655624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83664"/>
            <a:ext cx="91440" cy="1536192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83664"/>
            <a:ext cx="45720" cy="1536192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011680"/>
            <a:ext cx="512064" cy="51206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48256"/>
            <a:ext cx="5120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011680"/>
            <a:ext cx="55504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採 8 或 16 等分配置主結構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386584"/>
            <a:ext cx="55504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八角板的造型與 8 等分放射結構天然呼應。初學建議採 8 等分，進階可用 16 等分製造更細緻繁複的圖案效果。先以鉛筆輕描放射輔助線，確保每個扇形單位完全等分對稱。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84448"/>
            <a:ext cx="655624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584448"/>
            <a:ext cx="91440" cy="1536192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84448"/>
            <a:ext cx="45720" cy="1536192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712463"/>
            <a:ext cx="512064" cy="51206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49039"/>
            <a:ext cx="5120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3712463"/>
            <a:ext cx="55504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主視覺集中圓心，四角與邊緣以小元素呼應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4087368"/>
            <a:ext cx="55504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圓心是整件作品最重要的焦點——主花或主圖案放在中心，由內向外層層擴展。八角板的四個角落與八個邊緣，以較小的圖案元素（如葉形、點點）做呼應，讓整體設計飽滿而有向心力。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85231"/>
            <a:ext cx="655624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285231"/>
            <a:ext cx="91440" cy="1536192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285231"/>
            <a:ext cx="45720" cy="1536192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5413247"/>
            <a:ext cx="512064" cy="51206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49823"/>
            <a:ext cx="5120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2456" y="5413247"/>
            <a:ext cx="55504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善用明度漸層，製造立體感與層次深度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456" y="5788151"/>
            <a:ext cx="55504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從圓心向外，顏色由深到淺（或由淺到深）自然遞變，使畫面在視覺上產生立體凸起或向內凹陷的空間感。每一圈顏色深淺差需清晰可見，避免各圈顏色過於相近而失去層次。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986016"/>
            <a:ext cx="655624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6986016"/>
            <a:ext cx="91440" cy="1536192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6986016"/>
            <a:ext cx="45720" cy="1536192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7114032"/>
            <a:ext cx="512064" cy="51206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7150608"/>
            <a:ext cx="5120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2456" y="7114032"/>
            <a:ext cx="55504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鄰近色系鋪底，互補色點睛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2456" y="7488936"/>
            <a:ext cx="55504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主體以鄰近色系（如粉橙黃、藍紫綠）鋪設大面積底色，再以少量互補色（如主色為藍則點綴橙色）作為圓點或花心，瞬間突顯中心焦點，活化整體色彩張力而不顯雜亂。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8686800"/>
            <a:ext cx="655624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8686800"/>
            <a:ext cx="91440" cy="1536192"/>
          </a:xfrm>
          <a:prstGeom prst="round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8686800"/>
            <a:ext cx="45720" cy="1536192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8814816"/>
            <a:ext cx="512064" cy="51206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8851392"/>
            <a:ext cx="5120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2456" y="8814816"/>
            <a:ext cx="55504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1" i="0">
                <a:solidFill>
                  <a:srgbClr val="A95C66"/>
                </a:solidFill>
                <a:latin typeface="微軟正黑體"/>
              </a:rPr>
              <a:t>最後鑲嵌施華洛世奇鑽飾，大幅提升質感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62456" y="9189720"/>
            <a:ext cx="55504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作品完成、保護漆乾透後，在圓點中心或圖案焦點逐顆貼附施華洛世奇水晶。鑽飾不宜過密，以每隔幾個圓點點綴為宜，讓光澤自然閃爍。貼附後作品質感立即提升至展覽及商業販售水準。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CERTIFICATION  SKILLS  01–02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一級講師考核必備技巧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25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0584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14300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7957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115214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素材全平面打底上色技法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4708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93852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在木器素材的整個表面（含側面與每個邊緣角落）以平塗方式均勻上色，確保色層飽和、不露白底或原木色。底色品質直接影響後續圖案的顯色效果，是整件作品的第一道關鍵工序。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96265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307238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29184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選用中型圓頭筆或平頭筆，筆毛飽含顏料但不過量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以均一力道沿橫向或縱向平行塗佈，避免來回反覆塗抹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第一層自然風乾後，再疊第二層補強至顏色飽和無底色透出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側面與邊緣角落一同處理，360° 不遺漏任何部位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整體乾燥後輕輕確認有無漏塗或筆痕，局部補強修平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7365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75688" y="4828031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93776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整體無筆痕、色澤均一飽和；側面與邊緣完整覆蓋，無任何白底或素材原色露出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6072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89788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93445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2184" y="590702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原創設計構圖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60196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669340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自行構思整件曼陀羅作品的圖案設計，展現個人創作力與審美觀。需體現獨立的設計思維——包含中心主題、圖層安排、元素選擇與整體比例，而非複製老師的示範範例。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771753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782726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804672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確定中心圖案主題（花形、幾何、水滴組合等）與整體風格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選擇等分數（8 或 16 等分），規劃各圈層的圖案與節奏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先在紙上打草稿，確認圓心、各層比例與圖案疏密平衡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將構圖轉至木器，用鉛筆輕描同心圓與放射輔助線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在最小扇形單位設計好後，以對稱重複完成整圈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949147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9582912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969264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設計具完整性與個人特色，可見清晰的設計邏輯；非範本複製，展現個人原創構思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CERTIFICATION  SKILLS  03–04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一級講師考核必備技巧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26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0584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14300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7957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115214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圖案設計平塗打底技法（位置不限，但一定要有）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4708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93852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在設計好的圖案色塊內——花瓣、幾何形或其他圖案均可——以平塗技法完整填色打底。作品中需至少出現一處，位置由創作者自行選擇，但要確保技法清晰可辨。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96265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307238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29184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選定要進行平塗的圖案色塊（花瓣、菱形、葉形等均可）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使用小至中型圓頭筆，筆毛飽含顏料但不滴落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先描邊界，再從邊緣向內平塗填滿，確保邊界清晰整齊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確保內部顏料均勻飽和，無空白或底色透出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第一層乾透後視需要疊第二層，提升顏色飽和度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7365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75688" y="4828031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93776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圖案內部平塗均勻飽和、邊緣整齊清晰，底色完全遮蓋；作品中明確可見此技法至少一處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6072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89788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93445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2184" y="590702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大的平頭筆圓點技法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60196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669340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使用平頭筆（Flat Brush）的平面端，以輕壓方式製作大圓點。重點在每個圓點大小一致、邊緣圓潤飽滿，是曼陀羅作品中最醒目的視覺焦點元素之一，也是考核中最容易被看出是否紮實的基本功。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771753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782726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804672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選用與所需圓點大小相符的平頭筆（直徑 0.8–2 cm 均常見）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筆頭沾取適量顏料，在調色紙上輕刮去多餘顏料確認大小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將筆頭平面垂直輕放至表面，輕壓後迅速提起——不推移、不旋轉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每次取量一致、按壓力道均一，確保每個圓點大小完全相同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圓點間距保持均勻，沿同心圓或放射方向有節奏地排列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949147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9582912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969264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圓點圓潤飽滿、邊緣清晰，大小高度一致；間距均勻規律，無毛邊、壓痕或大小不均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CERTIFICATION  SKILLS  05–06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一級講師考核必備技巧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27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0584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14300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7957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115214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大圓點上方有其他圖案或多色重疊技法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4708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93852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在已完成的大圓點上方疊加其他圖案元素（如小花心、星形或短線），或在大圓點中心再疊一個不同顏色的小圓點，製造「圓中有圓」的豐富層次效果，展現色彩深度與設計細緻度。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96265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307238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29184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確認大圓點底色已完全乾燥（輕觸不黏手為準）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選擇疊加圖案：圓珠小點、線條圖案或小型幾何圖形均可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疊加色以互補色或高對比色為佳，使其在底色上清晰可辨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以圓珠工具或細線筆在大圓點中心精準點按疊加元素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可在大圓點外圍再加輻射小點或短線，增加整體層次豐富感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7365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75688" y="4828031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93776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大圓點上的疊加圖案居中清晰、與底色對比明顯；展現層次感而非模糊混色或覆蓋失敗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6072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89788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93445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2184" y="590702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圓珠筆由大到小圓點技法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60196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669340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使用多支不同尺寸的圓珠工具（Dotting Tool），由大到小依序排列漸變圓點，形成視覺上自然收縮的韻律感，常見於放射線兩側、花瓣邊緣或同心圓的過渡帶，是增加動感與精緻度的重要技法。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771753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782726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804672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準備至少三個尺寸的圓珠工具（大、中、小各一支）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先以最大圓珠工具點出第一顆，再換中號繼續，最後換小號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每次點按前確認顏料取量充足，力道垂直均勻，不拖拉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漸變圓點沿直線、弧線或放射線延伸，維持間距一致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一組漸變完成後清潔筆尖再繼續，避免混色或筆尖大小改變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949147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9582912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969264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漸變過渡自然、大小比例遞進明顯；間距整齊，整組方向一致；無突然跳號或大小顛倒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CERTIFICATION  SKILLS  07–08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一級講師考核必備技巧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28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0584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14300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7957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115214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圓珠筆均勻圓點技法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4708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93852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以單一尺寸的圓珠工具，在整排或整圈中點出大小完全一致、間距規律的均勻圓點陣列，是曼陀羅中製造整齊節奏感的基礎骨幹技法。考核中對一致性要求極嚴格，是最能看出平日練習量的技法之一。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96265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307238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29184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選定單一尺寸圓珠工具並確保筆尖乾淨圓潤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每次取量一致（沾顏料後在調色紙輕點一下先確認大小）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按壓時力道完全相同、停留時間一致，提起速度一致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沿放射線、同心圓或格狀排列，用輔助線確保間距相等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每完成 5–8 個圓點清潔筆尖一次，保持顏料新鮮穩定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7365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75688" y="4828031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93776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所有圓點大小完全一致，無一大一小情形；間距均勻規律，整排整圈對齊整齊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6072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89788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93445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2184" y="590702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圓珠筆逗點技法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60196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669340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以圓珠工具落筆後迅速向外拉尾，形成「頭圓尾尖」的逗點形狀。方向性強，常用於放射線兩側、花瓣輪廓或環狀排列，製造流動飛揚的動態感，是技法中最具生命力的元素之一。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771753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782726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804672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顏料取量略多於均勻圓點（需有足夠形成尾巴的顏料量）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圓珠工具尖端垂直輕觸表面——此為逗點圓頭，力道稍重定住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迅速以弧形或直線向外拉尾，力道漸減、收細收尖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全排逗點的拉伸方向須完全一致（朝圓心或朝外同向）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先在練習紙上熟悉「按→拉」連貫動作，再正式上木器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949147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9582912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969264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逗點形狀清晰（頭圓尾尖）、頭尾比例自然；全排方向完全一致，長度大致相同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CERTIFICATION  SKILLS  09–10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一級講師考核必備技巧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29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0584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14300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7957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115214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長線筆逗點技法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4708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93852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以長線筆（長毛勾線筆）拉出比圓珠逗點更修長優雅的逗點線條，筆毛的天然彈性讓尾巴自然收細，呈現精緻的書法感流線美，是展現手部控制力與細膩技巧的最高難度技法之一。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96265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307238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29184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使用長線筆，確保筆毛飽含顏料且整齊聚合成細尖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筆腹輕接表面開始落筆——此為逗點圓頭（稍停一瞬定形）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以緩慢均勻的速度向外拉出線條，過程中漸漸提筆減壓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線條需連貫流暢，不可斷開、顫抖或出現鋸齒邊緣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長度通常是圓珠逗點的 3–5 倍，收尾至極細點自然離筆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7365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75688" y="4828031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93776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線條修長流暢不斷、起頭圓潤飽滿、收尾自然細尖；整排長度一致，無抖動或斷線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60720"/>
            <a:ext cx="6556248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91440" cy="4608576"/>
          </a:xfrm>
          <a:prstGeom prst="round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45720" cy="4608576"/>
          </a:xfrm>
          <a:prstGeom prst="rect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897880"/>
            <a:ext cx="621792" cy="621792"/>
          </a:xfrm>
          <a:prstGeom prst="ellipse">
            <a:avLst/>
          </a:prstGeom>
          <a:solidFill>
            <a:srgbClr val="A9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934456"/>
            <a:ext cx="6217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80" b="1" i="0">
                <a:solidFill>
                  <a:srgbClr val="FFFFFF"/>
                </a:solidFill>
                <a:latin typeface="微軟正黑體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2184" y="5907024"/>
            <a:ext cx="5440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A95C66"/>
                </a:solidFill>
                <a:latin typeface="微軟正黑體"/>
              </a:rPr>
              <a:t>保護漆平塗技法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601968"/>
            <a:ext cx="6208776" cy="36576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6693408"/>
            <a:ext cx="6153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39" b="0" i="0">
                <a:solidFill>
                  <a:srgbClr val="8A7A6A"/>
                </a:solidFill>
                <a:latin typeface="微軟正黑體"/>
              </a:rPr>
              <a:t>作品全部完成後，均勻塗抹水性保護漆，使顏料層不脫落、不褪色，同時提升作品光澤與耐久性。此為最後一道工序，若操作不當容易留下氣泡或刷痕，將影響作品整體質感，不可輕忽。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771753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執行步驟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5688" y="7827264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8046720"/>
            <a:ext cx="615391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① 確認所有顏料層完全乾透——建議靜置至少 24 小時後再上漆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② 選用大型平頭刷或專用海綿刷，刷面寬度適合木器大小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③ 保護漆倒少量於調色紙，刷子輕蘸後刮去多餘液體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④ 以單一方向（橫向或縱向）均勻刷塗全面，不回刷以避免氣泡</a:t>
            </a:r>
          </a:p>
          <a:p>
            <a:pPr algn="l">
              <a:lnSpc>
                <a:spcPct val="122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⑤ 第一層乾透後視需要輕磨砂再上第二層；側面與底部同步完整處理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949147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C9A96E"/>
                </a:solidFill>
                <a:latin typeface="微軟正黑體"/>
              </a:rPr>
              <a:t>審核重點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9582912"/>
            <a:ext cx="4818888" cy="18288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9692640"/>
            <a:ext cx="6153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A95C66"/>
                </a:solidFill>
                <a:latin typeface="微軟正黑體"/>
              </a:rPr>
              <a:t>表面均勻有光澤，無刷痕、氣泡、結塊或白霧未覆蓋區域；側面與底部也完整覆蓋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6556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CERTIFICATION  &amp;  AFTER  GRADUATION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65562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40" b="1" i="0">
                <a:solidFill>
                  <a:srgbClr val="4A403A"/>
                </a:solidFill>
                <a:latin typeface="微軟正黑體"/>
              </a:rPr>
              <a:t>證書考核・結業後持續陪伴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378440"/>
            <a:ext cx="7562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0">
                <a:solidFill>
                  <a:srgbClr val="8A7A6A"/>
                </a:solidFill>
                <a:latin typeface="微軟正黑體"/>
              </a:rPr>
              <a:t>— 30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556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20" b="1" i="0">
                <a:solidFill>
                  <a:srgbClr val="A95C66"/>
                </a:solidFill>
                <a:latin typeface="微軟正黑體"/>
              </a:rPr>
              <a:t>一級講師・證書考核流程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08176"/>
            <a:ext cx="6556248" cy="5029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655624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773936"/>
            <a:ext cx="475488" cy="475488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19656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39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664207"/>
            <a:ext cx="5532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完成課程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48256"/>
            <a:ext cx="5532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完成 22 小時完整課程訓練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60320"/>
            <a:ext cx="655624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798063"/>
            <a:ext cx="475488" cy="475488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43784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39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88336"/>
            <a:ext cx="5532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提交作品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72384"/>
            <a:ext cx="5532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提交一幅考核作品（大型八角板，需包含 10 大必備技法）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84448"/>
            <a:ext cx="655624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3822191"/>
            <a:ext cx="475488" cy="475488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67911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39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12463"/>
            <a:ext cx="5532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通過考核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96512"/>
            <a:ext cx="5532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8A7A6A"/>
                </a:solidFill>
                <a:latin typeface="微軟正黑體"/>
              </a:rPr>
              <a:t>作品經評核通過，取得一級講師資格證書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81728"/>
            <a:ext cx="6556248" cy="123444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27448"/>
            <a:ext cx="61904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4A403A"/>
                </a:solidFill>
                <a:latin typeface="微軟正黑體"/>
              </a:rPr>
              <a:t>考核細則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4A403A"/>
                </a:solidFill>
                <a:latin typeface="微軟正黑體"/>
              </a:rPr>
              <a:t>・上課結束當天起三個月內完成考核作品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4A403A"/>
                </a:solidFill>
                <a:latin typeface="微軟正黑體"/>
              </a:rPr>
              <a:t>・照片：素色背景，提供正面、側面、中央側面特寫三個角度</a:t>
            </a:r>
          </a:p>
          <a:p>
            <a:pPr algn="l">
              <a:lnSpc>
                <a:spcPct val="138000"/>
              </a:lnSpc>
            </a:pPr>
            <a:r>
              <a:rPr sz="1439" b="0" i="0">
                <a:solidFill>
                  <a:srgbClr val="4A403A"/>
                </a:solidFill>
                <a:latin typeface="微軟正黑體"/>
              </a:rPr>
              <a:t>・三個月內繳交：NT$3,500　　逾期繳交：NT$4,200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89904"/>
            <a:ext cx="65562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20" b="1" i="0">
                <a:solidFill>
                  <a:srgbClr val="A95C66"/>
                </a:solidFill>
                <a:latin typeface="微軟正黑體"/>
              </a:rPr>
              <a:t>結業後・持續陪伴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37376"/>
            <a:ext cx="6556248" cy="5029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6601968"/>
            <a:ext cx="31775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6867144"/>
            <a:ext cx="201168" cy="201168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" y="6601968"/>
            <a:ext cx="25374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免費教學輔導，陪你站穩講台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1628" y="6601968"/>
            <a:ext cx="31775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64508" y="6867144"/>
            <a:ext cx="201168" cy="201168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3692" y="6601968"/>
            <a:ext cx="25374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以講師價進貨材料，適用教學販售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7443216"/>
            <a:ext cx="31775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7708392"/>
            <a:ext cx="201168" cy="201168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" y="7443216"/>
            <a:ext cx="25374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三年內免學費複訓（僅收場地材料餐費）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1628" y="7443216"/>
            <a:ext cx="31775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64508" y="7708392"/>
            <a:ext cx="201168" cy="201168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3692" y="7443216"/>
            <a:ext cx="25374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教學助教機會，累積實戰經驗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8284464"/>
            <a:ext cx="31775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" y="8549640"/>
            <a:ext cx="201168" cy="201168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" y="8284464"/>
            <a:ext cx="25374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專屬師資群組即時支援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81628" y="8284464"/>
            <a:ext cx="31775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064508" y="8549640"/>
            <a:ext cx="201168" cy="201168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3692" y="8284464"/>
            <a:ext cx="25374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一級升級考核通過，可教授二級講師培訓課程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9125712"/>
            <a:ext cx="31775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5800" y="9390888"/>
            <a:ext cx="201168" cy="201168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" y="9125712"/>
            <a:ext cx="25374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課程已納入公務人員終身學習認證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81628" y="9125712"/>
            <a:ext cx="31775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064508" y="9390888"/>
            <a:ext cx="201168" cy="201168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93692" y="9125712"/>
            <a:ext cx="25374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A403A"/>
                </a:solidFill>
                <a:latin typeface="微軟正黑體"/>
              </a:rPr>
              <a:t>年度師生成果展，增加曝光與資歷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