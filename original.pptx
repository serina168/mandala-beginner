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9" r:id="rId5"/>
    <p:sldId id="258" r:id="rId6"/>
    <p:sldId id="260" r:id="rId7"/>
    <p:sldId id="261" r:id="rId8"/>
    <p:sldId id="262" r:id="rId9"/>
    <p:sldId id="264" r:id="rId10"/>
    <p:sldId id="265" r:id="rId11"/>
    <p:sldId id="266" r:id="rId12"/>
    <p:sldId id="276" r:id="rId13"/>
    <p:sldId id="267" r:id="rId14"/>
    <p:sldId id="268" r:id="rId15"/>
    <p:sldId id="277" r:id="rId16"/>
    <p:sldId id="269" r:id="rId17"/>
    <p:sldId id="278" r:id="rId18"/>
    <p:sldId id="279" r:id="rId19"/>
    <p:sldId id="270" r:id="rId20"/>
    <p:sldId id="271" r:id="rId21"/>
    <p:sldId id="272" r:id="rId22"/>
    <p:sldId id="273" r:id="rId23"/>
    <p:sldId id="274" r:id="rId24"/>
    <p:sldId id="275" r:id="rId25"/>
    <p:sldId id="291" r:id="rId26"/>
    <p:sldId id="285" r:id="rId27"/>
    <p:sldId id="284" r:id="rId28"/>
    <p:sldId id="283" r:id="rId29"/>
    <p:sldId id="286" r:id="rId30"/>
    <p:sldId id="282" r:id="rId31"/>
    <p:sldId id="281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CCFFCC"/>
    <a:srgbClr val="86C8C8"/>
    <a:srgbClr val="FFFFFF"/>
    <a:srgbClr val="E0CEDC"/>
    <a:srgbClr val="FFCC99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5" d="100"/>
          <a:sy n="65" d="100"/>
        </p:scale>
        <p:origin x="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theme" Target="theme/theme1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presProps" Target="presProps.xml" /><Relationship Id="rId40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837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6679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9686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42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351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295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8572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8891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1650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0989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581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494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3.jp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4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4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 /><Relationship Id="rId2" Type="http://schemas.openxmlformats.org/officeDocument/2006/relationships/image" Target="../media/image7.jpg" /><Relationship Id="rId1" Type="http://schemas.openxmlformats.org/officeDocument/2006/relationships/slideLayout" Target="../slideLayouts/slideLayout6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 /><Relationship Id="rId2" Type="http://schemas.openxmlformats.org/officeDocument/2006/relationships/image" Target="../media/image9.jpg" /><Relationship Id="rId1" Type="http://schemas.openxmlformats.org/officeDocument/2006/relationships/slideLayout" Target="../slideLayouts/slideLayout6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 /><Relationship Id="rId2" Type="http://schemas.openxmlformats.org/officeDocument/2006/relationships/image" Target="../media/image11.jpg" /><Relationship Id="rId1" Type="http://schemas.openxmlformats.org/officeDocument/2006/relationships/slideLayout" Target="../slideLayouts/slideLayout6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 /><Relationship Id="rId2" Type="http://schemas.openxmlformats.org/officeDocument/2006/relationships/image" Target="../media/image13.jpg" /><Relationship Id="rId1" Type="http://schemas.openxmlformats.org/officeDocument/2006/relationships/slideLayout" Target="../slideLayouts/slideLayout6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 /><Relationship Id="rId2" Type="http://schemas.openxmlformats.org/officeDocument/2006/relationships/image" Target="../media/image15.jpg" /><Relationship Id="rId1" Type="http://schemas.openxmlformats.org/officeDocument/2006/relationships/slideLayout" Target="../slideLayouts/slideLayout6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 /><Relationship Id="rId2" Type="http://schemas.openxmlformats.org/officeDocument/2006/relationships/image" Target="../media/image17.jpg" /><Relationship Id="rId1" Type="http://schemas.openxmlformats.org/officeDocument/2006/relationships/slideLayout" Target="../slideLayouts/slideLayout6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 /><Relationship Id="rId1" Type="http://schemas.openxmlformats.org/officeDocument/2006/relationships/slideLayout" Target="../slideLayouts/slideLayout6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 /><Relationship Id="rId2" Type="http://schemas.openxmlformats.org/officeDocument/2006/relationships/image" Target="../media/image20.jpg" /><Relationship Id="rId1" Type="http://schemas.openxmlformats.org/officeDocument/2006/relationships/slideLayout" Target="../slideLayouts/slideLayout4.xml" 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 /><Relationship Id="rId2" Type="http://schemas.openxmlformats.org/officeDocument/2006/relationships/image" Target="../media/image22.jpg" /><Relationship Id="rId1" Type="http://schemas.openxmlformats.org/officeDocument/2006/relationships/slideLayout" Target="../slideLayouts/slideLayout6.xml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 /><Relationship Id="rId2" Type="http://schemas.openxmlformats.org/officeDocument/2006/relationships/image" Target="../media/image24.jpg" /><Relationship Id="rId1" Type="http://schemas.openxmlformats.org/officeDocument/2006/relationships/slideLayout" Target="../slideLayouts/slideLayout6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 /><Relationship Id="rId1" Type="http://schemas.openxmlformats.org/officeDocument/2006/relationships/slideLayout" Target="../slideLayouts/slideLayout6.xml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 /><Relationship Id="rId2" Type="http://schemas.openxmlformats.org/officeDocument/2006/relationships/image" Target="../media/image27.jpg" /><Relationship Id="rId1" Type="http://schemas.openxmlformats.org/officeDocument/2006/relationships/slideLayout" Target="../slideLayouts/slideLayout6.xml" /><Relationship Id="rId4" Type="http://schemas.openxmlformats.org/officeDocument/2006/relationships/image" Target="../media/image29.jpg" 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 /><Relationship Id="rId2" Type="http://schemas.openxmlformats.org/officeDocument/2006/relationships/image" Target="../media/image30.jpg" /><Relationship Id="rId1" Type="http://schemas.openxmlformats.org/officeDocument/2006/relationships/slideLayout" Target="../slideLayouts/slideLayout6.xml" /><Relationship Id="rId4" Type="http://schemas.openxmlformats.org/officeDocument/2006/relationships/image" Target="../media/image32.jpeg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 /><Relationship Id="rId2" Type="http://schemas.openxmlformats.org/officeDocument/2006/relationships/image" Target="../media/image33.jpg" /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25236" y="92364"/>
            <a:ext cx="9642765" cy="3168072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br>
              <a:rPr lang="en-US" altLang="zh-TW" sz="5400" b="1" dirty="0">
                <a:solidFill>
                  <a:srgbClr val="7030A0"/>
                </a:solidFill>
              </a:rPr>
            </a:br>
            <a:r>
              <a:rPr lang="zh-TW" altLang="zh-TW" sz="5400" b="1" dirty="0">
                <a:solidFill>
                  <a:srgbClr val="7030A0"/>
                </a:solidFill>
              </a:rPr>
              <a:t>繽紛五感體驗</a:t>
            </a:r>
            <a:br>
              <a:rPr lang="en-US" altLang="zh-TW" sz="5400" b="1" dirty="0">
                <a:solidFill>
                  <a:srgbClr val="7030A0"/>
                </a:solidFill>
              </a:rPr>
            </a:br>
            <a:br>
              <a:rPr lang="zh-TW" altLang="zh-TW" sz="5400" dirty="0"/>
            </a:br>
            <a:r>
              <a:rPr lang="zh-TW" altLang="zh-TW" sz="5400" dirty="0">
                <a:solidFill>
                  <a:srgbClr val="CE93D8"/>
                </a:solidFill>
                <a:latin typeface="Times New Roman" panose="02020603050405020304" pitchFamily="18" charset="0"/>
                <a:ea typeface="Arial" panose="020B0604020202020204" pitchFamily="34" charset="0"/>
              </a:rPr>
              <a:t>曼陀羅書籤畫・課程大綱</a:t>
            </a:r>
            <a:br>
              <a:rPr lang="zh-TW" altLang="zh-TW" sz="5400" dirty="0">
                <a:latin typeface="Times New Roman" panose="02020603050405020304" pitchFamily="18" charset="0"/>
              </a:rPr>
            </a:br>
            <a:endParaRPr lang="zh-TW" altLang="en-US" sz="54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82255" y="3260437"/>
            <a:ext cx="9485745" cy="3251200"/>
          </a:xfrm>
        </p:spPr>
        <p:txBody>
          <a:bodyPr>
            <a:normAutofit/>
          </a:bodyPr>
          <a:lstStyle/>
          <a:p>
            <a:endParaRPr lang="en-US" altLang="zh-TW" sz="4800" dirty="0"/>
          </a:p>
          <a:p>
            <a:r>
              <a:rPr lang="zh-TW" altLang="zh-TW" sz="4800" dirty="0"/>
              <a:t>主講：張婉愉老師</a:t>
            </a:r>
            <a:endParaRPr lang="en-US" altLang="zh-TW" sz="4800" dirty="0"/>
          </a:p>
          <a:p>
            <a:r>
              <a:rPr lang="zh-TW" altLang="zh-TW" sz="4800" dirty="0"/>
              <a:t>　　</a:t>
            </a:r>
            <a:endParaRPr lang="en-US" altLang="zh-TW" sz="4800" dirty="0"/>
          </a:p>
          <a:p>
            <a:r>
              <a:rPr lang="zh-TW" altLang="zh-TW" sz="4800" dirty="0"/>
              <a:t>｜課程時長：</a:t>
            </a:r>
            <a:r>
              <a:rPr lang="en-US" altLang="zh-TW" sz="4800" dirty="0"/>
              <a:t>3 </a:t>
            </a:r>
            <a:r>
              <a:rPr lang="zh-TW" altLang="zh-TW" sz="4800" dirty="0"/>
              <a:t>小時</a:t>
            </a:r>
            <a:endParaRPr lang="en-US" altLang="zh-TW" sz="4800" dirty="0"/>
          </a:p>
          <a:p>
            <a:endParaRPr lang="zh-TW" altLang="en-US" sz="4800" dirty="0"/>
          </a:p>
        </p:txBody>
      </p:sp>
    </p:spTree>
    <p:extLst>
      <p:ext uri="{BB962C8B-B14F-4D97-AF65-F5344CB8AC3E}">
        <p14:creationId xmlns:p14="http://schemas.microsoft.com/office/powerpoint/2010/main" val="4169585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16309" y="1258530"/>
            <a:ext cx="11975691" cy="5520962"/>
          </a:xfrm>
          <a:solidFill>
            <a:srgbClr val="CCFFCC"/>
          </a:solidFill>
        </p:spPr>
        <p:txBody>
          <a:bodyPr>
            <a:normAutofit/>
          </a:bodyPr>
          <a:lstStyle/>
          <a:p>
            <a:pPr algn="l"/>
            <a:r>
              <a:rPr lang="zh-TW" altLang="en-US" sz="3600" dirty="0"/>
              <a:t>五感覺醒與心靈沉澱（</a:t>
            </a:r>
            <a:r>
              <a:rPr lang="en-US" altLang="zh-TW" sz="3600" dirty="0"/>
              <a:t>40</a:t>
            </a:r>
            <a:r>
              <a:rPr lang="zh-TW" altLang="en-US" sz="3600" dirty="0"/>
              <a:t>分鐘）</a:t>
            </a:r>
          </a:p>
          <a:p>
            <a:pPr algn="l"/>
            <a:r>
              <a:rPr lang="zh-TW" altLang="en-US" sz="3600" dirty="0"/>
              <a:t>對應課程目標 </a:t>
            </a:r>
            <a:r>
              <a:rPr lang="en-US" altLang="zh-TW" sz="3600" dirty="0"/>
              <a:t>- </a:t>
            </a:r>
            <a:r>
              <a:rPr lang="zh-TW" altLang="en-US" sz="3600" dirty="0"/>
              <a:t>身心面：</a:t>
            </a:r>
          </a:p>
          <a:p>
            <a:pPr algn="l"/>
            <a:r>
              <a:rPr lang="zh-TW" altLang="en-US" sz="3600" dirty="0"/>
              <a:t> </a:t>
            </a:r>
            <a:r>
              <a:rPr lang="en-US" altLang="zh-TW" sz="3600" dirty="0"/>
              <a:t>• </a:t>
            </a:r>
            <a:r>
              <a:rPr lang="zh-TW" altLang="en-US" sz="3600" dirty="0"/>
              <a:t>透過五感激活，進入專注放鬆狀態</a:t>
            </a:r>
          </a:p>
          <a:p>
            <a:pPr algn="l"/>
            <a:r>
              <a:rPr lang="zh-TW" altLang="en-US" sz="3600" dirty="0"/>
              <a:t> </a:t>
            </a:r>
            <a:r>
              <a:rPr lang="en-US" altLang="zh-TW" sz="3600" dirty="0"/>
              <a:t>• </a:t>
            </a:r>
            <a:r>
              <a:rPr lang="zh-TW" altLang="en-US" sz="3600" dirty="0"/>
              <a:t>培養</a:t>
            </a:r>
            <a:r>
              <a:rPr lang="zh-TW" altLang="en-US" sz="3600" dirty="0">
                <a:solidFill>
                  <a:srgbClr val="7030A0"/>
                </a:solidFill>
              </a:rPr>
              <a:t>正念覺察</a:t>
            </a:r>
            <a:r>
              <a:rPr lang="zh-TW" altLang="en-US" sz="3600" dirty="0"/>
              <a:t>與</a:t>
            </a:r>
            <a:r>
              <a:rPr lang="zh-TW" altLang="en-US" sz="3600" dirty="0">
                <a:solidFill>
                  <a:srgbClr val="7030A0"/>
                </a:solidFill>
              </a:rPr>
              <a:t>當下感知能力</a:t>
            </a:r>
          </a:p>
          <a:p>
            <a:pPr algn="l"/>
            <a:r>
              <a:rPr lang="zh-TW" altLang="en-US" sz="3600" dirty="0"/>
              <a:t> </a:t>
            </a:r>
            <a:r>
              <a:rPr lang="en-US" altLang="zh-TW" sz="3600" dirty="0"/>
              <a:t>• </a:t>
            </a:r>
            <a:r>
              <a:rPr lang="zh-TW" altLang="en-US" sz="3600" dirty="0"/>
              <a:t>在創作中</a:t>
            </a:r>
            <a:r>
              <a:rPr lang="zh-TW" altLang="en-US" sz="3600" dirty="0">
                <a:solidFill>
                  <a:srgbClr val="7030A0"/>
                </a:solidFill>
              </a:rPr>
              <a:t>體驗喜悅</a:t>
            </a:r>
            <a:r>
              <a:rPr lang="zh-TW" altLang="en-US" sz="3600" dirty="0"/>
              <a:t>與</a:t>
            </a:r>
            <a:r>
              <a:rPr lang="zh-TW" altLang="en-US" sz="3600" dirty="0">
                <a:solidFill>
                  <a:srgbClr val="7030A0"/>
                </a:solidFill>
              </a:rPr>
              <a:t>自我表達</a:t>
            </a:r>
          </a:p>
          <a:p>
            <a:pPr algn="l"/>
            <a:r>
              <a:rPr lang="zh-TW" altLang="en-US" sz="3600" dirty="0"/>
              <a:t>內容：</a:t>
            </a:r>
          </a:p>
          <a:p>
            <a:pPr algn="l"/>
            <a:r>
              <a:rPr lang="zh-TW" altLang="en-US" sz="3600" dirty="0"/>
              <a:t> </a:t>
            </a:r>
            <a:r>
              <a:rPr lang="en-US" altLang="zh-TW" sz="3600" dirty="0"/>
              <a:t>• </a:t>
            </a:r>
            <a:r>
              <a:rPr lang="zh-TW" altLang="en-US" sz="3600" dirty="0"/>
              <a:t>開場暖身：香氛、頌缽、靜心呼吸</a:t>
            </a:r>
          </a:p>
          <a:p>
            <a:pPr algn="l"/>
            <a:r>
              <a:rPr lang="zh-TW" altLang="en-US" sz="3600" dirty="0"/>
              <a:t> </a:t>
            </a:r>
            <a:r>
              <a:rPr lang="en-US" altLang="zh-TW" sz="3600" dirty="0"/>
              <a:t>• </a:t>
            </a:r>
            <a:r>
              <a:rPr lang="zh-TW" altLang="en-US" sz="3600" dirty="0"/>
              <a:t>認識曼陀羅：</a:t>
            </a:r>
            <a:r>
              <a:rPr lang="zh-TW" altLang="en-US" sz="3600" dirty="0">
                <a:solidFill>
                  <a:srgbClr val="7030A0"/>
                </a:solidFill>
              </a:rPr>
              <a:t>起源</a:t>
            </a:r>
            <a:r>
              <a:rPr lang="zh-TW" altLang="en-US" sz="3600" dirty="0"/>
              <a:t>、</a:t>
            </a:r>
            <a:r>
              <a:rPr lang="zh-TW" altLang="en-US" sz="3600" dirty="0">
                <a:solidFill>
                  <a:srgbClr val="7030A0"/>
                </a:solidFill>
              </a:rPr>
              <a:t>象徵意義</a:t>
            </a:r>
            <a:r>
              <a:rPr lang="zh-TW" altLang="en-US" sz="3600" dirty="0"/>
              <a:t>、</a:t>
            </a:r>
            <a:r>
              <a:rPr lang="zh-TW" altLang="en-US" sz="3600" dirty="0">
                <a:solidFill>
                  <a:srgbClr val="7030A0"/>
                </a:solidFill>
              </a:rPr>
              <a:t>色彩心理學</a:t>
            </a:r>
          </a:p>
        </p:txBody>
      </p:sp>
      <p:sp>
        <p:nvSpPr>
          <p:cNvPr id="5" name="標題 1"/>
          <p:cNvSpPr>
            <a:spLocks noGrp="1"/>
          </p:cNvSpPr>
          <p:nvPr>
            <p:ph type="ctrTitle"/>
          </p:nvPr>
        </p:nvSpPr>
        <p:spPr>
          <a:xfrm>
            <a:off x="1031874" y="98323"/>
            <a:ext cx="9822939" cy="1415845"/>
          </a:xfrm>
        </p:spPr>
        <p:txBody>
          <a:bodyPr>
            <a:noAutofit/>
          </a:bodyPr>
          <a:lstStyle/>
          <a:p>
            <a:pPr lvl="0">
              <a:spcBef>
                <a:spcPts val="1000"/>
              </a:spcBef>
            </a:pPr>
            <a:r>
              <a:rPr lang="zh-TW" altLang="en-US" sz="4800" dirty="0">
                <a:solidFill>
                  <a:srgbClr val="7030A0"/>
                </a:solidFill>
                <a:latin typeface="Calibri" panose="020F0502020204030204"/>
                <a:cs typeface="+mn-cs"/>
              </a:rPr>
              <a:t>課程架構：三大單元</a:t>
            </a:r>
            <a:br>
              <a:rPr lang="zh-TW" altLang="en-US" sz="4800" dirty="0">
                <a:solidFill>
                  <a:srgbClr val="7030A0"/>
                </a:solidFill>
                <a:latin typeface="Calibri" panose="020F0502020204030204"/>
                <a:cs typeface="+mn-cs"/>
              </a:rPr>
            </a:br>
            <a:endParaRPr lang="zh-TW" altLang="en-US" sz="4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652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9280" y="1"/>
            <a:ext cx="11196320" cy="883919"/>
          </a:xfr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/>
          <a:lstStyle/>
          <a:p>
            <a:r>
              <a:rPr lang="en-US" altLang="zh-TW" dirty="0"/>
              <a:t>1</a:t>
            </a:r>
            <a:r>
              <a:rPr lang="zh-TW" altLang="en-US" dirty="0"/>
              <a:t>、曼陀羅（</a:t>
            </a:r>
            <a:r>
              <a:rPr lang="en-US" altLang="zh-TW" dirty="0"/>
              <a:t>Mandala</a:t>
            </a:r>
            <a:r>
              <a:rPr lang="zh-TW" altLang="en-US" dirty="0"/>
              <a:t>）的起源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0560" y="883920"/>
            <a:ext cx="11115040" cy="5974080"/>
          </a:xfrm>
          <a:solidFill>
            <a:srgbClr val="FFFFCC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/>
              <a:t>曼陀羅起源與演進的三大核心階段：</a:t>
            </a:r>
            <a:endParaRPr lang="en-US" altLang="zh-TW" sz="2000" dirty="0"/>
          </a:p>
          <a:p>
            <a:r>
              <a:rPr lang="en-US" altLang="zh-TW" sz="2000" dirty="0">
                <a:solidFill>
                  <a:schemeClr val="accent2">
                    <a:lumMod val="75000"/>
                  </a:schemeClr>
                </a:solidFill>
              </a:rPr>
              <a:t>1. </a:t>
            </a:r>
            <a:r>
              <a:rPr lang="zh-TW" altLang="en-US" sz="2000" dirty="0">
                <a:solidFill>
                  <a:schemeClr val="accent2">
                    <a:lumMod val="75000"/>
                  </a:schemeClr>
                </a:solidFill>
              </a:rPr>
              <a:t>宗教與哲學起源（古代印度）字源含意</a:t>
            </a:r>
            <a:r>
              <a:rPr lang="zh-TW" altLang="en-US" sz="2000" dirty="0"/>
              <a:t>： </a:t>
            </a:r>
            <a:r>
              <a:rPr lang="zh-TW" altLang="en-US" sz="2000" dirty="0">
                <a:solidFill>
                  <a:srgbClr val="7030A0"/>
                </a:solidFill>
              </a:rPr>
              <a:t>曼陀羅源自古印度的梵文「</a:t>
            </a:r>
            <a:r>
              <a:rPr lang="en-US" altLang="zh-TW" sz="2000" dirty="0">
                <a:solidFill>
                  <a:srgbClr val="7030A0"/>
                </a:solidFill>
              </a:rPr>
              <a:t>Mandala</a:t>
            </a:r>
            <a:r>
              <a:rPr lang="zh-TW" altLang="en-US" sz="2000" dirty="0">
                <a:solidFill>
                  <a:srgbClr val="7030A0"/>
                </a:solidFill>
              </a:rPr>
              <a:t>」。</a:t>
            </a:r>
            <a:endParaRPr lang="en-US" altLang="zh-TW" sz="2000" dirty="0">
              <a:solidFill>
                <a:srgbClr val="7030A0"/>
              </a:solidFill>
            </a:endParaRPr>
          </a:p>
          <a:p>
            <a:r>
              <a:rPr lang="zh-TW" altLang="en-US" sz="2000" dirty="0"/>
              <a:t>由「</a:t>
            </a:r>
            <a:r>
              <a:rPr lang="en-US" altLang="zh-TW" sz="2000" dirty="0"/>
              <a:t>Manda</a:t>
            </a:r>
            <a:r>
              <a:rPr lang="zh-TW" altLang="en-US" sz="2000" dirty="0"/>
              <a:t>」（意指</a:t>
            </a:r>
            <a:r>
              <a:rPr lang="zh-TW" altLang="en-US" sz="2000" dirty="0">
                <a:solidFill>
                  <a:srgbClr val="7030A0"/>
                </a:solidFill>
              </a:rPr>
              <a:t>本質、精髓、圓心</a:t>
            </a:r>
            <a:r>
              <a:rPr lang="zh-TW" altLang="en-US" sz="2000" dirty="0"/>
              <a:t>）與「</a:t>
            </a:r>
            <a:r>
              <a:rPr lang="en-US" altLang="zh-TW" sz="2000" dirty="0"/>
              <a:t>La</a:t>
            </a:r>
            <a:r>
              <a:rPr lang="zh-TW" altLang="en-US" sz="2000" dirty="0"/>
              <a:t>」（意指成就、裝飾、圓圈）組合而成，字面意思為「</a:t>
            </a:r>
            <a:r>
              <a:rPr lang="zh-TW" altLang="en-US" sz="2000" dirty="0">
                <a:solidFill>
                  <a:srgbClr val="7030A0"/>
                </a:solidFill>
              </a:rPr>
              <a:t>完整的圓</a:t>
            </a:r>
            <a:r>
              <a:rPr lang="zh-TW" altLang="en-US" sz="2000" dirty="0"/>
              <a:t>」或「神聖的中心」。</a:t>
            </a:r>
            <a:endParaRPr lang="en-US" altLang="zh-TW" sz="2000" dirty="0"/>
          </a:p>
          <a:p>
            <a:r>
              <a:rPr lang="zh-TW" altLang="en-US" sz="2000" dirty="0"/>
              <a:t>佛教與婆羅門教： 最早出現在古印度的</a:t>
            </a:r>
            <a:r>
              <a:rPr lang="en-US" altLang="zh-TW" sz="2000" dirty="0"/>
              <a:t>《</a:t>
            </a:r>
            <a:r>
              <a:rPr lang="zh-TW" altLang="en-US" sz="2000" dirty="0"/>
              <a:t>梨俱吠陀</a:t>
            </a:r>
            <a:r>
              <a:rPr lang="en-US" altLang="zh-TW" sz="2000" dirty="0"/>
              <a:t>》</a:t>
            </a:r>
            <a:r>
              <a:rPr lang="zh-TW" altLang="en-US" sz="2000" dirty="0"/>
              <a:t>中。</a:t>
            </a:r>
            <a:endParaRPr lang="en-US" altLang="zh-TW" sz="2000" dirty="0"/>
          </a:p>
          <a:p>
            <a:r>
              <a:rPr lang="zh-TW" altLang="en-US" sz="2000" dirty="0"/>
              <a:t>在藏傳佛教與密宗中，曼陀羅被繪製成極其繁複的幾何圖案，代表宇宙的縮影與神佛的聖殿，僧侶</a:t>
            </a:r>
            <a:r>
              <a:rPr lang="zh-TW" altLang="en-US" sz="2000" dirty="0">
                <a:solidFill>
                  <a:srgbClr val="7030A0"/>
                </a:solidFill>
              </a:rPr>
              <a:t>透過觀想或用沙畫繪製曼陀羅來進行修行與冥想。</a:t>
            </a:r>
            <a:endParaRPr lang="en-US" altLang="zh-TW" sz="2000" dirty="0">
              <a:solidFill>
                <a:srgbClr val="7030A0"/>
              </a:solidFill>
            </a:endParaRPr>
          </a:p>
          <a:p>
            <a:r>
              <a:rPr lang="en-US" altLang="zh-TW" sz="2000" dirty="0">
                <a:solidFill>
                  <a:schemeClr val="accent2">
                    <a:lumMod val="75000"/>
                  </a:schemeClr>
                </a:solidFill>
              </a:rPr>
              <a:t>2. </a:t>
            </a:r>
            <a:r>
              <a:rPr lang="zh-TW" altLang="en-US" sz="2000" dirty="0">
                <a:solidFill>
                  <a:schemeClr val="accent2">
                    <a:lumMod val="75000"/>
                  </a:schemeClr>
                </a:solidFill>
              </a:rPr>
              <a:t>當代心理學的引入（西方世界）榮格的發現： </a:t>
            </a:r>
            <a:r>
              <a:rPr lang="en-US" altLang="zh-TW" sz="2000" dirty="0"/>
              <a:t>20</a:t>
            </a:r>
            <a:r>
              <a:rPr lang="zh-TW" altLang="en-US" sz="2000" dirty="0"/>
              <a:t>世紀初，瑞士心理學家卡爾</a:t>
            </a:r>
            <a:r>
              <a:rPr lang="en-US" altLang="zh-TW" sz="2000" dirty="0"/>
              <a:t>·</a:t>
            </a:r>
            <a:r>
              <a:rPr lang="zh-TW" altLang="en-US" sz="2000" dirty="0"/>
              <a:t>榮格（</a:t>
            </a:r>
            <a:r>
              <a:rPr lang="en-US" altLang="zh-TW" sz="2000" dirty="0"/>
              <a:t>Carl Jung</a:t>
            </a:r>
            <a:r>
              <a:rPr lang="zh-TW" altLang="en-US" sz="2000" dirty="0"/>
              <a:t>）將曼陀羅帶入西方心理學領域。</a:t>
            </a:r>
            <a:endParaRPr lang="en-US" altLang="zh-TW" sz="2000" dirty="0"/>
          </a:p>
          <a:p>
            <a:r>
              <a:rPr lang="zh-TW" altLang="en-US" sz="2000" dirty="0"/>
              <a:t>心靈的鏡子： 榮格在自身面臨心理危機時，發現自己每天早上自發性地在</a:t>
            </a:r>
            <a:r>
              <a:rPr lang="zh-TW" altLang="en-US" sz="2000" dirty="0">
                <a:solidFill>
                  <a:srgbClr val="7030A0"/>
                </a:solidFill>
              </a:rPr>
              <a:t>筆記本上畫出圓形圖案，隨後內心便感到平靜。</a:t>
            </a:r>
            <a:endParaRPr lang="en-US" altLang="zh-TW" sz="2000" dirty="0">
              <a:solidFill>
                <a:srgbClr val="7030A0"/>
              </a:solidFill>
            </a:endParaRPr>
          </a:p>
          <a:p>
            <a:r>
              <a:rPr lang="zh-TW" altLang="en-US" sz="2000" dirty="0"/>
              <a:t>他將此視為人類「集體潛意識」的展現，並認為曼陀羅是「個體化進程」（</a:t>
            </a:r>
            <a:r>
              <a:rPr lang="en-US" altLang="zh-TW" sz="2000" dirty="0"/>
              <a:t>Self-actualization</a:t>
            </a:r>
            <a:r>
              <a:rPr lang="zh-TW" altLang="en-US" sz="2000" dirty="0"/>
              <a:t>）中，</a:t>
            </a:r>
            <a:r>
              <a:rPr lang="zh-TW" altLang="en-US" sz="2000" dirty="0">
                <a:solidFill>
                  <a:srgbClr val="7030A0"/>
                </a:solidFill>
              </a:rPr>
              <a:t>內心追求平衡與自我整合的自然本能。</a:t>
            </a:r>
            <a:endParaRPr lang="en-US" altLang="zh-TW" sz="2000" dirty="0">
              <a:solidFill>
                <a:srgbClr val="7030A0"/>
              </a:solidFill>
            </a:endParaRPr>
          </a:p>
          <a:p>
            <a:r>
              <a:rPr lang="en-US" altLang="zh-TW" sz="2000" dirty="0">
                <a:solidFill>
                  <a:schemeClr val="accent2">
                    <a:lumMod val="75000"/>
                  </a:schemeClr>
                </a:solidFill>
              </a:rPr>
              <a:t>3. </a:t>
            </a:r>
            <a:r>
              <a:rPr lang="zh-TW" altLang="en-US" sz="2000" dirty="0">
                <a:solidFill>
                  <a:schemeClr val="accent2">
                    <a:lumMod val="75000"/>
                  </a:schemeClr>
                </a:solidFill>
              </a:rPr>
              <a:t>自然與文化的普世現象自然界的幾何學： </a:t>
            </a:r>
            <a:r>
              <a:rPr lang="zh-TW" altLang="en-US" sz="2000" dirty="0"/>
              <a:t>除了宗教與心理學，曼陀羅的「中心對稱圓形」結構廣泛存在於自然界中，例如年輪、雪花、花朵、太陽系、甚至人體的細胞</a:t>
            </a:r>
            <a:endParaRPr lang="en-US" altLang="zh-TW" sz="2000" dirty="0"/>
          </a:p>
          <a:p>
            <a:r>
              <a:rPr lang="zh-TW" altLang="en-US" sz="2000" dirty="0"/>
              <a:t>。跨文化共鳴： 這種圓形符號在世界各地的古文明中都有出現（如美洲原住民的醫藥輪、歐洲教堂的玫瑰花窗），證實了人類對</a:t>
            </a:r>
            <a:r>
              <a:rPr lang="zh-TW" altLang="en-US" sz="2000" dirty="0">
                <a:solidFill>
                  <a:srgbClr val="7030A0"/>
                </a:solidFill>
              </a:rPr>
              <a:t>「圓形與中心」具有普世的心理共鳴。</a:t>
            </a:r>
          </a:p>
        </p:txBody>
      </p:sp>
    </p:spTree>
    <p:extLst>
      <p:ext uri="{BB962C8B-B14F-4D97-AF65-F5344CB8AC3E}">
        <p14:creationId xmlns:p14="http://schemas.microsoft.com/office/powerpoint/2010/main" val="108554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60582" y="277092"/>
            <a:ext cx="10252363" cy="769441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 wrap="square">
            <a:spAutoFit/>
          </a:bodyPr>
          <a:lstStyle/>
          <a:p>
            <a:r>
              <a:rPr lang="zh-TW" altLang="en-US" sz="4400" dirty="0">
                <a:solidFill>
                  <a:prstClr val="black"/>
                </a:solidFill>
              </a:rPr>
              <a:t>認識曼陀羅</a:t>
            </a:r>
            <a:endParaRPr lang="zh-TW" altLang="en-US" sz="4400" dirty="0"/>
          </a:p>
        </p:txBody>
      </p:sp>
      <p:sp>
        <p:nvSpPr>
          <p:cNvPr id="3" name="矩形 2"/>
          <p:cNvSpPr/>
          <p:nvPr/>
        </p:nvSpPr>
        <p:spPr>
          <a:xfrm>
            <a:off x="822959" y="1341120"/>
            <a:ext cx="11369041" cy="3416320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zh-TW" altLang="en-US" sz="3600" dirty="0"/>
              <a:t>一、藝術輔療的定義目標與專業角色</a:t>
            </a:r>
            <a:endParaRPr lang="en-US" altLang="zh-TW" sz="3600" dirty="0"/>
          </a:p>
          <a:p>
            <a:r>
              <a:rPr lang="zh-TW" altLang="en-US" sz="3600" dirty="0"/>
              <a:t>二、探討其在長照領域的應用範圍</a:t>
            </a:r>
            <a:endParaRPr lang="en-US" altLang="zh-TW" sz="3600" dirty="0"/>
          </a:p>
          <a:p>
            <a:r>
              <a:rPr lang="zh-TW" altLang="en-US" sz="3600" dirty="0"/>
              <a:t>特別著重於如何</a:t>
            </a:r>
            <a:r>
              <a:rPr lang="zh-TW" altLang="en-US" sz="3600" dirty="0">
                <a:solidFill>
                  <a:srgbClr val="00B050"/>
                </a:solidFill>
              </a:rPr>
              <a:t>透過藝術媒介</a:t>
            </a:r>
            <a:r>
              <a:rPr lang="zh-TW" altLang="en-US" sz="3600" dirty="0">
                <a:solidFill>
                  <a:srgbClr val="7030A0"/>
                </a:solidFill>
              </a:rPr>
              <a:t>促進</a:t>
            </a:r>
            <a:r>
              <a:rPr lang="zh-TW" altLang="en-US" sz="3600" dirty="0">
                <a:solidFill>
                  <a:srgbClr val="00B050"/>
                </a:solidFill>
              </a:rPr>
              <a:t>長者的情緒表達、認知刺激與社交互動。</a:t>
            </a:r>
            <a:endParaRPr lang="en-US" altLang="zh-TW" sz="3600" dirty="0">
              <a:solidFill>
                <a:srgbClr val="00B050"/>
              </a:solidFill>
            </a:endParaRPr>
          </a:p>
          <a:p>
            <a:r>
              <a:rPr lang="zh-TW" altLang="en-US" sz="3600" dirty="0"/>
              <a:t>三曼陀羅從最初的「宗教宇宙觀」，演變為今日在</a:t>
            </a:r>
            <a:r>
              <a:rPr lang="zh-TW" altLang="en-US" sz="3600" dirty="0">
                <a:solidFill>
                  <a:srgbClr val="7030A0"/>
                </a:solidFill>
              </a:rPr>
              <a:t>長照、心理諮商中廣泛應用的「心靈自癒工具」。</a:t>
            </a:r>
          </a:p>
        </p:txBody>
      </p:sp>
    </p:spTree>
    <p:extLst>
      <p:ext uri="{BB962C8B-B14F-4D97-AF65-F5344CB8AC3E}">
        <p14:creationId xmlns:p14="http://schemas.microsoft.com/office/powerpoint/2010/main" val="3032224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92364" y="969818"/>
            <a:ext cx="11942618" cy="5888182"/>
          </a:xfrm>
          <a:solidFill>
            <a:srgbClr val="FFFFCC"/>
          </a:solidFill>
        </p:spPr>
        <p:txBody>
          <a:bodyPr>
            <a:normAutofit/>
          </a:bodyPr>
          <a:lstStyle/>
          <a:p>
            <a:r>
              <a:rPr lang="en-US" altLang="zh-TW" sz="2800" dirty="0"/>
              <a:t>【</a:t>
            </a:r>
            <a:r>
              <a:rPr lang="zh-TW" altLang="en-US" sz="2800" dirty="0"/>
              <a:t>心理學</a:t>
            </a:r>
            <a:r>
              <a:rPr lang="en-US" altLang="zh-TW" sz="2800" dirty="0"/>
              <a:t>】</a:t>
            </a:r>
            <a:br>
              <a:rPr lang="en-US" altLang="zh-TW" sz="2000" dirty="0"/>
            </a:br>
            <a:r>
              <a:rPr lang="en-US" altLang="zh-TW" sz="2000" dirty="0"/>
              <a:t>1</a:t>
            </a:r>
            <a:r>
              <a:rPr lang="zh-TW" altLang="en-US" sz="2000" dirty="0"/>
              <a:t>：。</a:t>
            </a:r>
            <a:br>
              <a:rPr lang="zh-TW" altLang="en-US" sz="2000" dirty="0"/>
            </a:br>
            <a:r>
              <a:rPr lang="zh-TW" altLang="en-US" sz="2000" dirty="0"/>
              <a:t>透過在</a:t>
            </a:r>
            <a:r>
              <a:rPr lang="zh-TW" altLang="en-US" sz="2000" dirty="0">
                <a:solidFill>
                  <a:srgbClr val="00B0F0"/>
                </a:solidFill>
              </a:rPr>
              <a:t>圓形（曼陀羅）</a:t>
            </a:r>
            <a:r>
              <a:rPr lang="zh-TW" altLang="en-US" sz="2000" dirty="0"/>
              <a:t>內自由繪畫、著色或拼貼，個案能夠進入</a:t>
            </a:r>
            <a:r>
              <a:rPr lang="zh-TW" altLang="en-US" sz="2000" dirty="0">
                <a:solidFill>
                  <a:srgbClr val="7030A0"/>
                </a:solidFill>
              </a:rPr>
              <a:t>深層潛意識</a:t>
            </a:r>
            <a:r>
              <a:rPr lang="zh-TW" altLang="en-US" sz="2000" dirty="0"/>
              <a:t>、</a:t>
            </a:r>
            <a:r>
              <a:rPr lang="zh-TW" altLang="en-US" sz="2000" dirty="0">
                <a:solidFill>
                  <a:srgbClr val="7030A0"/>
                </a:solidFill>
              </a:rPr>
              <a:t>梳理混亂情緒、整合自我內心</a:t>
            </a:r>
            <a:r>
              <a:rPr lang="zh-TW" altLang="en-US" sz="2000" dirty="0"/>
              <a:t>，最終達到</a:t>
            </a:r>
            <a:r>
              <a:rPr lang="zh-TW" altLang="en-US" sz="2000" dirty="0">
                <a:solidFill>
                  <a:srgbClr val="00B0F0"/>
                </a:solidFill>
              </a:rPr>
              <a:t>減壓與自我探索的目的</a:t>
            </a:r>
            <a:r>
              <a:rPr lang="zh-TW" altLang="en-US" sz="2000" dirty="0"/>
              <a:t>。</a:t>
            </a:r>
            <a:br>
              <a:rPr lang="zh-TW" altLang="en-US" sz="2000" dirty="0"/>
            </a:br>
            <a:br>
              <a:rPr lang="zh-TW" altLang="en-US" sz="2000" dirty="0"/>
            </a:br>
            <a:r>
              <a:rPr lang="en-US" altLang="zh-TW" sz="2000" dirty="0"/>
              <a:t>2</a:t>
            </a:r>
            <a:r>
              <a:rPr lang="zh-TW" altLang="en-US" sz="2000" dirty="0"/>
              <a:t>：曼陀羅（</a:t>
            </a:r>
            <a:r>
              <a:rPr lang="en-US" altLang="zh-TW" sz="2000" dirty="0"/>
              <a:t>Mandala</a:t>
            </a:r>
            <a:r>
              <a:rPr lang="zh-TW" altLang="en-US" sz="2000" dirty="0"/>
              <a:t>）源自梵文，意指</a:t>
            </a:r>
            <a:r>
              <a:rPr lang="zh-TW" altLang="en-US" sz="2000" dirty="0">
                <a:solidFill>
                  <a:schemeClr val="accent2">
                    <a:lumMod val="75000"/>
                  </a:schemeClr>
                </a:solidFill>
              </a:rPr>
              <a:t>「圓圈」或「中心」</a:t>
            </a:r>
            <a:r>
              <a:rPr lang="zh-TW" altLang="en-US" sz="2000" dirty="0"/>
              <a:t>。</a:t>
            </a:r>
            <a:br>
              <a:rPr lang="en-US" altLang="zh-TW" sz="2000" dirty="0"/>
            </a:br>
            <a:r>
              <a:rPr lang="zh-TW" altLang="en-US" sz="2000" dirty="0"/>
              <a:t>在藝術輔療中，具備以下幾個核心概念與特徵：</a:t>
            </a:r>
            <a:br>
              <a:rPr lang="zh-TW" altLang="en-US" sz="2000" dirty="0"/>
            </a:br>
            <a:r>
              <a:rPr lang="zh-TW" altLang="en-US" sz="2000" dirty="0">
                <a:solidFill>
                  <a:srgbClr val="7030A0"/>
                </a:solidFill>
              </a:rPr>
              <a:t>心理學背景</a:t>
            </a:r>
            <a:r>
              <a:rPr lang="zh-TW" altLang="en-US" sz="2000" dirty="0"/>
              <a:t>： 由瑞士心理學家卡爾</a:t>
            </a:r>
            <a:r>
              <a:rPr lang="en-US" altLang="zh-TW" sz="2000" dirty="0"/>
              <a:t>·</a:t>
            </a:r>
            <a:r>
              <a:rPr lang="zh-TW" altLang="en-US" sz="2000" dirty="0"/>
              <a:t>榮格（</a:t>
            </a:r>
            <a:r>
              <a:rPr lang="en-US" altLang="zh-TW" sz="2000" dirty="0"/>
              <a:t>Carl Jung</a:t>
            </a:r>
            <a:r>
              <a:rPr lang="zh-TW" altLang="en-US" sz="2000" dirty="0"/>
              <a:t>）引入西方心理學。</a:t>
            </a:r>
            <a:br>
              <a:rPr lang="en-US" altLang="zh-TW" sz="2000" dirty="0"/>
            </a:br>
            <a:r>
              <a:rPr lang="zh-TW" altLang="en-US" sz="2000" dirty="0"/>
              <a:t>他觀察到人類</a:t>
            </a:r>
            <a:r>
              <a:rPr lang="zh-TW" altLang="en-US" sz="2000" dirty="0">
                <a:solidFill>
                  <a:srgbClr val="FF0000"/>
                </a:solidFill>
              </a:rPr>
              <a:t>情緒混亂</a:t>
            </a:r>
            <a:r>
              <a:rPr lang="zh-TW" altLang="en-US" sz="2000" dirty="0"/>
              <a:t>時，會</a:t>
            </a:r>
            <a:r>
              <a:rPr lang="zh-TW" altLang="en-US" sz="2000" dirty="0">
                <a:solidFill>
                  <a:schemeClr val="accent2">
                    <a:lumMod val="75000"/>
                  </a:schemeClr>
                </a:solidFill>
              </a:rPr>
              <a:t>自然畫出圓形圖案</a:t>
            </a:r>
            <a:r>
              <a:rPr lang="zh-TW" altLang="en-US" sz="2000" dirty="0"/>
              <a:t>來尋求</a:t>
            </a:r>
            <a:r>
              <a:rPr lang="zh-TW" altLang="en-US" sz="2000" dirty="0">
                <a:solidFill>
                  <a:srgbClr val="7030A0"/>
                </a:solidFill>
              </a:rPr>
              <a:t>內心秩序</a:t>
            </a:r>
            <a:r>
              <a:rPr lang="zh-TW" altLang="en-US" sz="2000" dirty="0"/>
              <a:t>，並將其視為「心靈能量」與自我整合的象徵。</a:t>
            </a:r>
            <a:br>
              <a:rPr lang="zh-TW" altLang="en-US" sz="2000" dirty="0"/>
            </a:br>
            <a:br>
              <a:rPr lang="zh-TW" altLang="en-US" sz="2000" dirty="0"/>
            </a:br>
            <a:r>
              <a:rPr lang="en-US" altLang="zh-TW" sz="2000" dirty="0"/>
              <a:t>3</a:t>
            </a:r>
            <a:r>
              <a:rPr lang="zh-TW" altLang="en-US" sz="2000" dirty="0"/>
              <a:t>：圓形的保護感： </a:t>
            </a:r>
            <a:br>
              <a:rPr lang="zh-TW" altLang="en-US" sz="2000" dirty="0"/>
            </a:br>
            <a:r>
              <a:rPr lang="zh-TW" altLang="en-US" sz="2000" dirty="0"/>
              <a:t>圓形沒有起點與終點，提供</a:t>
            </a:r>
            <a:r>
              <a:rPr lang="zh-TW" altLang="en-US" sz="2000" dirty="0">
                <a:solidFill>
                  <a:srgbClr val="7030A0"/>
                </a:solidFill>
              </a:rPr>
              <a:t>創作者一個被保護的安全空間</a:t>
            </a:r>
            <a:r>
              <a:rPr lang="zh-TW" altLang="en-US" sz="2000" dirty="0"/>
              <a:t>，讓人能在其中</a:t>
            </a:r>
            <a:r>
              <a:rPr lang="zh-TW" altLang="en-US" sz="2000" dirty="0">
                <a:solidFill>
                  <a:srgbClr val="7030A0"/>
                </a:solidFill>
              </a:rPr>
              <a:t>安心面對潛意識的恐懼與真實感受。</a:t>
            </a:r>
            <a:br>
              <a:rPr lang="zh-TW" altLang="en-US" sz="2000" dirty="0"/>
            </a:br>
            <a:br>
              <a:rPr lang="zh-TW" altLang="en-US" sz="2000" dirty="0"/>
            </a:br>
            <a:r>
              <a:rPr lang="en-US" altLang="zh-TW" sz="2000" dirty="0"/>
              <a:t>4</a:t>
            </a:r>
            <a:r>
              <a:rPr lang="zh-TW" altLang="en-US" sz="2000" dirty="0"/>
              <a:t>：自我覺察與對話： 創作者藉由</a:t>
            </a:r>
            <a:r>
              <a:rPr lang="zh-TW" altLang="en-US" sz="2000" dirty="0">
                <a:solidFill>
                  <a:schemeClr val="accent2">
                    <a:lumMod val="75000"/>
                  </a:schemeClr>
                </a:solidFill>
              </a:rPr>
              <a:t>顏色、線條與圖案的選擇</a:t>
            </a:r>
            <a:r>
              <a:rPr lang="zh-TW" altLang="en-US" sz="2000" dirty="0"/>
              <a:t>，將抽象的情緒（如焦慮、憤怒、喜悅）具象化，客觀地</a:t>
            </a:r>
            <a:r>
              <a:rPr lang="zh-TW" altLang="en-US" sz="2000" dirty="0">
                <a:solidFill>
                  <a:schemeClr val="accent2">
                    <a:lumMod val="75000"/>
                  </a:schemeClr>
                </a:solidFill>
              </a:rPr>
              <a:t>「看見」自己的內心狀態</a:t>
            </a:r>
            <a:r>
              <a:rPr lang="zh-TW" altLang="en-US" sz="2000" dirty="0"/>
              <a:t>，進而化解內在衝突。</a:t>
            </a:r>
            <a:br>
              <a:rPr lang="zh-TW" altLang="en-US" sz="2000" dirty="0"/>
            </a:br>
            <a:br>
              <a:rPr lang="zh-TW" altLang="en-US" sz="2000" dirty="0"/>
            </a:br>
            <a:r>
              <a:rPr lang="zh-TW" altLang="en-US" sz="2000" dirty="0"/>
              <a:t>應用廣泛： 常用於</a:t>
            </a:r>
            <a:r>
              <a:rPr lang="zh-TW" altLang="en-US" sz="2000" dirty="0">
                <a:solidFill>
                  <a:schemeClr val="accent2">
                    <a:lumMod val="75000"/>
                  </a:schemeClr>
                </a:solidFill>
              </a:rPr>
              <a:t>減壓放鬆、創傷療癒、靈性成長及注意力提升</a:t>
            </a:r>
            <a:r>
              <a:rPr lang="zh-TW" altLang="en-US" sz="2000" dirty="0"/>
              <a:t>，適合各年齡層的自我照顧。</a:t>
            </a:r>
          </a:p>
        </p:txBody>
      </p:sp>
      <p:sp>
        <p:nvSpPr>
          <p:cNvPr id="5" name="矩形 4"/>
          <p:cNvSpPr/>
          <p:nvPr/>
        </p:nvSpPr>
        <p:spPr>
          <a:xfrm>
            <a:off x="637310" y="92366"/>
            <a:ext cx="10852726" cy="89255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3200" dirty="0"/>
              <a:t>2</a:t>
            </a:r>
            <a:r>
              <a:rPr lang="zh-TW" altLang="en-US" sz="3200" dirty="0"/>
              <a:t>、曼陀羅藝術輔療的定義</a:t>
            </a:r>
            <a:endParaRPr lang="en-US" altLang="zh-TW" sz="1400" dirty="0"/>
          </a:p>
          <a:p>
            <a:r>
              <a:rPr lang="zh-TW" altLang="en-US" sz="2000" dirty="0">
                <a:solidFill>
                  <a:prstClr val="black"/>
                </a:solidFill>
                <a:latin typeface="Calibri Light" panose="020F0302020204030204"/>
                <a:cs typeface="+mj-cs"/>
              </a:rPr>
              <a:t>曼陀羅藝術輔療是藝術輔療的一種分支，結合了</a:t>
            </a:r>
            <a:r>
              <a:rPr lang="en-US" altLang="zh-TW" sz="2000" dirty="0">
                <a:solidFill>
                  <a:prstClr val="black"/>
                </a:solidFill>
                <a:latin typeface="Calibri Light" panose="020F0302020204030204"/>
                <a:cs typeface="+mj-cs"/>
              </a:rPr>
              <a:t>【</a:t>
            </a:r>
            <a:r>
              <a:rPr lang="zh-TW" altLang="en-US" sz="2000" dirty="0">
                <a:solidFill>
                  <a:srgbClr val="7030A0"/>
                </a:solidFill>
                <a:latin typeface="Calibri Light" panose="020F0302020204030204"/>
                <a:cs typeface="+mj-cs"/>
              </a:rPr>
              <a:t>心理學</a:t>
            </a:r>
            <a:r>
              <a:rPr lang="en-US" altLang="zh-TW" sz="2000" dirty="0">
                <a:solidFill>
                  <a:srgbClr val="7030A0"/>
                </a:solidFill>
                <a:latin typeface="Calibri Light" panose="020F0302020204030204"/>
                <a:cs typeface="+mj-cs"/>
              </a:rPr>
              <a:t>】</a:t>
            </a:r>
            <a:r>
              <a:rPr lang="zh-TW" altLang="en-US" sz="2000" dirty="0">
                <a:solidFill>
                  <a:prstClr val="black"/>
                </a:solidFill>
                <a:latin typeface="Calibri Light" panose="020F0302020204030204"/>
                <a:cs typeface="+mj-cs"/>
              </a:rPr>
              <a:t>與</a:t>
            </a:r>
            <a:r>
              <a:rPr lang="en-US" altLang="zh-TW" sz="2000" dirty="0">
                <a:solidFill>
                  <a:prstClr val="black"/>
                </a:solidFill>
                <a:latin typeface="Calibri Light" panose="020F0302020204030204"/>
                <a:cs typeface="+mj-cs"/>
              </a:rPr>
              <a:t>【</a:t>
            </a:r>
            <a:r>
              <a:rPr lang="zh-TW" altLang="en-US" sz="2000" dirty="0">
                <a:solidFill>
                  <a:srgbClr val="7030A0"/>
                </a:solidFill>
                <a:latin typeface="Calibri Light" panose="020F0302020204030204"/>
                <a:cs typeface="+mj-cs"/>
              </a:rPr>
              <a:t>繪畫創作</a:t>
            </a:r>
            <a:r>
              <a:rPr lang="en-US" altLang="zh-TW" sz="2000" dirty="0">
                <a:solidFill>
                  <a:srgbClr val="7030A0"/>
                </a:solidFill>
                <a:latin typeface="Calibri Light" panose="020F0302020204030204"/>
                <a:cs typeface="+mj-cs"/>
              </a:rPr>
              <a:t>】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29241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6141" y="1563329"/>
            <a:ext cx="11790367" cy="5324535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zh-TW" altLang="en-US" sz="2000" dirty="0"/>
              <a:t>以下是繪畫創作的主要優點：</a:t>
            </a:r>
          </a:p>
          <a:p>
            <a:r>
              <a:rPr lang="en-US" altLang="zh-TW" sz="2000" dirty="0"/>
              <a:t>1</a:t>
            </a:r>
            <a:r>
              <a:rPr lang="zh-TW" altLang="en-US" sz="2000" dirty="0"/>
              <a:t>釋放壓抑情緒： </a:t>
            </a:r>
          </a:p>
          <a:p>
            <a:r>
              <a:rPr lang="zh-TW" altLang="en-US" sz="2000" dirty="0"/>
              <a:t>將無法用言語表達的焦慮、憤怒或悲傷，透過線條與色彩具象化，</a:t>
            </a:r>
            <a:r>
              <a:rPr lang="zh-TW" altLang="en-US" sz="2000" dirty="0">
                <a:solidFill>
                  <a:srgbClr val="7030A0"/>
                </a:solidFill>
              </a:rPr>
              <a:t>安全地宣洩出來</a:t>
            </a:r>
            <a:r>
              <a:rPr lang="zh-TW" altLang="en-US" sz="2000" dirty="0"/>
              <a:t>。</a:t>
            </a:r>
          </a:p>
          <a:p>
            <a:endParaRPr lang="zh-TW" altLang="en-US" sz="2000" dirty="0"/>
          </a:p>
          <a:p>
            <a:r>
              <a:rPr lang="en-US" altLang="zh-TW" sz="2000" dirty="0"/>
              <a:t>2</a:t>
            </a:r>
            <a:r>
              <a:rPr lang="zh-TW" altLang="en-US" sz="2000" dirty="0"/>
              <a:t>降低壓力荷爾蒙： </a:t>
            </a:r>
          </a:p>
          <a:p>
            <a:r>
              <a:rPr lang="zh-TW" altLang="en-US" sz="2000" dirty="0"/>
              <a:t>創作過程能激活副交感神經，有效降低皮質醇（壓力荷爾蒙）水平，</a:t>
            </a:r>
            <a:r>
              <a:rPr lang="zh-TW" altLang="en-US" sz="2000" dirty="0">
                <a:solidFill>
                  <a:srgbClr val="7030A0"/>
                </a:solidFill>
              </a:rPr>
              <a:t>達到身心放鬆</a:t>
            </a:r>
            <a:r>
              <a:rPr lang="zh-TW" altLang="en-US" sz="2000" dirty="0"/>
              <a:t>。</a:t>
            </a:r>
          </a:p>
          <a:p>
            <a:endParaRPr lang="zh-TW" altLang="en-US" sz="2000" dirty="0"/>
          </a:p>
          <a:p>
            <a:r>
              <a:rPr lang="en-US" altLang="zh-TW" sz="2000" dirty="0"/>
              <a:t>3</a:t>
            </a:r>
            <a:r>
              <a:rPr lang="zh-TW" altLang="en-US" sz="2000" dirty="0"/>
              <a:t>進入心流狀態： </a:t>
            </a:r>
          </a:p>
          <a:p>
            <a:r>
              <a:rPr lang="zh-TW" altLang="en-US" sz="2000" dirty="0"/>
              <a:t>專注於繪畫能讓人忘卻時間與煩惱，這種「心流」狀態</a:t>
            </a:r>
            <a:r>
              <a:rPr lang="zh-TW" altLang="en-US" sz="2000" dirty="0">
                <a:solidFill>
                  <a:srgbClr val="7030A0"/>
                </a:solidFill>
              </a:rPr>
              <a:t>能重新提振精神、恢復心理韌性</a:t>
            </a:r>
            <a:r>
              <a:rPr lang="zh-TW" altLang="en-US" sz="2000" dirty="0"/>
              <a:t>。</a:t>
            </a:r>
          </a:p>
          <a:p>
            <a:endParaRPr lang="zh-TW" altLang="en-US" sz="2000" dirty="0"/>
          </a:p>
          <a:p>
            <a:r>
              <a:rPr lang="en-US" altLang="zh-TW" sz="2000" dirty="0"/>
              <a:t>4</a:t>
            </a:r>
            <a:r>
              <a:rPr lang="zh-TW" altLang="en-US" sz="2000" dirty="0"/>
              <a:t>提升大腦認知功能： </a:t>
            </a:r>
          </a:p>
          <a:p>
            <a:r>
              <a:rPr lang="zh-TW" altLang="en-US" sz="2000" dirty="0"/>
              <a:t>繪畫需要動用視覺、空間感與手部微細肌肉，</a:t>
            </a:r>
            <a:r>
              <a:rPr lang="zh-TW" altLang="en-US" sz="2000" dirty="0">
                <a:solidFill>
                  <a:srgbClr val="7030A0"/>
                </a:solidFill>
              </a:rPr>
              <a:t>能刺激大腦神經網絡，增強專注力與記憶力</a:t>
            </a:r>
            <a:r>
              <a:rPr lang="zh-TW" altLang="en-US" sz="2000" dirty="0"/>
              <a:t>。</a:t>
            </a:r>
          </a:p>
          <a:p>
            <a:endParaRPr lang="zh-TW" altLang="en-US" sz="2000" dirty="0"/>
          </a:p>
          <a:p>
            <a:r>
              <a:rPr lang="en-US" altLang="zh-TW" sz="2000" dirty="0"/>
              <a:t>5</a:t>
            </a:r>
            <a:r>
              <a:rPr lang="zh-TW" altLang="en-US" sz="2000" dirty="0"/>
              <a:t>促進自我覺察： </a:t>
            </a:r>
          </a:p>
          <a:p>
            <a:r>
              <a:rPr lang="zh-TW" altLang="en-US" sz="2000" dirty="0"/>
              <a:t>作品就像內心世界的一面鏡子，能幫助你客觀檢視自己的潛意識，</a:t>
            </a:r>
            <a:r>
              <a:rPr lang="zh-TW" altLang="en-US" sz="2000" dirty="0">
                <a:solidFill>
                  <a:srgbClr val="7030A0"/>
                </a:solidFill>
              </a:rPr>
              <a:t>看清內心真正的需求</a:t>
            </a:r>
            <a:r>
              <a:rPr lang="zh-TW" altLang="en-US" sz="2000" dirty="0"/>
              <a:t>。</a:t>
            </a:r>
          </a:p>
          <a:p>
            <a:r>
              <a:rPr lang="zh-TW" altLang="en-US" sz="2000" dirty="0"/>
              <a:t>建立掌控感與自信： </a:t>
            </a:r>
          </a:p>
          <a:p>
            <a:r>
              <a:rPr lang="zh-TW" altLang="en-US" sz="2000" dirty="0"/>
              <a:t>從一張白紙到完成作品的過程，能帶來極大的成成就感，幫助低潮期的人重拾生活掌控力。</a:t>
            </a: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226141" y="101600"/>
            <a:ext cx="11169446" cy="1333910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altLang="zh-TW" sz="3600" dirty="0"/>
              <a:t>【</a:t>
            </a:r>
            <a:r>
              <a:rPr lang="zh-TW" altLang="en-US" sz="3600" dirty="0"/>
              <a:t>繪畫創作</a:t>
            </a:r>
            <a:r>
              <a:rPr lang="en-US" altLang="zh-TW" sz="3600" dirty="0"/>
              <a:t>】</a:t>
            </a:r>
            <a:r>
              <a:rPr lang="zh-TW" altLang="en-US" sz="2000" dirty="0">
                <a:solidFill>
                  <a:prstClr val="black"/>
                </a:solidFill>
                <a:latin typeface="Calibri" panose="020F0502020204030204"/>
                <a:cs typeface="+mn-cs"/>
              </a:rPr>
              <a:t>繪畫創作是一種強大的</a:t>
            </a:r>
            <a:r>
              <a:rPr lang="zh-TW" altLang="en-US" sz="2000" dirty="0">
                <a:solidFill>
                  <a:srgbClr val="0070C0"/>
                </a:solidFill>
                <a:latin typeface="Calibri" panose="020F0502020204030204"/>
                <a:cs typeface="+mn-cs"/>
              </a:rPr>
              <a:t>心理與生理療癒工具</a:t>
            </a:r>
            <a:r>
              <a:rPr lang="zh-TW" altLang="en-US" sz="2000" dirty="0">
                <a:solidFill>
                  <a:prstClr val="black"/>
                </a:solidFill>
                <a:latin typeface="Calibri" panose="020F0502020204030204"/>
                <a:cs typeface="+mn-cs"/>
              </a:rPr>
              <a:t>，它超越了語言的限制，能為大腦、情緒和身體帶來多重正面影響。</a:t>
            </a:r>
            <a:br>
              <a:rPr lang="zh-TW" altLang="en-US" sz="2000" dirty="0">
                <a:solidFill>
                  <a:prstClr val="black"/>
                </a:solidFill>
                <a:latin typeface="Calibri" panose="020F0502020204030204"/>
                <a:cs typeface="+mn-cs"/>
              </a:rPr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00009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55600" y="1"/>
            <a:ext cx="11744960" cy="975359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zh-TW" altLang="en-US" sz="3600" dirty="0"/>
              <a:t>繪畫創作與曼陀羅在長照領域</a:t>
            </a:r>
            <a:br>
              <a:rPr lang="en-US" altLang="zh-TW" sz="3600" dirty="0"/>
            </a:br>
            <a:r>
              <a:rPr lang="zh-TW" altLang="en-US" sz="3600" dirty="0"/>
              <a:t>核心</a:t>
            </a:r>
            <a:r>
              <a:rPr lang="zh-TW" altLang="en-US" sz="3600" dirty="0">
                <a:solidFill>
                  <a:srgbClr val="FF0000"/>
                </a:solidFill>
              </a:rPr>
              <a:t>應用優點</a:t>
            </a:r>
            <a:r>
              <a:rPr lang="zh-TW" altLang="en-US" sz="3600" dirty="0"/>
              <a:t>與實務做法</a:t>
            </a:r>
          </a:p>
        </p:txBody>
      </p:sp>
      <p:sp>
        <p:nvSpPr>
          <p:cNvPr id="3" name="矩形 2"/>
          <p:cNvSpPr/>
          <p:nvPr/>
        </p:nvSpPr>
        <p:spPr>
          <a:xfrm>
            <a:off x="213360" y="1076961"/>
            <a:ext cx="11978640" cy="5618480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zh-TW" altLang="en-US" sz="2000" dirty="0">
                <a:solidFill>
                  <a:schemeClr val="accent2">
                    <a:lumMod val="75000"/>
                  </a:schemeClr>
                </a:solidFill>
              </a:rPr>
              <a:t>（</a:t>
            </a:r>
            <a:r>
              <a:rPr lang="en-US" altLang="zh-TW" sz="2000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zh-TW" altLang="en-US" sz="2000" dirty="0">
                <a:solidFill>
                  <a:schemeClr val="accent2">
                    <a:lumMod val="75000"/>
                  </a:schemeClr>
                </a:solidFill>
              </a:rPr>
              <a:t>）：認知刺激與延緩失智</a:t>
            </a:r>
            <a:endParaRPr lang="en-US" altLang="zh-TW" sz="2000" dirty="0"/>
          </a:p>
          <a:p>
            <a:r>
              <a:rPr lang="zh-TW" altLang="en-US" sz="2000" dirty="0"/>
              <a:t> </a:t>
            </a:r>
            <a:r>
              <a:rPr lang="en-US" altLang="zh-TW" sz="2000" dirty="0"/>
              <a:t>a</a:t>
            </a:r>
            <a:r>
              <a:rPr lang="zh-TW" altLang="en-US" sz="2000" dirty="0"/>
              <a:t>、</a:t>
            </a:r>
            <a:r>
              <a:rPr lang="zh-TW" altLang="en-US" sz="2000" dirty="0">
                <a:solidFill>
                  <a:srgbClr val="7030A0"/>
                </a:solidFill>
              </a:rPr>
              <a:t>激活大腦神經</a:t>
            </a:r>
            <a:r>
              <a:rPr lang="zh-TW" altLang="en-US" sz="2000" dirty="0"/>
              <a:t>：繪畫時挑選顏色、構圖、抓握畫筆，需要同時動用視覺、空間感與微細肌肉運動，能有效刺激大腦神經網絡。</a:t>
            </a:r>
          </a:p>
          <a:p>
            <a:r>
              <a:rPr lang="en-US" altLang="zh-TW" sz="2000" dirty="0"/>
              <a:t>b</a:t>
            </a:r>
            <a:r>
              <a:rPr lang="zh-TW" altLang="en-US" sz="2000" dirty="0"/>
              <a:t>、</a:t>
            </a:r>
            <a:r>
              <a:rPr lang="zh-TW" altLang="en-US" sz="2000" dirty="0">
                <a:solidFill>
                  <a:srgbClr val="7030A0"/>
                </a:solidFill>
              </a:rPr>
              <a:t>延緩失智退化： </a:t>
            </a:r>
            <a:r>
              <a:rPr lang="zh-TW" altLang="en-US" sz="2000" dirty="0"/>
              <a:t>透過結構化的繪畫活動（如曼陀羅著色、線條禪繞），能幫助失智長者維持專注力與手眼協調能力。</a:t>
            </a:r>
          </a:p>
          <a:p>
            <a:r>
              <a:rPr lang="zh-TW" altLang="en-US" sz="2000" dirty="0">
                <a:solidFill>
                  <a:schemeClr val="accent2">
                    <a:lumMod val="75000"/>
                  </a:schemeClr>
                </a:solidFill>
              </a:rPr>
              <a:t>（</a:t>
            </a:r>
            <a:r>
              <a:rPr lang="en-US" altLang="zh-TW" sz="2000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zh-TW" altLang="en-US" sz="2000" dirty="0">
                <a:solidFill>
                  <a:schemeClr val="accent2">
                    <a:lumMod val="75000"/>
                  </a:schemeClr>
                </a:solidFill>
              </a:rPr>
              <a:t>）：情緒支持與非言語溝通</a:t>
            </a:r>
            <a:endParaRPr lang="en-US" altLang="zh-TW" sz="20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altLang="zh-TW" sz="2000" dirty="0">
                <a:solidFill>
                  <a:srgbClr val="7030A0"/>
                </a:solidFill>
              </a:rPr>
              <a:t>a</a:t>
            </a:r>
            <a:r>
              <a:rPr lang="zh-TW" altLang="en-US" sz="2000" dirty="0">
                <a:solidFill>
                  <a:srgbClr val="7030A0"/>
                </a:solidFill>
              </a:rPr>
              <a:t>突破語言障礙： </a:t>
            </a:r>
            <a:r>
              <a:rPr lang="zh-TW" altLang="en-US" sz="2000" dirty="0"/>
              <a:t>許多長者因中風、失智或退化而表達困難。</a:t>
            </a:r>
          </a:p>
          <a:p>
            <a:r>
              <a:rPr lang="zh-TW" altLang="en-US" sz="2000" dirty="0"/>
              <a:t>繪畫提供非言語的溝通管道，讓他們用色彩與線條表達內心感受與需求。</a:t>
            </a:r>
          </a:p>
          <a:p>
            <a:r>
              <a:rPr lang="en-US" altLang="zh-TW" sz="2000" dirty="0">
                <a:solidFill>
                  <a:srgbClr val="7030A0"/>
                </a:solidFill>
              </a:rPr>
              <a:t>b</a:t>
            </a:r>
            <a:r>
              <a:rPr lang="zh-TW" altLang="en-US" sz="2000" dirty="0">
                <a:solidFill>
                  <a:srgbClr val="7030A0"/>
                </a:solidFill>
              </a:rPr>
              <a:t>減少精神行為症狀（</a:t>
            </a:r>
            <a:r>
              <a:rPr lang="en-US" altLang="zh-TW" sz="2000" dirty="0">
                <a:solidFill>
                  <a:srgbClr val="7030A0"/>
                </a:solidFill>
              </a:rPr>
              <a:t>BPSD</a:t>
            </a:r>
            <a:r>
              <a:rPr lang="zh-TW" altLang="en-US" sz="2000" dirty="0">
                <a:solidFill>
                  <a:srgbClr val="7030A0"/>
                </a:solidFill>
              </a:rPr>
              <a:t>）： </a:t>
            </a:r>
            <a:r>
              <a:rPr lang="zh-TW" altLang="en-US" sz="2000" dirty="0"/>
              <a:t>專注於創作能帶來平靜，顯著降低長者的焦慮、游走、躁動或憂鬱情緒。</a:t>
            </a:r>
          </a:p>
          <a:p>
            <a:endParaRPr lang="zh-TW" altLang="en-US" sz="2000" dirty="0"/>
          </a:p>
          <a:p>
            <a:r>
              <a:rPr lang="zh-TW" altLang="en-US" sz="2000" dirty="0">
                <a:solidFill>
                  <a:schemeClr val="accent2">
                    <a:lumMod val="75000"/>
                  </a:schemeClr>
                </a:solidFill>
              </a:rPr>
              <a:t>（</a:t>
            </a:r>
            <a:r>
              <a:rPr lang="en-US" altLang="zh-TW" sz="2000" dirty="0">
                <a:solidFill>
                  <a:schemeClr val="accent2">
                    <a:lumMod val="75000"/>
                  </a:schemeClr>
                </a:solidFill>
              </a:rPr>
              <a:t>3</a:t>
            </a:r>
            <a:r>
              <a:rPr lang="zh-TW" altLang="en-US" sz="2000" dirty="0">
                <a:solidFill>
                  <a:schemeClr val="accent2">
                    <a:lumMod val="75000"/>
                  </a:schemeClr>
                </a:solidFill>
              </a:rPr>
              <a:t>）：懷舊輔療與自我認同</a:t>
            </a:r>
            <a:endParaRPr lang="en-US" altLang="zh-TW" sz="20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altLang="zh-TW" sz="2000" dirty="0">
                <a:solidFill>
                  <a:srgbClr val="7030A0"/>
                </a:solidFill>
              </a:rPr>
              <a:t>a</a:t>
            </a:r>
            <a:r>
              <a:rPr lang="zh-TW" altLang="en-US" sz="2000" dirty="0">
                <a:solidFill>
                  <a:srgbClr val="7030A0"/>
                </a:solidFill>
              </a:rPr>
              <a:t>重塑生命故事： </a:t>
            </a:r>
            <a:r>
              <a:rPr lang="zh-TW" altLang="en-US" sz="2000" dirty="0"/>
              <a:t>引導長者繪畫家鄉、童年玩伴或生命重要時刻（懷舊繪畫），</a:t>
            </a:r>
            <a:r>
              <a:rPr lang="zh-TW" altLang="en-US" sz="2000" dirty="0">
                <a:solidFill>
                  <a:srgbClr val="7030A0"/>
                </a:solidFill>
              </a:rPr>
              <a:t>能喚醒長期記憶。</a:t>
            </a:r>
          </a:p>
          <a:p>
            <a:r>
              <a:rPr lang="en-US" altLang="zh-TW" sz="2000" u="sng" dirty="0">
                <a:solidFill>
                  <a:srgbClr val="7030A0"/>
                </a:solidFill>
              </a:rPr>
              <a:t>b</a:t>
            </a:r>
            <a:r>
              <a:rPr lang="zh-TW" altLang="en-US" sz="2000" u="sng" dirty="0">
                <a:solidFill>
                  <a:srgbClr val="7030A0"/>
                </a:solidFill>
              </a:rPr>
              <a:t>重拾尊嚴與掌控感： </a:t>
            </a:r>
            <a:r>
              <a:rPr lang="zh-TW" altLang="en-US" sz="2000" dirty="0"/>
              <a:t>長照長者常因失去生活自理能力而感到無力。在畫紙上，他們能全權決定色彩與圖案，重新獲得成就感與自我價值。</a:t>
            </a:r>
          </a:p>
          <a:p>
            <a:endParaRPr lang="zh-TW" altLang="en-US" sz="2000" dirty="0"/>
          </a:p>
          <a:p>
            <a:r>
              <a:rPr lang="zh-TW" altLang="en-US" sz="2000" dirty="0">
                <a:solidFill>
                  <a:schemeClr val="accent2">
                    <a:lumMod val="75000"/>
                  </a:schemeClr>
                </a:solidFill>
              </a:rPr>
              <a:t>（</a:t>
            </a:r>
            <a:r>
              <a:rPr lang="en-US" altLang="zh-TW" sz="2000" dirty="0">
                <a:solidFill>
                  <a:schemeClr val="accent2">
                    <a:lumMod val="75000"/>
                  </a:schemeClr>
                </a:solidFill>
              </a:rPr>
              <a:t>4</a:t>
            </a:r>
            <a:r>
              <a:rPr lang="zh-TW" altLang="en-US" sz="2000" dirty="0">
                <a:solidFill>
                  <a:schemeClr val="accent2">
                    <a:lumMod val="75000"/>
                  </a:schemeClr>
                </a:solidFill>
              </a:rPr>
              <a:t>）：社交互動與延緩孤獨</a:t>
            </a:r>
            <a:endParaRPr lang="en-US" altLang="zh-TW" sz="20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altLang="zh-TW" sz="2000" dirty="0"/>
              <a:t>a</a:t>
            </a:r>
            <a:r>
              <a:rPr lang="zh-TW" altLang="en-US" sz="2000" dirty="0"/>
              <a:t>團體創作促進交流： 機構內舉辦集體繪畫或作品分享會，能讓長者互相欣賞、讚美，建立人際連結並</a:t>
            </a:r>
            <a:r>
              <a:rPr lang="zh-TW" altLang="en-US" sz="2000" dirty="0">
                <a:solidFill>
                  <a:srgbClr val="7030A0"/>
                </a:solidFill>
              </a:rPr>
              <a:t>降低孤獨感</a:t>
            </a:r>
          </a:p>
        </p:txBody>
      </p:sp>
    </p:spTree>
    <p:extLst>
      <p:ext uri="{BB962C8B-B14F-4D97-AF65-F5344CB8AC3E}">
        <p14:creationId xmlns:p14="http://schemas.microsoft.com/office/powerpoint/2010/main" val="1378343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2284" y="70159"/>
            <a:ext cx="11405420" cy="962228"/>
          </a:xfr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>
            <a:normAutofit/>
          </a:bodyPr>
          <a:lstStyle/>
          <a:p>
            <a:r>
              <a:rPr lang="zh-TW" altLang="en-US" sz="3600" dirty="0"/>
              <a:t>核心色彩的心理象徵</a:t>
            </a:r>
          </a:p>
        </p:txBody>
      </p:sp>
      <p:sp>
        <p:nvSpPr>
          <p:cNvPr id="3" name="矩形 2"/>
          <p:cNvSpPr/>
          <p:nvPr/>
        </p:nvSpPr>
        <p:spPr>
          <a:xfrm>
            <a:off x="452283" y="1101215"/>
            <a:ext cx="11405420" cy="5632311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1</a:t>
            </a:r>
            <a:r>
              <a:rPr lang="zh-TW" altLang="en-US" sz="2400" dirty="0">
                <a:solidFill>
                  <a:srgbClr val="FF0000"/>
                </a:solidFill>
              </a:rPr>
              <a:t>紅色（生命力與憤怒）</a:t>
            </a:r>
            <a:endParaRPr lang="en-US" altLang="zh-TW" sz="2400" dirty="0">
              <a:solidFill>
                <a:srgbClr val="FF0000"/>
              </a:solidFill>
            </a:endParaRPr>
          </a:p>
          <a:p>
            <a:r>
              <a:rPr lang="zh-TW" altLang="en-US" sz="2400" dirty="0">
                <a:solidFill>
                  <a:srgbClr val="002060"/>
                </a:solidFill>
              </a:rPr>
              <a:t>正面： 代表充沛的能量、熱情、行動力、生存本能與身體的陽量。</a:t>
            </a:r>
            <a:endParaRPr lang="en-US" altLang="zh-TW" sz="2400" dirty="0">
              <a:solidFill>
                <a:srgbClr val="002060"/>
              </a:solidFill>
            </a:endParaRPr>
          </a:p>
          <a:p>
            <a:r>
              <a:rPr lang="zh-TW" altLang="en-US" sz="2400" dirty="0">
                <a:solidFill>
                  <a:srgbClr val="002060"/>
                </a:solidFill>
              </a:rPr>
              <a:t>陰影： 可能暗示內心正累積憤怒、衝動、挫折感或正處於生力中。</a:t>
            </a:r>
            <a:endParaRPr lang="en-US" altLang="zh-TW" sz="2400" dirty="0">
              <a:solidFill>
                <a:srgbClr val="002060"/>
              </a:solidFill>
            </a:endParaRPr>
          </a:p>
          <a:p>
            <a:r>
              <a:rPr lang="en-US" altLang="zh-TW" sz="2400" dirty="0">
                <a:solidFill>
                  <a:schemeClr val="accent4">
                    <a:lumMod val="50000"/>
                  </a:schemeClr>
                </a:solidFill>
              </a:rPr>
              <a:t>2</a:t>
            </a:r>
            <a:r>
              <a:rPr lang="zh-TW" altLang="en-US" sz="2400" dirty="0">
                <a:solidFill>
                  <a:schemeClr val="accent4">
                    <a:lumMod val="50000"/>
                  </a:schemeClr>
                </a:solidFill>
              </a:rPr>
              <a:t>黃色（理智與焦慮）</a:t>
            </a:r>
          </a:p>
          <a:p>
            <a:r>
              <a:rPr lang="zh-TW" altLang="en-US" sz="2400" dirty="0">
                <a:solidFill>
                  <a:srgbClr val="002060"/>
                </a:solidFill>
              </a:rPr>
              <a:t>正面： 代表智慧、邏輯思考、樂觀、自信與追求個人陽般耀眼）。</a:t>
            </a:r>
          </a:p>
          <a:p>
            <a:r>
              <a:rPr lang="zh-TW" altLang="en-US" sz="2400" dirty="0">
                <a:solidFill>
                  <a:srgbClr val="002060"/>
                </a:solidFill>
              </a:rPr>
              <a:t>陰影： 過多時可能反映出過度思考、控制欲、嫉妒或對未來的慮。</a:t>
            </a:r>
          </a:p>
          <a:p>
            <a:r>
              <a:rPr lang="en-US" altLang="zh-TW" sz="2400" dirty="0">
                <a:solidFill>
                  <a:srgbClr val="0070C0"/>
                </a:solidFill>
              </a:rPr>
              <a:t>3</a:t>
            </a:r>
            <a:r>
              <a:rPr lang="zh-TW" altLang="en-US" sz="2400" dirty="0">
                <a:solidFill>
                  <a:srgbClr val="0070C0"/>
                </a:solidFill>
              </a:rPr>
              <a:t>藍色（平靜與憂鬱）</a:t>
            </a:r>
          </a:p>
          <a:p>
            <a:r>
              <a:rPr lang="zh-TW" altLang="en-US" sz="2400" dirty="0">
                <a:solidFill>
                  <a:srgbClr val="002060"/>
                </a:solidFill>
              </a:rPr>
              <a:t>正面： 代表內省、沉靜、信任、靈性思考、以及良好的溝達能力。</a:t>
            </a:r>
          </a:p>
          <a:p>
            <a:r>
              <a:rPr lang="zh-TW" altLang="en-US" sz="2400" dirty="0">
                <a:solidFill>
                  <a:srgbClr val="002060"/>
                </a:solidFill>
              </a:rPr>
              <a:t>陰影： 灰暗的藍色可能暗示悲傷、憂鬱、情感孤立、或刻意情緒。</a:t>
            </a:r>
            <a:endParaRPr lang="en-US" altLang="zh-TW" sz="2400" dirty="0">
              <a:solidFill>
                <a:srgbClr val="002060"/>
              </a:solidFill>
            </a:endParaRPr>
          </a:p>
          <a:p>
            <a:r>
              <a:rPr lang="en-US" altLang="zh-TW" sz="2400" dirty="0">
                <a:solidFill>
                  <a:srgbClr val="00B050"/>
                </a:solidFill>
              </a:rPr>
              <a:t>4</a:t>
            </a:r>
            <a:r>
              <a:rPr lang="zh-TW" altLang="en-US" sz="2400" dirty="0">
                <a:solidFill>
                  <a:srgbClr val="00B050"/>
                </a:solidFill>
              </a:rPr>
              <a:t>綠色（療癒與停滯）</a:t>
            </a:r>
          </a:p>
          <a:p>
            <a:r>
              <a:rPr lang="zh-TW" altLang="en-US" sz="2400" dirty="0">
                <a:solidFill>
                  <a:srgbClr val="002060"/>
                </a:solidFill>
              </a:rPr>
              <a:t>正面： 代表成長、大自然的生命力、心胸開放、同理心與自進程。</a:t>
            </a:r>
          </a:p>
          <a:p>
            <a:r>
              <a:rPr lang="zh-TW" altLang="en-US" sz="2400" dirty="0">
                <a:solidFill>
                  <a:srgbClr val="002060"/>
                </a:solidFill>
              </a:rPr>
              <a:t>陰影： 可能代表害怕改變、嫉妒、或是正處於需要高精神疲憊期。</a:t>
            </a:r>
          </a:p>
          <a:p>
            <a:r>
              <a:rPr lang="en-US" altLang="zh-TW" sz="2400" dirty="0">
                <a:solidFill>
                  <a:schemeClr val="accent2">
                    <a:lumMod val="75000"/>
                  </a:schemeClr>
                </a:solidFill>
              </a:rPr>
              <a:t>5</a:t>
            </a:r>
            <a:r>
              <a:rPr lang="zh-TW" altLang="en-US" sz="2400" dirty="0">
                <a:solidFill>
                  <a:schemeClr val="accent2">
                    <a:lumMod val="75000"/>
                  </a:schemeClr>
                </a:solidFill>
              </a:rPr>
              <a:t>橙色（創造力與依賴）</a:t>
            </a:r>
          </a:p>
          <a:p>
            <a:r>
              <a:rPr lang="zh-TW" altLang="en-US" sz="2400" dirty="0">
                <a:solidFill>
                  <a:srgbClr val="002060"/>
                </a:solidFill>
              </a:rPr>
              <a:t>正面： 代表社交互動、創造力、情緒的流動、感官享受童的活力。</a:t>
            </a:r>
          </a:p>
          <a:p>
            <a:r>
              <a:rPr lang="zh-TW" altLang="en-US" sz="2400" dirty="0">
                <a:solidFill>
                  <a:srgbClr val="002060"/>
                </a:solidFill>
              </a:rPr>
              <a:t>陰影： 可能反映出情感上的過度依賴、成癮傾向或對人際關焦慮。</a:t>
            </a:r>
            <a:r>
              <a:rPr lang="en-US" altLang="zh-TW" sz="2400" dirty="0">
                <a:solidFill>
                  <a:srgbClr val="002060"/>
                </a:solidFill>
              </a:rPr>
              <a:t>4</a:t>
            </a:r>
            <a:endParaRPr lang="zh-TW" alt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2826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670" y="0"/>
            <a:ext cx="10879395" cy="698090"/>
          </a:xfr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>
            <a:normAutofit/>
          </a:bodyPr>
          <a:lstStyle/>
          <a:p>
            <a:r>
              <a:rPr lang="zh-TW" altLang="en-US" sz="4000" dirty="0"/>
              <a:t>三、色彩的心理象徵</a:t>
            </a:r>
          </a:p>
        </p:txBody>
      </p:sp>
      <p:sp>
        <p:nvSpPr>
          <p:cNvPr id="3" name="矩形 2"/>
          <p:cNvSpPr/>
          <p:nvPr/>
        </p:nvSpPr>
        <p:spPr>
          <a:xfrm>
            <a:off x="550606" y="766916"/>
            <a:ext cx="11228439" cy="7109639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altLang="zh-TW" sz="2400" dirty="0"/>
              <a:t>6</a:t>
            </a:r>
            <a:r>
              <a:rPr lang="zh-TW" altLang="en-US" sz="2400" dirty="0">
                <a:solidFill>
                  <a:srgbClr val="7030A0"/>
                </a:solidFill>
              </a:rPr>
              <a:t>紫色（靈性與抽離）</a:t>
            </a:r>
          </a:p>
          <a:p>
            <a:r>
              <a:rPr lang="zh-TW" altLang="en-US" sz="2400" dirty="0"/>
              <a:t>正面： 代表高度的靈性覺察、直覺、轉化、神祕感與浪漫的想像力。陰影： 過多可能意味著逃避現實、與土地（現實生活）斷聯、或精神過度敏感。</a:t>
            </a:r>
          </a:p>
          <a:p>
            <a:r>
              <a:rPr lang="en-US" altLang="zh-TW" sz="2400" dirty="0"/>
              <a:t>7</a:t>
            </a:r>
            <a:r>
              <a:rPr lang="zh-TW" altLang="en-US" sz="2400" dirty="0"/>
              <a:t>黑、白、灰的特殊意義黑色（保護與未知）： </a:t>
            </a:r>
          </a:p>
          <a:p>
            <a:r>
              <a:rPr lang="zh-TW" altLang="en-US" sz="2400" dirty="0"/>
              <a:t>代表子宮般的安全保護、潛意識的深層秘密、暫時的隱退；</a:t>
            </a:r>
          </a:p>
          <a:p>
            <a:r>
              <a:rPr lang="zh-TW" altLang="en-US" sz="2400" dirty="0"/>
              <a:t>但也可能暗示哀傷、恐懼或防禦心理。</a:t>
            </a:r>
          </a:p>
          <a:p>
            <a:r>
              <a:rPr lang="en-US" altLang="zh-TW" sz="2400" dirty="0"/>
              <a:t>8</a:t>
            </a:r>
            <a:r>
              <a:rPr lang="zh-TW" altLang="en-US" sz="2400" dirty="0"/>
              <a:t>白色（純潔與空虛）： </a:t>
            </a:r>
          </a:p>
          <a:p>
            <a:r>
              <a:rPr lang="zh-TW" altLang="en-US" sz="2400" dirty="0"/>
              <a:t>代表靈性的光芒、新開始、純潔與誠實；</a:t>
            </a:r>
          </a:p>
          <a:p>
            <a:r>
              <a:rPr lang="zh-TW" altLang="en-US" sz="2400" dirty="0"/>
              <a:t>若畫面出現大面積刻意留白，可能暗示內心感到空虛、情感抽離或防衛。</a:t>
            </a:r>
          </a:p>
          <a:p>
            <a:r>
              <a:rPr lang="en-US" altLang="zh-TW" sz="2400" dirty="0"/>
              <a:t>9</a:t>
            </a:r>
            <a:r>
              <a:rPr lang="zh-TW" altLang="en-US" sz="2400" dirty="0"/>
              <a:t>灰色（中立與迷惘）： </a:t>
            </a:r>
          </a:p>
          <a:p>
            <a:r>
              <a:rPr lang="zh-TW" altLang="en-US" sz="2400" dirty="0"/>
              <a:t>代表平衡、中立、不偏不倚；在心理低潮時，也常反映出沮喪、迷惘、缺乏動力或身心俱疲。</a:t>
            </a:r>
          </a:p>
          <a:p>
            <a:r>
              <a:rPr lang="zh-TW" altLang="en-US" sz="2400" dirty="0"/>
              <a:t>實務解讀的重要原則在曼陀羅輔療中，</a:t>
            </a:r>
            <a:r>
              <a:rPr lang="zh-TW" altLang="en-US" sz="2400" dirty="0">
                <a:solidFill>
                  <a:srgbClr val="7030A0"/>
                </a:solidFill>
              </a:rPr>
              <a:t>色彩沒有絕對的好壞。</a:t>
            </a:r>
          </a:p>
          <a:p>
            <a:r>
              <a:rPr lang="zh-TW" altLang="en-US" sz="2400" dirty="0"/>
              <a:t>解讀時必須觀察：色彩的相對位置： </a:t>
            </a:r>
            <a:endParaRPr lang="en-US" altLang="zh-TW" sz="2400" dirty="0"/>
          </a:p>
          <a:p>
            <a:r>
              <a:rPr lang="zh-TW" altLang="en-US" sz="2400" dirty="0">
                <a:solidFill>
                  <a:srgbClr val="7030A0"/>
                </a:solidFill>
              </a:rPr>
              <a:t>畫在「中心」通常代表目前的自我核心</a:t>
            </a:r>
            <a:r>
              <a:rPr lang="zh-TW" altLang="en-US" sz="2400" dirty="0"/>
              <a:t>；</a:t>
            </a:r>
            <a:endParaRPr lang="en-US" altLang="zh-TW" sz="2400" dirty="0"/>
          </a:p>
          <a:p>
            <a:r>
              <a:rPr lang="zh-TW" altLang="en-US" sz="2400" dirty="0"/>
              <a:t>畫在「邊緣」則代表呈現給外在世界的面貌或未來的期許。</a:t>
            </a:r>
          </a:p>
          <a:p>
            <a:r>
              <a:rPr lang="zh-TW" altLang="en-US" sz="2400" dirty="0"/>
              <a:t>創作者的個人經驗： 對長輩而言，</a:t>
            </a:r>
            <a:r>
              <a:rPr lang="zh-TW" altLang="en-US" sz="2400" dirty="0">
                <a:solidFill>
                  <a:srgbClr val="7030A0"/>
                </a:solidFill>
              </a:rPr>
              <a:t>綠色可能代表他熱愛的田園</a:t>
            </a:r>
            <a:r>
              <a:rPr lang="zh-TW" altLang="en-US" sz="2400" dirty="0"/>
              <a:t>，而非單純的心理療癒。</a:t>
            </a:r>
          </a:p>
          <a:p>
            <a:r>
              <a:rPr lang="zh-TW" altLang="en-US" sz="2400" dirty="0"/>
              <a:t>因此，最準確的定義永遠來自創作者本人的直覺與聯想。</a:t>
            </a:r>
          </a:p>
        </p:txBody>
      </p:sp>
    </p:spTree>
    <p:extLst>
      <p:ext uri="{BB962C8B-B14F-4D97-AF65-F5344CB8AC3E}">
        <p14:creationId xmlns:p14="http://schemas.microsoft.com/office/powerpoint/2010/main" val="3077989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>
            <a:normAutofit/>
          </a:bodyPr>
          <a:lstStyle/>
          <a:p>
            <a:r>
              <a:rPr lang="zh-TW" altLang="en-US" sz="2400" dirty="0"/>
              <a:t>單元二：曼陀羅基礎技法與試作（</a:t>
            </a:r>
            <a:r>
              <a:rPr lang="en-US" altLang="zh-TW" sz="2400" dirty="0"/>
              <a:t>60</a:t>
            </a:r>
            <a:r>
              <a:rPr lang="zh-TW" altLang="en-US" sz="2400" dirty="0"/>
              <a:t>分鐘）「繽紛五感曼陀羅」實作體驗</a:t>
            </a:r>
          </a:p>
        </p:txBody>
      </p:sp>
      <p:sp>
        <p:nvSpPr>
          <p:cNvPr id="3" name="矩形 2"/>
          <p:cNvSpPr/>
          <p:nvPr/>
        </p:nvSpPr>
        <p:spPr>
          <a:xfrm>
            <a:off x="838200" y="2045110"/>
            <a:ext cx="11048999" cy="3970318"/>
          </a:xfrm>
          <a:prstGeom prst="rect">
            <a:avLst/>
          </a:prstGeom>
          <a:gradFill>
            <a:gsLst>
              <a:gs pos="11000">
                <a:srgbClr val="86C8C8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 wrap="square">
            <a:spAutoFit/>
          </a:bodyPr>
          <a:lstStyle/>
          <a:p>
            <a:r>
              <a:rPr lang="zh-TW" altLang="en-US" sz="3600" dirty="0"/>
              <a:t>透過</a:t>
            </a:r>
            <a:endParaRPr lang="en-US" altLang="zh-TW" sz="3600" dirty="0"/>
          </a:p>
          <a:p>
            <a:r>
              <a:rPr lang="en-US" altLang="zh-TW" sz="3600" dirty="0"/>
              <a:t>1</a:t>
            </a:r>
            <a:r>
              <a:rPr lang="zh-TW" altLang="en-US" sz="3600" dirty="0"/>
              <a:t>、</a:t>
            </a:r>
            <a:r>
              <a:rPr lang="zh-TW" altLang="en-US" sz="3600" dirty="0">
                <a:solidFill>
                  <a:srgbClr val="7030A0"/>
                </a:solidFill>
              </a:rPr>
              <a:t>視覺</a:t>
            </a:r>
            <a:r>
              <a:rPr lang="zh-TW" altLang="en-US" sz="3600" dirty="0"/>
              <a:t>色彩選擇</a:t>
            </a:r>
            <a:r>
              <a:rPr lang="en-US" altLang="zh-TW" sz="3600" dirty="0"/>
              <a:t>2</a:t>
            </a:r>
            <a:r>
              <a:rPr lang="zh-TW" altLang="en-US" sz="3600" dirty="0"/>
              <a:t> 、</a:t>
            </a:r>
            <a:r>
              <a:rPr lang="zh-TW" altLang="en-US" sz="3600" dirty="0">
                <a:solidFill>
                  <a:srgbClr val="7030A0"/>
                </a:solidFill>
              </a:rPr>
              <a:t>聽覺</a:t>
            </a:r>
            <a:r>
              <a:rPr lang="zh-TW" altLang="en-US" sz="3600" dirty="0"/>
              <a:t>音樂引導</a:t>
            </a:r>
            <a:r>
              <a:rPr lang="en-US" altLang="zh-TW" sz="3600" dirty="0"/>
              <a:t>3</a:t>
            </a:r>
            <a:r>
              <a:rPr lang="zh-TW" altLang="en-US" sz="3600" dirty="0"/>
              <a:t> 、</a:t>
            </a:r>
            <a:r>
              <a:rPr lang="zh-TW" altLang="en-US" sz="3600" dirty="0">
                <a:solidFill>
                  <a:srgbClr val="7030A0"/>
                </a:solidFill>
              </a:rPr>
              <a:t>嗅覺</a:t>
            </a:r>
            <a:r>
              <a:rPr lang="zh-TW" altLang="en-US" sz="3600" dirty="0"/>
              <a:t>精油輔助以及</a:t>
            </a:r>
            <a:r>
              <a:rPr lang="en-US" altLang="zh-TW" sz="3600" dirty="0"/>
              <a:t>4</a:t>
            </a:r>
            <a:r>
              <a:rPr lang="zh-TW" altLang="en-US" sz="3600" dirty="0"/>
              <a:t> 、</a:t>
            </a:r>
            <a:r>
              <a:rPr lang="zh-TW" altLang="en-US" sz="3600" dirty="0">
                <a:solidFill>
                  <a:srgbClr val="7030A0"/>
                </a:solidFill>
              </a:rPr>
              <a:t>心感</a:t>
            </a:r>
            <a:r>
              <a:rPr lang="zh-TW" altLang="en-US" sz="3600" dirty="0"/>
              <a:t>的內在覺察</a:t>
            </a:r>
            <a:r>
              <a:rPr lang="en-US" altLang="zh-TW" sz="3600" dirty="0"/>
              <a:t>5</a:t>
            </a:r>
            <a:r>
              <a:rPr lang="zh-TW" altLang="en-US" sz="3600" dirty="0"/>
              <a:t> 、</a:t>
            </a:r>
            <a:r>
              <a:rPr lang="zh-TW" altLang="en-US" sz="3600" dirty="0">
                <a:solidFill>
                  <a:srgbClr val="7030A0"/>
                </a:solidFill>
              </a:rPr>
              <a:t>觸覺</a:t>
            </a:r>
            <a:r>
              <a:rPr lang="zh-TW" altLang="en-US" sz="3600" dirty="0"/>
              <a:t>引領學員進入專注創作的流動狀態。</a:t>
            </a:r>
          </a:p>
          <a:p>
            <a:r>
              <a:rPr lang="zh-TW" altLang="en-US" sz="3600" dirty="0"/>
              <a:t>學員將完成個人化的曼陀羅書籤作品，並學習如何將此技法應用於長照實務中，提升照護品質與服務對象的生活福祉。</a:t>
            </a:r>
          </a:p>
        </p:txBody>
      </p:sp>
    </p:spTree>
    <p:extLst>
      <p:ext uri="{BB962C8B-B14F-4D97-AF65-F5344CB8AC3E}">
        <p14:creationId xmlns:p14="http://schemas.microsoft.com/office/powerpoint/2010/main" val="1725242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06478"/>
            <a:ext cx="10515600" cy="1052052"/>
          </a:xfr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/>
          <a:lstStyle/>
          <a:p>
            <a:r>
              <a:rPr lang="en-US" altLang="zh-TW" dirty="0"/>
              <a:t>1</a:t>
            </a:r>
            <a:r>
              <a:rPr lang="zh-TW" altLang="en-US" dirty="0"/>
              <a:t>、</a:t>
            </a:r>
            <a:r>
              <a:rPr lang="zh-TW" altLang="en-US" dirty="0">
                <a:solidFill>
                  <a:srgbClr val="7030A0"/>
                </a:solidFill>
              </a:rPr>
              <a:t>視覺</a:t>
            </a:r>
            <a:r>
              <a:rPr lang="zh-TW" altLang="en-US" dirty="0"/>
              <a:t>色彩選擇～壓克力顏料</a:t>
            </a:r>
            <a:endParaRPr lang="zh-TW" altLang="en-US" i="1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sz="half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838200" y="1403427"/>
            <a:ext cx="4252133" cy="2391825"/>
          </a:xfrm>
        </p:spPr>
      </p:pic>
      <p:pic>
        <p:nvPicPr>
          <p:cNvPr id="6" name="內容版面配置區 5"/>
          <p:cNvPicPr>
            <a:picLocks noGrp="1" noChangeAspect="1"/>
          </p:cNvPicPr>
          <p:nvPr>
            <p:ph sz="half" idx="2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75" r="6099" b="15870"/>
          <a:stretch/>
        </p:blipFill>
        <p:spPr>
          <a:xfrm>
            <a:off x="1431680" y="3940149"/>
            <a:ext cx="3065172" cy="3126658"/>
          </a:xfr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8748" y="2310581"/>
            <a:ext cx="6651087" cy="3829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788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414" y="1825625"/>
            <a:ext cx="4593047" cy="4830814"/>
          </a:xfrm>
        </p:spPr>
      </p:pic>
      <p:pic>
        <p:nvPicPr>
          <p:cNvPr id="6" name="內容版面配置區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113" y="1825624"/>
            <a:ext cx="4540655" cy="4852413"/>
          </a:xfrm>
        </p:spPr>
      </p:pic>
    </p:spTree>
    <p:extLst>
      <p:ext uri="{BB962C8B-B14F-4D97-AF65-F5344CB8AC3E}">
        <p14:creationId xmlns:p14="http://schemas.microsoft.com/office/powerpoint/2010/main" val="3494117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/>
          <a:lstStyle/>
          <a:p>
            <a:r>
              <a:rPr lang="en-US" altLang="zh-TW" dirty="0"/>
              <a:t>2</a:t>
            </a:r>
            <a:r>
              <a:rPr lang="zh-TW" altLang="en-US" dirty="0"/>
              <a:t> 、</a:t>
            </a:r>
            <a:r>
              <a:rPr lang="zh-TW" altLang="en-US" dirty="0">
                <a:solidFill>
                  <a:srgbClr val="7030A0"/>
                </a:solidFill>
              </a:rPr>
              <a:t>聽覺</a:t>
            </a:r>
            <a:r>
              <a:rPr lang="zh-TW" altLang="en-US" dirty="0"/>
              <a:t>音樂引導～頌缽音樂冥想</a:t>
            </a: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3" y="2799905"/>
            <a:ext cx="5641807" cy="3237102"/>
          </a:xfrm>
        </p:spPr>
      </p:pic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311877" cy="4909472"/>
          </a:xfrm>
          <a:solidFill>
            <a:srgbClr val="CCFFCC"/>
          </a:solidFill>
        </p:spPr>
        <p:txBody>
          <a:bodyPr/>
          <a:lstStyle/>
          <a:p>
            <a:r>
              <a:rPr lang="zh-TW" altLang="en-US" dirty="0"/>
              <a:t>古老的音頻共振與靜心冥想，能繞過理性思考，讓腦波迅速從活躍的 </a:t>
            </a:r>
            <a:r>
              <a:rPr lang="en-US" altLang="zh-TW" dirty="0"/>
              <a:t>Beta </a:t>
            </a:r>
            <a:r>
              <a:rPr lang="zh-TW" altLang="en-US" dirty="0"/>
              <a:t>波轉為深度放鬆的 </a:t>
            </a:r>
            <a:r>
              <a:rPr lang="en-US" altLang="zh-TW" dirty="0"/>
              <a:t>Alpha </a:t>
            </a:r>
            <a:r>
              <a:rPr lang="zh-TW" altLang="en-US" dirty="0"/>
              <a:t>波 與 </a:t>
            </a:r>
            <a:r>
              <a:rPr lang="en-US" altLang="zh-TW" dirty="0"/>
              <a:t>Theta </a:t>
            </a:r>
            <a:r>
              <a:rPr lang="zh-TW" altLang="en-US" dirty="0"/>
              <a:t>波。</a:t>
            </a:r>
          </a:p>
          <a:p>
            <a:r>
              <a:rPr lang="zh-TW" altLang="en-US" dirty="0"/>
              <a:t>可以這能有效舒緩壓力焦慮、改善睡眠品質、深度放鬆身心，並活化身體的自癒能力。</a:t>
            </a:r>
          </a:p>
        </p:txBody>
      </p:sp>
    </p:spTree>
    <p:extLst>
      <p:ext uri="{BB962C8B-B14F-4D97-AF65-F5344CB8AC3E}">
        <p14:creationId xmlns:p14="http://schemas.microsoft.com/office/powerpoint/2010/main" val="3646578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86581" y="157317"/>
            <a:ext cx="10500851" cy="983226"/>
          </a:xfr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altLang="zh-TW" dirty="0"/>
              <a:t>3</a:t>
            </a:r>
            <a:r>
              <a:rPr lang="zh-TW" altLang="en-US" dirty="0"/>
              <a:t>～（</a:t>
            </a:r>
            <a:r>
              <a:rPr lang="en-US" altLang="zh-TW" dirty="0"/>
              <a:t>1</a:t>
            </a:r>
            <a:r>
              <a:rPr lang="zh-TW" altLang="en-US" dirty="0"/>
              <a:t>）、</a:t>
            </a:r>
            <a:r>
              <a:rPr lang="zh-TW" altLang="en-US" sz="3600" dirty="0">
                <a:solidFill>
                  <a:srgbClr val="7030A0"/>
                </a:solidFill>
              </a:rPr>
              <a:t>嗅覺</a:t>
            </a:r>
            <a:r>
              <a:rPr lang="zh-TW" altLang="en-US" sz="3600" dirty="0"/>
              <a:t>呼吸引導</a:t>
            </a:r>
            <a:r>
              <a:rPr lang="zh-TW" altLang="en-US" dirty="0"/>
              <a:t>～</a:t>
            </a:r>
            <a:r>
              <a:rPr lang="zh-TW" altLang="en-US" sz="2700" dirty="0">
                <a:solidFill>
                  <a:prstClr val="black"/>
                </a:solidFill>
                <a:latin typeface="Calibri" panose="020F0502020204030204"/>
                <a:cs typeface="+mn-cs"/>
              </a:rPr>
              <a:t>將精油嗅覺呼吸引導（正念呼吸、身心雙重療愈）</a:t>
            </a:r>
            <a:br>
              <a:rPr lang="zh-TW" altLang="en-US" sz="2700" dirty="0">
                <a:solidFill>
                  <a:prstClr val="black"/>
                </a:solidFill>
                <a:latin typeface="Calibri" panose="020F0502020204030204"/>
                <a:cs typeface="+mn-cs"/>
              </a:rPr>
            </a:br>
            <a:endParaRPr lang="zh-TW" altLang="en-US" sz="2700" dirty="0"/>
          </a:p>
        </p:txBody>
      </p:sp>
      <p:sp>
        <p:nvSpPr>
          <p:cNvPr id="3" name="矩形 2"/>
          <p:cNvSpPr/>
          <p:nvPr/>
        </p:nvSpPr>
        <p:spPr>
          <a:xfrm>
            <a:off x="442452" y="1258530"/>
            <a:ext cx="11749547" cy="5809292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zh-TW" altLang="en-US" sz="2400" dirty="0"/>
              <a:t>嗅覺是唯一不經過視丘、直接刺激大腦大腦邊緣系統（情緒與記憶中心）的感官，對長照患者與家屬能帶來立竿見影的效益。</a:t>
            </a:r>
            <a:endParaRPr lang="en-US" altLang="zh-TW" sz="2400" dirty="0"/>
          </a:p>
          <a:p>
            <a:r>
              <a:rPr lang="zh-TW" altLang="en-US" sz="2400" dirty="0">
                <a:solidFill>
                  <a:srgbClr val="7030A0"/>
                </a:solidFill>
              </a:rPr>
              <a:t>對長照患者（長輩）的好處</a:t>
            </a:r>
            <a:endParaRPr lang="en-US" altLang="zh-TW" sz="2400" dirty="0">
              <a:solidFill>
                <a:srgbClr val="7030A0"/>
              </a:solidFill>
            </a:endParaRPr>
          </a:p>
          <a:p>
            <a:r>
              <a:rPr lang="en-US" altLang="zh-TW" sz="2400" dirty="0"/>
              <a:t>1`</a:t>
            </a:r>
            <a:r>
              <a:rPr lang="zh-TW" altLang="en-US" sz="2400" dirty="0"/>
              <a:t>能激發生命記憶（懷舊療癒）：</a:t>
            </a:r>
            <a:endParaRPr lang="en-US" altLang="zh-TW" sz="2400" dirty="0"/>
          </a:p>
          <a:p>
            <a:r>
              <a:rPr lang="zh-TW" altLang="en-US" sz="2400" dirty="0"/>
              <a:t> 嗅覺能瞬間喚醒深層記憶。例如</a:t>
            </a:r>
            <a:r>
              <a:rPr lang="zh-TW" altLang="en-US" sz="2400" dirty="0">
                <a:solidFill>
                  <a:schemeClr val="accent2">
                    <a:lumMod val="75000"/>
                  </a:schemeClr>
                </a:solidFill>
              </a:rPr>
              <a:t>檜木或柑橘清香</a:t>
            </a:r>
            <a:r>
              <a:rPr lang="zh-TW" altLang="en-US" sz="2400" dirty="0"/>
              <a:t>，能引導長輩聯想到森林或廚房記憶，誘發繪畫創作的靈感與表達欲。</a:t>
            </a:r>
          </a:p>
          <a:p>
            <a:r>
              <a:rPr lang="en-US" altLang="zh-TW" sz="2400" dirty="0"/>
              <a:t>2</a:t>
            </a:r>
            <a:r>
              <a:rPr lang="zh-TW" altLang="en-US" sz="2400" dirty="0"/>
              <a:t>ˋ改善精神行為症狀（</a:t>
            </a:r>
            <a:r>
              <a:rPr lang="en-US" altLang="zh-TW" sz="2400" dirty="0"/>
              <a:t>BPSD</a:t>
            </a:r>
            <a:r>
              <a:rPr lang="zh-TW" altLang="en-US" sz="2400" dirty="0"/>
              <a:t>）： </a:t>
            </a:r>
          </a:p>
          <a:p>
            <a:r>
              <a:rPr lang="zh-TW" altLang="en-US" sz="2400" dirty="0">
                <a:solidFill>
                  <a:schemeClr val="accent2">
                    <a:lumMod val="75000"/>
                  </a:schemeClr>
                </a:solidFill>
              </a:rPr>
              <a:t>薰衣草、佛手柑</a:t>
            </a:r>
            <a:r>
              <a:rPr lang="zh-TW" altLang="en-US" sz="2400" dirty="0"/>
              <a:t>等精油結合深呼吸，能激活副交感神經，有效緩解失智長者的躁動、游走、日落症候群與無故焦慮。</a:t>
            </a:r>
          </a:p>
          <a:p>
            <a:r>
              <a:rPr lang="en-US" altLang="zh-TW" sz="2400" dirty="0"/>
              <a:t>3`</a:t>
            </a:r>
            <a:r>
              <a:rPr lang="zh-TW" altLang="en-US" sz="2400" dirty="0"/>
              <a:t>提升呼吸順暢度與含氧量： </a:t>
            </a:r>
          </a:p>
          <a:p>
            <a:r>
              <a:rPr lang="zh-TW" altLang="en-US" sz="2400" dirty="0"/>
              <a:t>透過</a:t>
            </a:r>
            <a:r>
              <a:rPr lang="zh-TW" altLang="en-US" sz="2400" dirty="0">
                <a:solidFill>
                  <a:schemeClr val="accent2">
                    <a:lumMod val="75000"/>
                  </a:schemeClr>
                </a:solidFill>
              </a:rPr>
              <a:t>尤加利或薄荷</a:t>
            </a:r>
            <a:r>
              <a:rPr lang="zh-TW" altLang="en-US" sz="2400" dirty="0"/>
              <a:t>等精油進行呼吸引導，能幫助長期臥床的長輩擴張胸腔、促進血液循環，提升大腦灌流量。</a:t>
            </a:r>
          </a:p>
          <a:p>
            <a:r>
              <a:rPr lang="en-US" altLang="zh-TW" sz="2400" dirty="0"/>
              <a:t>4`</a:t>
            </a:r>
            <a:r>
              <a:rPr lang="zh-TW" altLang="en-US" sz="2400" dirty="0"/>
              <a:t>非侵入性的安全安撫： </a:t>
            </a:r>
          </a:p>
          <a:p>
            <a:r>
              <a:rPr lang="zh-TW" altLang="en-US" sz="2400" dirty="0"/>
              <a:t>對於無法言語或肢體僵硬的長者，氣味引導不需要耗費體力，能提供最溫和、無壓力的撫慰與安全感。</a:t>
            </a:r>
          </a:p>
        </p:txBody>
      </p:sp>
    </p:spTree>
    <p:extLst>
      <p:ext uri="{BB962C8B-B14F-4D97-AF65-F5344CB8AC3E}">
        <p14:creationId xmlns:p14="http://schemas.microsoft.com/office/powerpoint/2010/main" val="560078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9768" y="186813"/>
            <a:ext cx="10982632" cy="1022555"/>
          </a:xfr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prstClr val="black"/>
                </a:solidFill>
              </a:rPr>
              <a:t>3</a:t>
            </a:r>
            <a:r>
              <a:rPr lang="zh-TW" altLang="en-US" sz="2200" dirty="0">
                <a:solidFill>
                  <a:prstClr val="black"/>
                </a:solidFill>
              </a:rPr>
              <a:t>～（</a:t>
            </a:r>
            <a:r>
              <a:rPr lang="en-US" altLang="zh-TW" sz="2200" dirty="0">
                <a:solidFill>
                  <a:prstClr val="black"/>
                </a:solidFill>
              </a:rPr>
              <a:t>2</a:t>
            </a:r>
            <a:r>
              <a:rPr lang="zh-TW" altLang="en-US" sz="2200" dirty="0">
                <a:solidFill>
                  <a:prstClr val="black"/>
                </a:solidFill>
              </a:rPr>
              <a:t>）、</a:t>
            </a:r>
            <a:r>
              <a:rPr lang="zh-TW" altLang="en-US" sz="2200" dirty="0">
                <a:solidFill>
                  <a:srgbClr val="7030A0"/>
                </a:solidFill>
              </a:rPr>
              <a:t>嗅覺</a:t>
            </a:r>
            <a:r>
              <a:rPr lang="zh-TW" altLang="en-US" sz="2200" dirty="0">
                <a:solidFill>
                  <a:prstClr val="black"/>
                </a:solidFill>
              </a:rPr>
              <a:t>呼吸引導～</a:t>
            </a:r>
            <a:r>
              <a:rPr lang="zh-TW" altLang="en-US" sz="2200" dirty="0">
                <a:solidFill>
                  <a:prstClr val="black"/>
                </a:solidFill>
                <a:latin typeface="Calibri" panose="020F0502020204030204"/>
              </a:rPr>
              <a:t>將精油嗅覺呼吸引導（正念呼吸、身心雙重療育）</a:t>
            </a:r>
            <a:br>
              <a:rPr lang="zh-TW" altLang="en-US" sz="2400" dirty="0">
                <a:solidFill>
                  <a:prstClr val="black"/>
                </a:solidFill>
                <a:latin typeface="Calibri" panose="020F0502020204030204"/>
              </a:rPr>
            </a:b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373626" y="1130710"/>
            <a:ext cx="11366090" cy="5632311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lvl="0"/>
            <a:r>
              <a:rPr lang="zh-TW" altLang="en-US" sz="2400" dirty="0">
                <a:solidFill>
                  <a:srgbClr val="7030A0"/>
                </a:solidFill>
              </a:rPr>
              <a:t>對長照家屬（照顧者）的好處</a:t>
            </a:r>
          </a:p>
          <a:p>
            <a:pPr lvl="0"/>
            <a:r>
              <a:rPr lang="en-US" altLang="zh-TW" sz="2400" dirty="0">
                <a:solidFill>
                  <a:prstClr val="black"/>
                </a:solidFill>
              </a:rPr>
              <a:t>1`</a:t>
            </a:r>
            <a:r>
              <a:rPr lang="zh-TW" altLang="en-US" sz="2400" dirty="0">
                <a:solidFill>
                  <a:prstClr val="black"/>
                </a:solidFill>
              </a:rPr>
              <a:t>即時抽離高壓環境</a:t>
            </a:r>
            <a:r>
              <a:rPr lang="zh-TW" altLang="en-US" sz="2400" dirty="0">
                <a:solidFill>
                  <a:srgbClr val="00B0F0"/>
                </a:solidFill>
              </a:rPr>
              <a:t>（快速減壓）</a:t>
            </a:r>
            <a:r>
              <a:rPr lang="zh-TW" altLang="en-US" sz="2400" dirty="0">
                <a:solidFill>
                  <a:prstClr val="black"/>
                </a:solidFill>
              </a:rPr>
              <a:t>： </a:t>
            </a:r>
          </a:p>
          <a:p>
            <a:pPr lvl="0"/>
            <a:r>
              <a:rPr lang="zh-TW" altLang="en-US" sz="2400" dirty="0">
                <a:solidFill>
                  <a:prstClr val="black"/>
                </a:solidFill>
              </a:rPr>
              <a:t>照顧者常處於慢性疲勞與神經緊繃狀態。</a:t>
            </a:r>
          </a:p>
          <a:p>
            <a:pPr lvl="0"/>
            <a:r>
              <a:rPr lang="zh-TW" altLang="en-US" sz="2400" dirty="0">
                <a:solidFill>
                  <a:prstClr val="black"/>
                </a:solidFill>
              </a:rPr>
              <a:t>透過幾分鐘的精油深呼吸，能快速降低皮質醇（壓力荷爾蒙），</a:t>
            </a:r>
            <a:r>
              <a:rPr lang="zh-TW" altLang="en-US" sz="2400" dirty="0">
                <a:solidFill>
                  <a:srgbClr val="00B0F0"/>
                </a:solidFill>
              </a:rPr>
              <a:t>讓大腦按下暫停鍵</a:t>
            </a:r>
            <a:r>
              <a:rPr lang="zh-TW" altLang="en-US" sz="2400" dirty="0">
                <a:solidFill>
                  <a:prstClr val="black"/>
                </a:solidFill>
              </a:rPr>
              <a:t>。</a:t>
            </a:r>
            <a:endParaRPr lang="en-US" altLang="zh-TW" sz="2400" dirty="0">
              <a:solidFill>
                <a:prstClr val="black"/>
              </a:solidFill>
            </a:endParaRPr>
          </a:p>
          <a:p>
            <a:pPr lvl="0"/>
            <a:r>
              <a:rPr lang="en-US" altLang="zh-TW" sz="2400" dirty="0">
                <a:solidFill>
                  <a:prstClr val="black"/>
                </a:solidFill>
              </a:rPr>
              <a:t>2`</a:t>
            </a:r>
            <a:r>
              <a:rPr lang="zh-TW" altLang="en-US" sz="2400" dirty="0">
                <a:solidFill>
                  <a:prstClr val="black"/>
                </a:solidFill>
              </a:rPr>
              <a:t>改善睡眠品質： </a:t>
            </a:r>
          </a:p>
          <a:p>
            <a:pPr lvl="0"/>
            <a:r>
              <a:rPr lang="zh-TW" altLang="en-US" sz="2400" dirty="0">
                <a:solidFill>
                  <a:prstClr val="black"/>
                </a:solidFill>
              </a:rPr>
              <a:t>長期照顧往往伴隨睡眠中斷。</a:t>
            </a:r>
          </a:p>
          <a:p>
            <a:pPr lvl="0"/>
            <a:r>
              <a:rPr lang="zh-TW" altLang="en-US" sz="2400" dirty="0">
                <a:solidFill>
                  <a:prstClr val="black"/>
                </a:solidFill>
              </a:rPr>
              <a:t>在夜間或休息時進行芳香呼吸，能引導大腦進入放鬆波，</a:t>
            </a:r>
            <a:r>
              <a:rPr lang="zh-TW" altLang="en-US" sz="2400" dirty="0">
                <a:solidFill>
                  <a:srgbClr val="00B0F0"/>
                </a:solidFill>
              </a:rPr>
              <a:t>緩解神經性失眠與焦慮</a:t>
            </a:r>
            <a:r>
              <a:rPr lang="zh-TW" altLang="en-US" sz="2400" dirty="0">
                <a:solidFill>
                  <a:prstClr val="black"/>
                </a:solidFill>
              </a:rPr>
              <a:t>。</a:t>
            </a:r>
          </a:p>
          <a:p>
            <a:pPr lvl="0"/>
            <a:r>
              <a:rPr lang="en-US" altLang="zh-TW" sz="2400" dirty="0">
                <a:solidFill>
                  <a:prstClr val="black"/>
                </a:solidFill>
              </a:rPr>
              <a:t>3`</a:t>
            </a:r>
            <a:r>
              <a:rPr lang="zh-TW" altLang="en-US" sz="2400" dirty="0">
                <a:solidFill>
                  <a:prstClr val="black"/>
                </a:solidFill>
              </a:rPr>
              <a:t>轉化負面情緒與罪惡感： </a:t>
            </a:r>
          </a:p>
          <a:p>
            <a:pPr lvl="0"/>
            <a:r>
              <a:rPr lang="zh-TW" altLang="en-US" sz="2400" dirty="0">
                <a:solidFill>
                  <a:prstClr val="black"/>
                </a:solidFill>
              </a:rPr>
              <a:t>照顧過程中難免產生挫折與憤怒。</a:t>
            </a:r>
          </a:p>
          <a:p>
            <a:pPr lvl="0"/>
            <a:r>
              <a:rPr lang="zh-TW" altLang="en-US" sz="2400" dirty="0">
                <a:solidFill>
                  <a:srgbClr val="ED7D31">
                    <a:lumMod val="75000"/>
                  </a:srgbClr>
                </a:solidFill>
              </a:rPr>
              <a:t>柑橘類（如甜橙、葡萄柚</a:t>
            </a:r>
            <a:r>
              <a:rPr lang="zh-TW" altLang="en-US" sz="2400" dirty="0">
                <a:solidFill>
                  <a:prstClr val="black"/>
                </a:solidFill>
              </a:rPr>
              <a:t>）能帶來陽光般的能量，重塑正向情緒，減少照顧憂鬱。</a:t>
            </a:r>
          </a:p>
          <a:p>
            <a:pPr lvl="0"/>
            <a:r>
              <a:rPr lang="zh-TW" altLang="en-US" sz="2400" dirty="0">
                <a:solidFill>
                  <a:prstClr val="black"/>
                </a:solidFill>
              </a:rPr>
              <a:t>雙方共同的隱形好處：</a:t>
            </a:r>
          </a:p>
          <a:p>
            <a:pPr lvl="0"/>
            <a:r>
              <a:rPr lang="zh-TW" altLang="en-US" sz="2400" dirty="0">
                <a:solidFill>
                  <a:prstClr val="black"/>
                </a:solidFill>
              </a:rPr>
              <a:t>重建愛的連結當家屬與長輩「同時」身處在同一個和諧的香氣與呼吸引導中，</a:t>
            </a:r>
            <a:r>
              <a:rPr lang="zh-TW" altLang="en-US" sz="2400" dirty="0">
                <a:solidFill>
                  <a:srgbClr val="00B0F0"/>
                </a:solidFill>
              </a:rPr>
              <a:t>原本緊繃的「照顧與被照顧」關係會轉化為共同體驗的「陪伴」</a:t>
            </a:r>
            <a:r>
              <a:rPr lang="zh-TW" altLang="en-US" sz="2400" dirty="0">
                <a:solidFill>
                  <a:prstClr val="black"/>
                </a:solidFill>
              </a:rPr>
              <a:t>。</a:t>
            </a:r>
          </a:p>
          <a:p>
            <a:pPr lvl="0"/>
            <a:r>
              <a:rPr lang="zh-TW" altLang="en-US" sz="2400" dirty="0">
                <a:solidFill>
                  <a:prstClr val="black"/>
                </a:solidFill>
              </a:rPr>
              <a:t>這能營造一個高度安心的氛圍，非常適合在呼吸放鬆後，順暢地過渡到曼陀羅的繪畫創作中。</a:t>
            </a:r>
          </a:p>
        </p:txBody>
      </p:sp>
    </p:spTree>
    <p:extLst>
      <p:ext uri="{BB962C8B-B14F-4D97-AF65-F5344CB8AC3E}">
        <p14:creationId xmlns:p14="http://schemas.microsoft.com/office/powerpoint/2010/main" val="1862507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14632" y="147485"/>
            <a:ext cx="11582400" cy="1288026"/>
          </a:xfr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>
            <a:normAutofit/>
          </a:bodyPr>
          <a:lstStyle/>
          <a:p>
            <a:r>
              <a:rPr lang="en-US" altLang="zh-TW" sz="2800" dirty="0"/>
              <a:t>4</a:t>
            </a:r>
            <a:r>
              <a:rPr lang="zh-TW" altLang="en-US" sz="2800" dirty="0"/>
              <a:t> ╴</a:t>
            </a:r>
            <a:r>
              <a:rPr lang="en-US" altLang="zh-TW" sz="2800" dirty="0"/>
              <a:t>1</a:t>
            </a:r>
            <a:r>
              <a:rPr lang="zh-TW" altLang="en-US" sz="2800" dirty="0"/>
              <a:t>、</a:t>
            </a:r>
            <a:r>
              <a:rPr lang="zh-TW" altLang="en-US" sz="2800" dirty="0">
                <a:solidFill>
                  <a:srgbClr val="7030A0"/>
                </a:solidFill>
              </a:rPr>
              <a:t>心感</a:t>
            </a:r>
            <a:r>
              <a:rPr lang="zh-TW" altLang="en-US" sz="2800" dirty="0"/>
              <a:t>的內在覺察～能夠強烈且深刻地引發長照患者（長輩）與家屬彼此的</a:t>
            </a:r>
            <a:r>
              <a:rPr lang="zh-TW" altLang="en-US" sz="2800" dirty="0">
                <a:solidFill>
                  <a:srgbClr val="7030A0"/>
                </a:solidFill>
              </a:rPr>
              <a:t>內在覺察</a:t>
            </a:r>
            <a:r>
              <a:rPr lang="zh-TW" altLang="en-US" sz="2800" dirty="0"/>
              <a:t>。</a:t>
            </a:r>
          </a:p>
        </p:txBody>
      </p:sp>
      <p:sp>
        <p:nvSpPr>
          <p:cNvPr id="3" name="矩形 2"/>
          <p:cNvSpPr/>
          <p:nvPr/>
        </p:nvSpPr>
        <p:spPr>
          <a:xfrm>
            <a:off x="206477" y="1582342"/>
            <a:ext cx="11690555" cy="5262979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zh-TW" altLang="en-US" sz="2800" dirty="0">
                <a:solidFill>
                  <a:schemeClr val="accent2">
                    <a:lumMod val="75000"/>
                  </a:schemeClr>
                </a:solidFill>
              </a:rPr>
              <a:t>對於家屬（照顧者）的內在覺察</a:t>
            </a:r>
            <a:r>
              <a:rPr lang="zh-TW" altLang="en-US" sz="2800" dirty="0"/>
              <a:t>：</a:t>
            </a:r>
            <a:endParaRPr lang="en-US" altLang="zh-TW" sz="2800" dirty="0"/>
          </a:p>
          <a:p>
            <a:r>
              <a:rPr lang="zh-TW" altLang="en-US" sz="2800" dirty="0"/>
              <a:t>從「外在承擔」回到</a:t>
            </a:r>
            <a:r>
              <a:rPr lang="zh-TW" altLang="en-US" sz="2800" dirty="0">
                <a:solidFill>
                  <a:srgbClr val="7030A0"/>
                </a:solidFill>
              </a:rPr>
              <a:t>「自我陪伴」</a:t>
            </a:r>
            <a:r>
              <a:rPr lang="zh-TW" altLang="en-US" sz="2800" dirty="0"/>
              <a:t>長照家屬的日常核心往往卡在「長輩需要什麼」，完全壓抑了自我。</a:t>
            </a:r>
          </a:p>
          <a:p>
            <a:r>
              <a:rPr lang="zh-TW" altLang="en-US" sz="2800" dirty="0"/>
              <a:t>覺察身體的緊繃： 在精油呼吸引導的當下，氣味會強迫家屬將注意力從長輩身上</a:t>
            </a:r>
            <a:r>
              <a:rPr lang="zh-TW" altLang="en-US" sz="2800" dirty="0">
                <a:solidFill>
                  <a:srgbClr val="7030A0"/>
                </a:solidFill>
              </a:rPr>
              <a:t>移回自己</a:t>
            </a:r>
            <a:r>
              <a:rPr lang="zh-TW" altLang="en-US" sz="2800" dirty="0"/>
              <a:t>。</a:t>
            </a:r>
          </a:p>
          <a:p>
            <a:r>
              <a:rPr lang="zh-TW" altLang="en-US" sz="2800" dirty="0"/>
              <a:t>他們會在深呼吸中突然驚覺：「原來我的肩膀這麼緊、呼吸這麼淺。」</a:t>
            </a:r>
          </a:p>
          <a:p>
            <a:r>
              <a:rPr lang="zh-TW" altLang="en-US" sz="2800" dirty="0"/>
              <a:t>進而覺察到自己累積的長期疲憊。</a:t>
            </a:r>
          </a:p>
          <a:p>
            <a:r>
              <a:rPr lang="zh-TW" altLang="en-US" sz="2800" dirty="0">
                <a:solidFill>
                  <a:srgbClr val="00B0F0"/>
                </a:solidFill>
              </a:rPr>
              <a:t>看見被壓抑的情緒陰影</a:t>
            </a:r>
            <a:r>
              <a:rPr lang="zh-TW" altLang="en-US" sz="2800" dirty="0"/>
              <a:t>： </a:t>
            </a:r>
          </a:p>
          <a:p>
            <a:r>
              <a:rPr lang="zh-TW" altLang="en-US" sz="2800" dirty="0"/>
              <a:t>在隨後的曼陀羅繪畫中，家屬可能會自發性地畫出混亂的線條、或選用大面積的灰色與黑色。</a:t>
            </a:r>
          </a:p>
          <a:p>
            <a:r>
              <a:rPr lang="zh-TW" altLang="en-US" sz="2800" dirty="0"/>
              <a:t>這面畫紙就像心靈的鏡子，讓家屬坦然面對並看見自己內心深處的挫折、憤怒或愧疚感。</a:t>
            </a:r>
          </a:p>
        </p:txBody>
      </p:sp>
    </p:spTree>
    <p:extLst>
      <p:ext uri="{BB962C8B-B14F-4D97-AF65-F5344CB8AC3E}">
        <p14:creationId xmlns:p14="http://schemas.microsoft.com/office/powerpoint/2010/main" val="3715210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/>
          <a:lstStyle/>
          <a:p>
            <a:r>
              <a:rPr lang="en-US" altLang="zh-TW" sz="2800" dirty="0">
                <a:solidFill>
                  <a:prstClr val="black"/>
                </a:solidFill>
              </a:rPr>
              <a:t>4</a:t>
            </a:r>
            <a:r>
              <a:rPr lang="zh-TW" altLang="en-US" sz="2800" dirty="0">
                <a:solidFill>
                  <a:prstClr val="black"/>
                </a:solidFill>
              </a:rPr>
              <a:t> ╴</a:t>
            </a:r>
            <a:r>
              <a:rPr lang="en-US" altLang="zh-TW" sz="2800" dirty="0">
                <a:solidFill>
                  <a:prstClr val="black"/>
                </a:solidFill>
              </a:rPr>
              <a:t>2</a:t>
            </a:r>
            <a:r>
              <a:rPr lang="zh-TW" altLang="en-US" sz="2800" dirty="0">
                <a:solidFill>
                  <a:prstClr val="black"/>
                </a:solidFill>
              </a:rPr>
              <a:t>、</a:t>
            </a:r>
            <a:r>
              <a:rPr lang="zh-TW" altLang="en-US" sz="2800" dirty="0">
                <a:solidFill>
                  <a:srgbClr val="7030A0"/>
                </a:solidFill>
              </a:rPr>
              <a:t>心感</a:t>
            </a:r>
            <a:r>
              <a:rPr lang="zh-TW" altLang="en-US" sz="2800" dirty="0">
                <a:solidFill>
                  <a:prstClr val="black"/>
                </a:solidFill>
              </a:rPr>
              <a:t>的內在覺察～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255639" y="1690688"/>
            <a:ext cx="11592232" cy="4893647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altLang="zh-TW" sz="2400" dirty="0"/>
              <a:t>2. </a:t>
            </a:r>
            <a:r>
              <a:rPr lang="zh-TW" altLang="en-US" sz="2400" dirty="0"/>
              <a:t>對於長照患者（長輩）的內在覺察：</a:t>
            </a:r>
          </a:p>
          <a:p>
            <a:r>
              <a:rPr lang="zh-TW" altLang="en-US" sz="2400" dirty="0"/>
              <a:t>從「無能為力」到「內在價值」許多長輩因為身體退化，在生活中失去了</a:t>
            </a:r>
            <a:r>
              <a:rPr lang="zh-TW" altLang="en-US" sz="2400" dirty="0">
                <a:solidFill>
                  <a:schemeClr val="accent5">
                    <a:lumMod val="50000"/>
                  </a:schemeClr>
                </a:solidFill>
              </a:rPr>
              <a:t>掌控權與話語權。</a:t>
            </a:r>
          </a:p>
          <a:p>
            <a:r>
              <a:rPr lang="zh-TW" altLang="en-US" sz="2400" dirty="0">
                <a:solidFill>
                  <a:srgbClr val="7030A0"/>
                </a:solidFill>
              </a:rPr>
              <a:t>喚醒沉睡的自我本質</a:t>
            </a:r>
            <a:r>
              <a:rPr lang="zh-TW" altLang="en-US" sz="2400" dirty="0"/>
              <a:t>： </a:t>
            </a:r>
          </a:p>
          <a:p>
            <a:r>
              <a:rPr lang="zh-TW" altLang="en-US" sz="2400" dirty="0"/>
              <a:t>當特定的植物香氣（如泥土香、草本香）刺激大腦情緒中心時，長輩會</a:t>
            </a:r>
            <a:r>
              <a:rPr lang="zh-TW" altLang="en-US" sz="2400" dirty="0">
                <a:solidFill>
                  <a:srgbClr val="00B050"/>
                </a:solidFill>
              </a:rPr>
              <a:t>瞬間連結到生命中最有活力的歲月。</a:t>
            </a:r>
          </a:p>
          <a:p>
            <a:r>
              <a:rPr lang="zh-TW" altLang="en-US" sz="2400" dirty="0"/>
              <a:t>這能幫助他們覺察到自己不只是個「需要被照顧的病人」，而是一個擁有豐富生命故事的個體。</a:t>
            </a:r>
          </a:p>
          <a:p>
            <a:r>
              <a:rPr lang="zh-TW" altLang="en-US" sz="2400" dirty="0">
                <a:solidFill>
                  <a:srgbClr val="7030A0"/>
                </a:solidFill>
              </a:rPr>
              <a:t>透過色彩宣洩微弱的呼喊： </a:t>
            </a:r>
          </a:p>
          <a:p>
            <a:r>
              <a:rPr lang="zh-TW" altLang="en-US" sz="2400" dirty="0"/>
              <a:t>無法用言語清楚表達的長輩，</a:t>
            </a:r>
            <a:r>
              <a:rPr lang="zh-TW" altLang="en-US" sz="2400" dirty="0">
                <a:solidFill>
                  <a:srgbClr val="00B050"/>
                </a:solidFill>
              </a:rPr>
              <a:t>會透過色彩展現內心狀態</a:t>
            </a:r>
            <a:r>
              <a:rPr lang="zh-TW" altLang="en-US" sz="2400" dirty="0"/>
              <a:t>。</a:t>
            </a:r>
          </a:p>
          <a:p>
            <a:r>
              <a:rPr lang="zh-TW" altLang="en-US" sz="2400" dirty="0"/>
              <a:t>當他們在曼陀羅中央填入強烈的</a:t>
            </a:r>
            <a:r>
              <a:rPr lang="zh-TW" altLang="en-US" sz="2400" dirty="0">
                <a:solidFill>
                  <a:srgbClr val="FF0000"/>
                </a:solidFill>
              </a:rPr>
              <a:t>紅色</a:t>
            </a:r>
            <a:r>
              <a:rPr lang="zh-TW" altLang="en-US" sz="2400" dirty="0"/>
              <a:t>時，可能是在表達體內的痛楚或不滿；填入</a:t>
            </a:r>
            <a:r>
              <a:rPr lang="zh-TW" altLang="en-US" sz="2400" dirty="0">
                <a:solidFill>
                  <a:srgbClr val="0070C0"/>
                </a:solidFill>
              </a:rPr>
              <a:t>藍色</a:t>
            </a:r>
            <a:r>
              <a:rPr lang="zh-TW" altLang="en-US" sz="2400" dirty="0"/>
              <a:t>時，可能代表渴望平靜。</a:t>
            </a:r>
          </a:p>
          <a:p>
            <a:r>
              <a:rPr lang="zh-TW" altLang="en-US" sz="2400" dirty="0"/>
              <a:t>這個過程能讓長輩</a:t>
            </a:r>
            <a:r>
              <a:rPr lang="zh-TW" altLang="en-US" sz="2400" dirty="0">
                <a:solidFill>
                  <a:srgbClr val="7030A0"/>
                </a:solidFill>
              </a:rPr>
              <a:t>重新與自己的身體與心理感受產生連結</a:t>
            </a:r>
            <a:r>
              <a:rPr lang="zh-TW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340415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48929" y="98323"/>
            <a:ext cx="10704871" cy="1002891"/>
          </a:xfr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/>
          <a:lstStyle/>
          <a:p>
            <a:r>
              <a:rPr lang="en-US" altLang="zh-TW" sz="2800" dirty="0">
                <a:solidFill>
                  <a:prstClr val="black"/>
                </a:solidFill>
              </a:rPr>
              <a:t>4</a:t>
            </a:r>
            <a:r>
              <a:rPr lang="zh-TW" altLang="en-US" sz="2800" dirty="0">
                <a:solidFill>
                  <a:prstClr val="black"/>
                </a:solidFill>
              </a:rPr>
              <a:t> ╴</a:t>
            </a:r>
            <a:r>
              <a:rPr lang="en-US" altLang="zh-TW" sz="2800" dirty="0">
                <a:solidFill>
                  <a:prstClr val="black"/>
                </a:solidFill>
              </a:rPr>
              <a:t>3</a:t>
            </a:r>
            <a:r>
              <a:rPr lang="zh-TW" altLang="en-US" sz="2800" dirty="0">
                <a:solidFill>
                  <a:prstClr val="black"/>
                </a:solidFill>
              </a:rPr>
              <a:t>、</a:t>
            </a:r>
            <a:r>
              <a:rPr lang="zh-TW" altLang="en-US" sz="2800" dirty="0">
                <a:solidFill>
                  <a:srgbClr val="7030A0"/>
                </a:solidFill>
              </a:rPr>
              <a:t>心感</a:t>
            </a:r>
            <a:r>
              <a:rPr lang="zh-TW" altLang="en-US" sz="2800" dirty="0">
                <a:solidFill>
                  <a:prstClr val="black"/>
                </a:solidFill>
              </a:rPr>
              <a:t>的內在覺察～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648929" y="1278195"/>
            <a:ext cx="11071123" cy="5078313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altLang="zh-TW" sz="2400" dirty="0"/>
              <a:t>3. </a:t>
            </a:r>
            <a:r>
              <a:rPr lang="zh-TW" altLang="en-US" sz="2400" dirty="0"/>
              <a:t>雙方「彼此」的共同覺察：</a:t>
            </a:r>
          </a:p>
          <a:p>
            <a:r>
              <a:rPr lang="zh-TW" altLang="en-US" sz="2400" dirty="0"/>
              <a:t>看見關係的質變當長輩與家屬並肩坐著，聞著同一股香氣、畫著各自的曼陀羅時，會觸發一種「平行共處」的奇妙體驗。</a:t>
            </a:r>
          </a:p>
          <a:p>
            <a:endParaRPr lang="zh-TW" altLang="en-US" sz="2400" dirty="0"/>
          </a:p>
          <a:p>
            <a:r>
              <a:rPr lang="zh-TW" altLang="en-US" sz="2400" dirty="0"/>
              <a:t>看見彼此都是獨立的靈魂： </a:t>
            </a:r>
          </a:p>
          <a:p>
            <a:r>
              <a:rPr lang="zh-TW" altLang="en-US" sz="2400" dirty="0"/>
              <a:t>在作品完成後的分享（或靜默欣賞）中，家屬會驚訝地發現：</a:t>
            </a:r>
          </a:p>
          <a:p>
            <a:r>
              <a:rPr lang="zh-TW" altLang="en-US" sz="2400" dirty="0"/>
              <a:t>原來爸</a:t>
            </a:r>
            <a:r>
              <a:rPr lang="en-US" altLang="zh-TW" sz="2400" dirty="0"/>
              <a:t>/</a:t>
            </a:r>
            <a:r>
              <a:rPr lang="zh-TW" altLang="en-US" sz="2400" dirty="0"/>
              <a:t>媽心裡還渴望著這樣的色彩，他</a:t>
            </a:r>
            <a:r>
              <a:rPr lang="en-US" altLang="zh-TW" sz="2400" dirty="0"/>
              <a:t>/</a:t>
            </a:r>
            <a:r>
              <a:rPr lang="zh-TW" altLang="en-US" sz="2400" dirty="0"/>
              <a:t>她不只是個失智症患者。</a:t>
            </a:r>
          </a:p>
          <a:p>
            <a:endParaRPr lang="zh-TW" altLang="en-US" sz="2400" dirty="0"/>
          </a:p>
          <a:p>
            <a:r>
              <a:rPr lang="zh-TW" altLang="en-US" sz="2400" dirty="0"/>
              <a:t>長輩也能感受到家屬在畫紙上流露出的壓力與溫柔。</a:t>
            </a:r>
          </a:p>
          <a:p>
            <a:r>
              <a:rPr lang="zh-TW" altLang="en-US" sz="2400" dirty="0"/>
              <a:t>放下對立，轉為同理： </a:t>
            </a:r>
          </a:p>
          <a:p>
            <a:r>
              <a:rPr lang="zh-TW" altLang="en-US" sz="2400" dirty="0"/>
              <a:t>這種不帶批判的藝術空間，能讓雙方</a:t>
            </a:r>
          </a:p>
          <a:p>
            <a:endParaRPr lang="zh-TW" altLang="en-US" sz="2400" dirty="0"/>
          </a:p>
          <a:p>
            <a:r>
              <a:rPr lang="zh-TW" altLang="en-US" dirty="0"/>
              <a:t>同時覺察到：「我們都在這場照顧風暴中努力著。」 </a:t>
            </a:r>
          </a:p>
          <a:p>
            <a:r>
              <a:rPr lang="zh-TW" altLang="en-US" dirty="0"/>
              <a:t>緊繃的</a:t>
            </a:r>
            <a:r>
              <a:rPr lang="zh-TW" altLang="en-US" dirty="0">
                <a:solidFill>
                  <a:schemeClr val="accent4">
                    <a:lumMod val="50000"/>
                  </a:schemeClr>
                </a:solidFill>
              </a:rPr>
              <a:t>醫病對立感</a:t>
            </a:r>
            <a:r>
              <a:rPr lang="zh-TW" altLang="en-US" dirty="0"/>
              <a:t>會在此刻轉化為</a:t>
            </a:r>
            <a:r>
              <a:rPr lang="zh-TW" altLang="en-US" dirty="0">
                <a:solidFill>
                  <a:srgbClr val="7030A0"/>
                </a:solidFill>
              </a:rPr>
              <a:t>深度的生命共鳴與同理心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45283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2787" y="147485"/>
            <a:ext cx="11513574" cy="1209367"/>
          </a:xfr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>
            <a:normAutofit fontScale="90000"/>
          </a:bodyPr>
          <a:lstStyle/>
          <a:p>
            <a:r>
              <a:rPr lang="en-US" altLang="zh-TW" sz="3200" dirty="0"/>
              <a:t>5</a:t>
            </a:r>
            <a:r>
              <a:rPr lang="zh-TW" altLang="en-US" sz="3200" dirty="0"/>
              <a:t> 、</a:t>
            </a:r>
            <a:r>
              <a:rPr lang="zh-TW" altLang="en-US" sz="3200" dirty="0">
                <a:solidFill>
                  <a:srgbClr val="7030A0"/>
                </a:solidFill>
              </a:rPr>
              <a:t>觸覺</a:t>
            </a:r>
            <a:r>
              <a:rPr lang="zh-TW" altLang="en-US" sz="3200" dirty="0"/>
              <a:t>引領～在藝術輔療與曼陀羅創作中，觸覺的反饋（</a:t>
            </a:r>
            <a:r>
              <a:rPr lang="en-US" altLang="zh-TW" sz="3200" dirty="0"/>
              <a:t>Tactile Feedback</a:t>
            </a:r>
            <a:r>
              <a:rPr lang="zh-TW" altLang="en-US" sz="3200" dirty="0"/>
              <a:t>）扮演著「建立安全感」與「連結身體覺察」的關鍵橋梁。</a:t>
            </a:r>
          </a:p>
        </p:txBody>
      </p:sp>
      <p:sp>
        <p:nvSpPr>
          <p:cNvPr id="3" name="矩形 2"/>
          <p:cNvSpPr/>
          <p:nvPr/>
        </p:nvSpPr>
        <p:spPr>
          <a:xfrm>
            <a:off x="422787" y="1504334"/>
            <a:ext cx="1151357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/>
              <a:t>心理學上藝術治療以及科技領域中，它的意思如下：</a:t>
            </a:r>
          </a:p>
          <a:p>
            <a:r>
              <a:rPr lang="en-US" altLang="zh-TW" sz="2400" dirty="0"/>
              <a:t>Tactile</a:t>
            </a:r>
            <a:r>
              <a:rPr lang="zh-TW" altLang="en-US" sz="2400" dirty="0"/>
              <a:t>（觸覺的）： </a:t>
            </a:r>
          </a:p>
          <a:p>
            <a:r>
              <a:rPr lang="zh-TW" altLang="en-US" sz="2400" dirty="0"/>
              <a:t>指我們透過皮膚、手指、手掌去觸摸、按壓、感覺物體時的身體感官。</a:t>
            </a:r>
          </a:p>
          <a:p>
            <a:r>
              <a:rPr lang="en-US" altLang="zh-TW" sz="2400" dirty="0"/>
              <a:t>Feedback</a:t>
            </a:r>
            <a:r>
              <a:rPr lang="zh-TW" altLang="en-US" sz="2400" dirty="0"/>
              <a:t>（反饋</a:t>
            </a:r>
            <a:r>
              <a:rPr lang="en-US" altLang="zh-TW" sz="2400" dirty="0"/>
              <a:t>/</a:t>
            </a:r>
            <a:r>
              <a:rPr lang="zh-TW" altLang="en-US" sz="2400" dirty="0"/>
              <a:t>回饋）： </a:t>
            </a:r>
          </a:p>
          <a:p>
            <a:r>
              <a:rPr lang="zh-TW" altLang="en-US" sz="2400" dirty="0"/>
              <a:t>指物體接觸到我們身體後，回傳給大腦的信號與物理反應。</a:t>
            </a:r>
          </a:p>
          <a:p>
            <a:r>
              <a:rPr lang="zh-TW" altLang="en-US" sz="2400" dirty="0"/>
              <a:t>在藝術輔療情境中，它的意思是：當長輩或家屬用手去接觸畫筆、紙張或顏料時，身體所得到的「真實觸感」與「物理抵抗力」。</a:t>
            </a:r>
          </a:p>
          <a:p>
            <a:r>
              <a:rPr lang="zh-TW" altLang="en-US" sz="2400" dirty="0"/>
              <a:t>例如：當畫筆按壓紙張的時候：讓大腦知道「我正在做這件事」，進而產生安心感。用重複的蓋印章動作：</a:t>
            </a:r>
          </a:p>
          <a:p>
            <a:r>
              <a:rPr lang="zh-TW" altLang="en-US" sz="2400" dirty="0"/>
              <a:t>這種簡單的畫筆與紙張的觸感直接安撫了緊繃的神經。</a:t>
            </a:r>
          </a:p>
          <a:p>
            <a:r>
              <a:rPr lang="zh-TW" altLang="en-US" sz="2400" dirty="0"/>
              <a:t> 印上顏料時的厚實與變形：</a:t>
            </a:r>
          </a:p>
          <a:p>
            <a:r>
              <a:rPr lang="zh-TW" altLang="en-US" sz="2400" dirty="0"/>
              <a:t>手掌感受到的壓力和反彈，讓人宣洩內心的力道與情緒。</a:t>
            </a:r>
          </a:p>
          <a:p>
            <a:r>
              <a:rPr lang="zh-TW" altLang="en-US" sz="2400" dirty="0"/>
              <a:t>簡單來說，</a:t>
            </a:r>
            <a:r>
              <a:rPr lang="en-US" altLang="zh-TW" sz="2400" dirty="0"/>
              <a:t>Tactile Feedback </a:t>
            </a:r>
            <a:r>
              <a:rPr lang="zh-TW" altLang="en-US" sz="2400" dirty="0"/>
              <a:t>就是「手指與皮膚摸到東西時，大腦所接收到的真實感受與回報」。</a:t>
            </a:r>
          </a:p>
        </p:txBody>
      </p:sp>
    </p:spTree>
    <p:extLst>
      <p:ext uri="{BB962C8B-B14F-4D97-AF65-F5344CB8AC3E}">
        <p14:creationId xmlns:p14="http://schemas.microsoft.com/office/powerpoint/2010/main" val="1238493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7149" y="1"/>
            <a:ext cx="698090" cy="7039896"/>
          </a:xfr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/>
          <a:lstStyle/>
          <a:p>
            <a:r>
              <a:rPr lang="zh-TW" altLang="en-US" dirty="0"/>
              <a:t>曼陀羅工具介紹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0" r="6941" b="4212"/>
          <a:stretch/>
        </p:blipFill>
        <p:spPr>
          <a:xfrm>
            <a:off x="1048589" y="145026"/>
            <a:ext cx="4963744" cy="5567517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3" t="1577" r="7132"/>
          <a:stretch/>
        </p:blipFill>
        <p:spPr>
          <a:xfrm>
            <a:off x="6115664" y="145026"/>
            <a:ext cx="5820697" cy="674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972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 flipH="1">
            <a:off x="108153" y="491613"/>
            <a:ext cx="717756" cy="6213986"/>
          </a:xfr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/>
          <a:lstStyle/>
          <a:p>
            <a:r>
              <a:rPr lang="zh-TW" altLang="en-US" dirty="0"/>
              <a:t>曼陀羅工具介紹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45" t="-1147" r="17598" b="4946"/>
          <a:stretch/>
        </p:blipFill>
        <p:spPr>
          <a:xfrm>
            <a:off x="924232" y="0"/>
            <a:ext cx="4581833" cy="6924347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9" r="2294" b="21613"/>
          <a:stretch/>
        </p:blipFill>
        <p:spPr>
          <a:xfrm>
            <a:off x="5506065" y="169607"/>
            <a:ext cx="6528620" cy="537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542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 flipH="1">
            <a:off x="0" y="365125"/>
            <a:ext cx="838200" cy="5799701"/>
          </a:xfr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/>
          <a:lstStyle/>
          <a:p>
            <a:r>
              <a:rPr lang="zh-TW" altLang="en-US" dirty="0"/>
              <a:t>曼陀羅工具介紹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0" t="4014" r="20753" b="6237"/>
          <a:stretch/>
        </p:blipFill>
        <p:spPr>
          <a:xfrm>
            <a:off x="1052052" y="187478"/>
            <a:ext cx="3991897" cy="6154994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45" r="8456" b="1776"/>
          <a:stretch/>
        </p:blipFill>
        <p:spPr>
          <a:xfrm>
            <a:off x="6469626" y="689186"/>
            <a:ext cx="5024285" cy="6168814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6646607" y="98323"/>
            <a:ext cx="1435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/>
              <a:t>平頭筆</a:t>
            </a:r>
          </a:p>
        </p:txBody>
      </p:sp>
    </p:spTree>
    <p:extLst>
      <p:ext uri="{BB962C8B-B14F-4D97-AF65-F5344CB8AC3E}">
        <p14:creationId xmlns:p14="http://schemas.microsoft.com/office/powerpoint/2010/main" val="36766952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 flipH="1">
            <a:off x="68826" y="365125"/>
            <a:ext cx="769374" cy="6075004"/>
          </a:xfrm>
        </p:spPr>
        <p:txBody>
          <a:bodyPr/>
          <a:lstStyle/>
          <a:p>
            <a:r>
              <a:rPr lang="zh-TW" altLang="en-US" dirty="0"/>
              <a:t>曼陀羅工具介紹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5" r="8566" b="2365"/>
          <a:stretch/>
        </p:blipFill>
        <p:spPr>
          <a:xfrm>
            <a:off x="1071715" y="844729"/>
            <a:ext cx="5262717" cy="6013271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720646" y="235974"/>
            <a:ext cx="203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/>
              <a:t>圓珠筆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173" y="961102"/>
            <a:ext cx="5783827" cy="578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9942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 flipH="1">
            <a:off x="0" y="365125"/>
            <a:ext cx="855406" cy="6097710"/>
          </a:xfr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/>
          <a:lstStyle/>
          <a:p>
            <a:r>
              <a:rPr lang="zh-TW" altLang="en-US" dirty="0"/>
              <a:t>曼陀羅顏料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88" r="-837" b="12688"/>
          <a:stretch/>
        </p:blipFill>
        <p:spPr>
          <a:xfrm>
            <a:off x="1026276" y="98322"/>
            <a:ext cx="3819997" cy="335937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" t="45072"/>
          <a:stretch/>
        </p:blipFill>
        <p:spPr>
          <a:xfrm>
            <a:off x="5714541" y="1818968"/>
            <a:ext cx="6277093" cy="464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8101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曼陀羅顏料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52" y="2792361"/>
            <a:ext cx="6817033" cy="3834581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51" t="9175" r="2221" b="30753"/>
          <a:stretch/>
        </p:blipFill>
        <p:spPr>
          <a:xfrm>
            <a:off x="7464041" y="2015613"/>
            <a:ext cx="4521481" cy="471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408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5741" y="108155"/>
            <a:ext cx="10609007" cy="825910"/>
          </a:xfr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/>
          <a:lstStyle/>
          <a:p>
            <a:r>
              <a:rPr lang="zh-TW" altLang="en-US" dirty="0"/>
              <a:t>纏枝紋梅瓶～寓意生命力的流轉與修復</a:t>
            </a:r>
          </a:p>
        </p:txBody>
      </p:sp>
      <p:sp>
        <p:nvSpPr>
          <p:cNvPr id="3" name="矩形 2"/>
          <p:cNvSpPr/>
          <p:nvPr/>
        </p:nvSpPr>
        <p:spPr>
          <a:xfrm>
            <a:off x="639097" y="934065"/>
            <a:ext cx="10982632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1. </a:t>
            </a:r>
            <a:r>
              <a:rPr lang="zh-TW" altLang="en-US" sz="2800" dirty="0"/>
              <a:t>纏枝紋的「生命力」寓意纏枝紋（又稱「萬壽藤」）的核心特徵是</a:t>
            </a:r>
            <a:r>
              <a:rPr lang="zh-TW" altLang="en-US" sz="2800" dirty="0">
                <a:solidFill>
                  <a:srgbClr val="7030A0"/>
                </a:solidFill>
              </a:rPr>
              <a:t>連綿不斷、循環往復</a:t>
            </a:r>
            <a:r>
              <a:rPr lang="zh-TW" altLang="en-US" sz="2800" dirty="0"/>
              <a:t>。</a:t>
            </a:r>
          </a:p>
          <a:p>
            <a:r>
              <a:rPr lang="zh-TW" altLang="en-US" sz="2800" dirty="0"/>
              <a:t>生生不息：</a:t>
            </a:r>
          </a:p>
          <a:p>
            <a:r>
              <a:rPr lang="zh-TW" altLang="en-US" sz="2800" dirty="0"/>
              <a:t>它描繪植物藤蔓纏繞、委婉多姿的樣子，象徵著強大且持久的生命韌性。</a:t>
            </a:r>
          </a:p>
          <a:p>
            <a:r>
              <a:rPr lang="zh-TW" altLang="en-US" sz="2800" dirty="0"/>
              <a:t>循環與轉機：</a:t>
            </a:r>
          </a:p>
          <a:p>
            <a:r>
              <a:rPr lang="zh-TW" altLang="en-US" sz="2800" dirty="0"/>
              <a:t>藤蔓無始無終的生長軌跡，寓意生命力的流轉與修復，這與「早日康復、重獲生機」的願望非常契合。</a:t>
            </a:r>
          </a:p>
          <a:p>
            <a:endParaRPr lang="zh-TW" altLang="en-US" sz="2800" dirty="0"/>
          </a:p>
          <a:p>
            <a:r>
              <a:rPr lang="en-US" altLang="zh-TW" sz="2800" dirty="0"/>
              <a:t>2. </a:t>
            </a:r>
            <a:r>
              <a:rPr lang="zh-TW" altLang="en-US" sz="2800" dirty="0"/>
              <a:t>「瓶」與「平」的雙重祝福梅瓶本身在民間工藝中就有「平平安安」的諧音。</a:t>
            </a:r>
          </a:p>
          <a:p>
            <a:r>
              <a:rPr lang="zh-TW" altLang="en-US" sz="2800" dirty="0"/>
              <a:t>對於生病的家人來說，最大的期盼莫過於「平安」渡過難關。</a:t>
            </a:r>
          </a:p>
          <a:p>
            <a:r>
              <a:rPr lang="zh-TW" altLang="en-US" sz="2800" dirty="0"/>
              <a:t>「瓶（平）」安與「纏枝（生生不息）」結合，構成了「平安健康、生命長青」的完整祝福。</a:t>
            </a:r>
          </a:p>
        </p:txBody>
      </p:sp>
    </p:spTree>
    <p:extLst>
      <p:ext uri="{BB962C8B-B14F-4D97-AF65-F5344CB8AC3E}">
        <p14:creationId xmlns:p14="http://schemas.microsoft.com/office/powerpoint/2010/main" val="24125164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 flipH="1">
            <a:off x="127819" y="365125"/>
            <a:ext cx="710381" cy="6202823"/>
          </a:xfr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/>
          <a:lstStyle/>
          <a:p>
            <a:r>
              <a:rPr lang="zh-TW" altLang="en-US" dirty="0"/>
              <a:t>纏枝紋梅瓶～平平安安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7" t="2437" r="16609" b="1649"/>
          <a:stretch/>
        </p:blipFill>
        <p:spPr>
          <a:xfrm>
            <a:off x="4739148" y="0"/>
            <a:ext cx="2463665" cy="675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9056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47483"/>
            <a:ext cx="10557387" cy="1396181"/>
          </a:xfr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/>
          <a:lstStyle/>
          <a:p>
            <a:r>
              <a:rPr lang="zh-TW" altLang="en-US" dirty="0"/>
              <a:t>「深秋憂鬱感」</a:t>
            </a:r>
          </a:p>
        </p:txBody>
      </p:sp>
      <p:sp>
        <p:nvSpPr>
          <p:cNvPr id="3" name="矩形 2"/>
          <p:cNvSpPr/>
          <p:nvPr/>
        </p:nvSpPr>
        <p:spPr>
          <a:xfrm>
            <a:off x="943898" y="1543665"/>
            <a:ext cx="1045168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4000" dirty="0"/>
              <a:t>《</a:t>
            </a:r>
            <a:r>
              <a:rPr lang="zh-TW" altLang="en-US" sz="4000" dirty="0"/>
              <a:t>題宣州開元寺水閣</a:t>
            </a:r>
            <a:r>
              <a:rPr lang="en-US" altLang="zh-TW" sz="4000" dirty="0"/>
              <a:t>》-</a:t>
            </a:r>
            <a:r>
              <a:rPr lang="zh-TW" altLang="en-US" sz="4000" dirty="0"/>
              <a:t>杜牧</a:t>
            </a:r>
          </a:p>
          <a:p>
            <a:r>
              <a:rPr lang="zh-TW" altLang="en-US" sz="4000" dirty="0"/>
              <a:t>六朝文物草連空，天淡雲閒今古同。</a:t>
            </a:r>
          </a:p>
          <a:p>
            <a:r>
              <a:rPr lang="en-US" altLang="zh-TW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【1:</a:t>
            </a:r>
            <a:r>
              <a:rPr lang="zh-TW" alt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營造出一種「物是人非」的蒼涼感</a:t>
            </a:r>
            <a:r>
              <a:rPr lang="en-US" altLang="zh-TW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】</a:t>
            </a:r>
            <a:r>
              <a:rPr lang="zh-TW" altLang="en-US" sz="4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。</a:t>
            </a:r>
          </a:p>
          <a:p>
            <a:r>
              <a:rPr lang="zh-TW" alt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鳥去鳥來山色裏，人歌人哭水聲中。</a:t>
            </a:r>
          </a:p>
          <a:p>
            <a:r>
              <a:rPr lang="en-US" altLang="zh-TW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【2</a:t>
            </a:r>
            <a:r>
              <a:rPr lang="zh-TW" alt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用「歌、哭」來寫人生，非常有張力，表現出生命在時間長河裡的渺小</a:t>
            </a:r>
            <a:r>
              <a:rPr lang="en-US" altLang="zh-TW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】</a:t>
            </a:r>
            <a:endParaRPr lang="zh-TW" alt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zh-TW" altLang="en-US" sz="4000" dirty="0">
                <a:solidFill>
                  <a:srgbClr val="7030A0"/>
                </a:solidFill>
              </a:rPr>
              <a:t>深秋簾幕千家雨，落日樓臺一笛風</a:t>
            </a:r>
            <a:r>
              <a:rPr lang="zh-TW" altLang="en-US" sz="4000" dirty="0"/>
              <a:t>。</a:t>
            </a:r>
            <a:endParaRPr lang="en-US" altLang="zh-TW" sz="4000" dirty="0"/>
          </a:p>
          <a:p>
            <a:r>
              <a:rPr lang="en-US" altLang="zh-TW" sz="3200" dirty="0">
                <a:solidFill>
                  <a:srgbClr val="C00000"/>
                </a:solidFill>
              </a:rPr>
              <a:t>【3</a:t>
            </a:r>
            <a:r>
              <a:rPr lang="zh-TW" altLang="en-US" sz="3200" dirty="0">
                <a:solidFill>
                  <a:srgbClr val="C00000"/>
                </a:solidFill>
              </a:rPr>
              <a:t>「千家雨」寫的是廣度，「一笛風」寫的是孤單。這種「以大襯小」的手法</a:t>
            </a:r>
            <a:r>
              <a:rPr lang="en-US" altLang="zh-TW" sz="3200" dirty="0">
                <a:solidFill>
                  <a:srgbClr val="C00000"/>
                </a:solidFill>
              </a:rPr>
              <a:t>】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5495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意境的堆疊～融入情境使作品具有深度</a:t>
            </a:r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34" y="2506662"/>
            <a:ext cx="4351338" cy="4351338"/>
          </a:xfrm>
        </p:spPr>
      </p:pic>
      <p:pic>
        <p:nvPicPr>
          <p:cNvPr id="7" name="內容版面配置區 6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747" y="2538746"/>
            <a:ext cx="4375356" cy="4375356"/>
          </a:xfrm>
        </p:spPr>
      </p:pic>
      <p:sp>
        <p:nvSpPr>
          <p:cNvPr id="8" name="文字方塊 7"/>
          <p:cNvSpPr txBox="1"/>
          <p:nvPr/>
        </p:nvSpPr>
        <p:spPr>
          <a:xfrm>
            <a:off x="838200" y="1602658"/>
            <a:ext cx="349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rgbClr val="7030A0"/>
                </a:solidFill>
              </a:rPr>
              <a:t>深秋簾幕千家雨</a:t>
            </a:r>
            <a:endParaRPr lang="zh-TW" altLang="en-US" sz="32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7551175" y="1759974"/>
            <a:ext cx="3145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rgbClr val="7030A0"/>
                </a:solidFill>
              </a:rPr>
              <a:t>落日樓臺一笛風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790792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6813"/>
            <a:ext cx="10577053" cy="1022555"/>
          </a:xfr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/>
          <a:lstStyle/>
          <a:p>
            <a:r>
              <a:rPr lang="zh-TW" altLang="en-US" dirty="0">
                <a:solidFill>
                  <a:srgbClr val="7030A0"/>
                </a:solidFill>
              </a:rPr>
              <a:t>是意識的創作不是勞作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94400"/>
            <a:ext cx="4992329" cy="4779512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41" t="49962" r="3087" b="6633"/>
          <a:stretch/>
        </p:blipFill>
        <p:spPr>
          <a:xfrm>
            <a:off x="6695768" y="1998782"/>
            <a:ext cx="4955459" cy="459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519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17988"/>
            <a:ext cx="10518058" cy="1002890"/>
          </a:xfr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</p:spPr>
        <p:txBody>
          <a:bodyPr/>
          <a:lstStyle/>
          <a:p>
            <a:r>
              <a:rPr lang="zh-TW" altLang="en-US" dirty="0"/>
              <a:t>創作材料～牛皮紙書籤、流蘇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9" t="8811" r="15897" b="9130"/>
          <a:stretch/>
        </p:blipFill>
        <p:spPr>
          <a:xfrm>
            <a:off x="334297" y="2290916"/>
            <a:ext cx="4208206" cy="4351668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609" y="2290916"/>
            <a:ext cx="6557186" cy="429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5845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創作材料～一人三張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4" r="1456" b="5233"/>
          <a:stretch/>
        </p:blipFill>
        <p:spPr>
          <a:xfrm>
            <a:off x="1150373" y="2335773"/>
            <a:ext cx="3923071" cy="493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729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作品賞析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606" y="1690688"/>
            <a:ext cx="2897136" cy="5150464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83" y="1690688"/>
            <a:ext cx="3928602" cy="523813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218" y="1690688"/>
            <a:ext cx="2310582" cy="500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0368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76981"/>
            <a:ext cx="10537723" cy="1199535"/>
          </a:xfrm>
        </p:spPr>
        <p:txBody>
          <a:bodyPr/>
          <a:lstStyle/>
          <a:p>
            <a:r>
              <a:rPr lang="zh-TW" altLang="en-US" dirty="0"/>
              <a:t>上課花絮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75" y="1462551"/>
            <a:ext cx="2427952" cy="5395449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297" y="1462551"/>
            <a:ext cx="4017092" cy="535612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785" y="3038168"/>
            <a:ext cx="4424515" cy="331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28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上課花絮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64" y="1868948"/>
            <a:ext cx="3859776" cy="514636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3948" y="1868949"/>
            <a:ext cx="3742633" cy="498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395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9306</TotalTime>
  <Words>3419</Words>
  <Application>Microsoft Office PowerPoint</Application>
  <PresentationFormat>寬螢幕</PresentationFormat>
  <Paragraphs>213</Paragraphs>
  <Slides>35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36" baseType="lpstr">
      <vt:lpstr>Office 佈景主題</vt:lpstr>
      <vt:lpstr> 繽紛五感體驗  曼陀羅書籤畫・課程大綱 </vt:lpstr>
      <vt:lpstr>課程架構：三大單元 </vt:lpstr>
      <vt:lpstr>1、曼陀羅（Mandala）的起源</vt:lpstr>
      <vt:lpstr>PowerPoint 簡報</vt:lpstr>
      <vt:lpstr>【心理學】 1：。 透過在圓形（曼陀羅）內自由繪畫、著色或拼貼，個案能夠進入深層潛意識、梳理混亂情緒、整合自我內心，最終達到減壓與自我探索的目的。  2：曼陀羅（Mandala）源自梵文，意指「圓圈」或「中心」。 在藝術輔療中，具備以下幾個核心概念與特徵： 心理學背景： 由瑞士心理學家卡爾·榮格（Carl Jung）引入西方心理學。 他觀察到人類情緒混亂時，會自然畫出圓形圖案來尋求內心秩序，並將其視為「心靈能量」與自我整合的象徵。  3：圓形的保護感：  圓形沒有起點與終點，提供創作者一個被保護的安全空間，讓人能在其中安心面對潛意識的恐懼與真實感受。  4：自我覺察與對話： 創作者藉由顏色、線條與圖案的選擇，將抽象的情緒（如焦慮、憤怒、喜悅）具象化，客觀地「看見」自己的內心狀態，進而化解內在衝突。  應用廣泛： 常用於減壓放鬆、創傷療癒、靈性成長及注意力提升，適合各年齡層的自我照顧。</vt:lpstr>
      <vt:lpstr>【繪畫創作】繪畫創作是一種強大的心理與生理療癒工具，它超越了語言的限制，能為大腦、情緒和身體帶來多重正面影響。 </vt:lpstr>
      <vt:lpstr>繪畫創作與曼陀羅在長照領域 核心應用優點與實務做法</vt:lpstr>
      <vt:lpstr>核心色彩的心理象徵</vt:lpstr>
      <vt:lpstr>三、色彩的心理象徵</vt:lpstr>
      <vt:lpstr>單元二：曼陀羅基礎技法與試作（60分鐘）「繽紛五感曼陀羅」實作體驗</vt:lpstr>
      <vt:lpstr>1、視覺色彩選擇～壓克力顏料</vt:lpstr>
      <vt:lpstr>PowerPoint 簡報</vt:lpstr>
      <vt:lpstr>2 、聽覺音樂引導～頌缽音樂冥想</vt:lpstr>
      <vt:lpstr>3～（1）、嗅覺呼吸引導～將精油嗅覺呼吸引導（正念呼吸、身心雙重療愈） </vt:lpstr>
      <vt:lpstr>3～（2）、嗅覺呼吸引導～將精油嗅覺呼吸引導（正念呼吸、身心雙重療育） </vt:lpstr>
      <vt:lpstr>4 ╴1、心感的內在覺察～能夠強烈且深刻地引發長照患者（長輩）與家屬彼此的內在覺察。</vt:lpstr>
      <vt:lpstr>4 ╴2、心感的內在覺察～</vt:lpstr>
      <vt:lpstr>4 ╴3、心感的內在覺察～</vt:lpstr>
      <vt:lpstr>5 、觸覺引領～在藝術輔療與曼陀羅創作中，觸覺的反饋（Tactile Feedback）扮演著「建立安全感」與「連結身體覺察」的關鍵橋梁。</vt:lpstr>
      <vt:lpstr>曼陀羅工具介紹</vt:lpstr>
      <vt:lpstr>曼陀羅工具介紹</vt:lpstr>
      <vt:lpstr>曼陀羅工具介紹</vt:lpstr>
      <vt:lpstr>曼陀羅工具介紹</vt:lpstr>
      <vt:lpstr>曼陀羅顏料</vt:lpstr>
      <vt:lpstr>曼陀羅顏料</vt:lpstr>
      <vt:lpstr>纏枝紋梅瓶～寓意生命力的流轉與修復</vt:lpstr>
      <vt:lpstr>纏枝紋梅瓶～平平安安</vt:lpstr>
      <vt:lpstr>「深秋憂鬱感」</vt:lpstr>
      <vt:lpstr>意境的堆疊～融入情境使作品具有深度</vt:lpstr>
      <vt:lpstr>是意識的創作不是勞作</vt:lpstr>
      <vt:lpstr>創作材料～牛皮紙書籤、流蘇</vt:lpstr>
      <vt:lpstr>創作材料～一人三張</vt:lpstr>
      <vt:lpstr>作品賞析</vt:lpstr>
      <vt:lpstr>上課花絮</vt:lpstr>
      <vt:lpstr>上課花絮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繽紛五感體驗 曼陀羅書籤畫・課程大綱 </dc:title>
  <dc:creator>張婉愉</dc:creator>
  <cp:lastModifiedBy>Serina Huang</cp:lastModifiedBy>
  <cp:revision>75</cp:revision>
  <dcterms:created xsi:type="dcterms:W3CDTF">2026-05-30T13:13:36Z</dcterms:created>
  <dcterms:modified xsi:type="dcterms:W3CDTF">2026-06-14T01:45:43Z</dcterms:modified>
</cp:coreProperties>
</file>