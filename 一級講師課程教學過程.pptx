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5.png"/><Relationship Id="rId4" Type="http://schemas.openxmlformats.org/officeDocument/2006/relationships/image" Target="../media/image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6.jpg"/><Relationship Id="rId4" Type="http://schemas.openxmlformats.org/officeDocument/2006/relationships/image" Target="../media/image1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0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6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7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8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jpg"/><Relationship Id="rId4" Type="http://schemas.openxmlformats.org/officeDocument/2006/relationships/image" Target="../media/image8.jpg"/><Relationship Id="rId5" Type="http://schemas.openxmlformats.org/officeDocument/2006/relationships/image" Target="../media/image6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9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9.jpg"/><Relationship Id="rId4" Type="http://schemas.openxmlformats.org/officeDocument/2006/relationships/image" Target="../media/image40.jpg"/><Relationship Id="rId5" Type="http://schemas.openxmlformats.org/officeDocument/2006/relationships/image" Target="../media/image41.jpg"/><Relationship Id="rId6" Type="http://schemas.openxmlformats.org/officeDocument/2006/relationships/image" Target="../media/image42.jpg"/><Relationship Id="rId7" Type="http://schemas.openxmlformats.org/officeDocument/2006/relationships/image" Target="../media/image43.jpg"/><Relationship Id="rId8" Type="http://schemas.openxmlformats.org/officeDocument/2006/relationships/image" Target="../media/image44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8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1234440" y="932688"/>
            <a:ext cx="8229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8A7A6A"/>
                </a:solidFill>
                <a:latin typeface="微軟正黑體"/>
              </a:rPr>
              <a:t>財團法人中華綜合發展研究院／文創藝術研究所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31673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A7A6A"/>
                </a:solidFill>
                <a:latin typeface="微軟正黑體"/>
              </a:rPr>
              <a:t>心靈藝術美學中心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1907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5C66"/>
                </a:solidFill>
                <a:latin typeface="微軟正黑體"/>
              </a:rPr>
              <a:t>MANDALA  ADVANCED  INSTRUCTOR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48256"/>
            <a:ext cx="82296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4A403A"/>
                </a:solidFill>
                <a:latin typeface="微軟正黑體"/>
              </a:rPr>
              <a:t>曼陀羅心靈彩繪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11296"/>
            <a:ext cx="8229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A95C66"/>
                </a:solidFill>
                <a:latin typeface="微軟正黑體"/>
              </a:rPr>
              <a:t>一級講師課程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645152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8A7A6A"/>
                </a:solidFill>
                <a:latin typeface="微軟正黑體"/>
              </a:rPr>
              <a:t>色彩學　×　曼陀羅設計　×　22 小時兩日密集　×　黃彥蓁老師親授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6309360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版權所有／翻印必究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acher_portrait.jpg"/>
          <p:cNvPicPr>
            <a:picLocks noChangeAspect="1"/>
          </p:cNvPicPr>
          <p:nvPr/>
        </p:nvPicPr>
        <p:blipFill>
          <a:blip r:embed="rId3"/>
          <a:srcRect l="2508" r="2508"/>
          <a:stretch>
            <a:fillRect/>
          </a:stretch>
        </p:blipFill>
        <p:spPr>
          <a:xfrm>
            <a:off x="640080" y="822960"/>
            <a:ext cx="3291840" cy="521208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74920" y="8686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MASTER 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1887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A403A"/>
                </a:solidFill>
                <a:latin typeface="微軟正黑體"/>
              </a:rPr>
              <a:t>黃彥蓁 老師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2057400"/>
            <a:ext cx="1005840" cy="4114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74920" y="2505456"/>
            <a:ext cx="146304" cy="146304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2377440"/>
            <a:ext cx="6309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4A403A"/>
                </a:solidFill>
                <a:latin typeface="微軟正黑體"/>
              </a:rPr>
              <a:t>1989 年開始彩繪教學，35 年色彩與心靈藝術資歷</a:t>
            </a:r>
          </a:p>
        </p:txBody>
      </p:sp>
      <p:sp>
        <p:nvSpPr>
          <p:cNvPr id="11" name="Oval 10"/>
          <p:cNvSpPr/>
          <p:nvPr/>
        </p:nvSpPr>
        <p:spPr>
          <a:xfrm>
            <a:off x="5074920" y="3218688"/>
            <a:ext cx="146304" cy="146304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3090672"/>
            <a:ext cx="6309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4A403A"/>
                </a:solidFill>
                <a:latin typeface="微軟正黑體"/>
              </a:rPr>
              <a:t>美國 SDP 彩繪協會 CDA 國際認證藝術家──台灣第二位</a:t>
            </a:r>
          </a:p>
        </p:txBody>
      </p:sp>
      <p:sp>
        <p:nvSpPr>
          <p:cNvPr id="13" name="Oval 12"/>
          <p:cNvSpPr/>
          <p:nvPr/>
        </p:nvSpPr>
        <p:spPr>
          <a:xfrm>
            <a:off x="5074920" y="3931920"/>
            <a:ext cx="146304" cy="146304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3803904"/>
            <a:ext cx="6309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4A403A"/>
                </a:solidFill>
                <a:latin typeface="微軟正黑體"/>
              </a:rPr>
              <a:t>2015 受邀赴美國俄亥俄州彩繪大會授課（首位華人講師）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0" y="4645152"/>
            <a:ext cx="146304" cy="146304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4517136"/>
            <a:ext cx="6309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4A403A"/>
                </a:solidFill>
                <a:latin typeface="微軟正黑體"/>
              </a:rPr>
              <a:t>出版彩繪專書六冊＋教學 DVD＋國際合輯，全球發行</a:t>
            </a:r>
          </a:p>
        </p:txBody>
      </p:sp>
      <p:sp>
        <p:nvSpPr>
          <p:cNvPr id="17" name="Oval 16"/>
          <p:cNvSpPr/>
          <p:nvPr/>
        </p:nvSpPr>
        <p:spPr>
          <a:xfrm>
            <a:off x="5074920" y="5358384"/>
            <a:ext cx="146304" cy="146304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5230368"/>
            <a:ext cx="6309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4A403A"/>
                </a:solidFill>
                <a:latin typeface="微軟正黑體"/>
              </a:rPr>
              <a:t>中華民國傢飾彩繪協會 創會理事長</a:t>
            </a:r>
          </a:p>
        </p:txBody>
      </p:sp>
      <p:sp>
        <p:nvSpPr>
          <p:cNvPr id="19" name="Oval 18"/>
          <p:cNvSpPr/>
          <p:nvPr/>
        </p:nvSpPr>
        <p:spPr>
          <a:xfrm>
            <a:off x="5074920" y="6071616"/>
            <a:ext cx="146304" cy="146304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5943600"/>
            <a:ext cx="6309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4A403A"/>
                </a:solidFill>
                <a:latin typeface="微軟正黑體"/>
              </a:rPr>
              <a:t>彩繪界首創「3 年內無限次免費複訓」制度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COURSE 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一級講師課程・六大收穫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1737360"/>
            <a:ext cx="34747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5167" y="1737360"/>
            <a:ext cx="3474720" cy="38404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335" y="179222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5C66"/>
                </a:solidFill>
                <a:latin typeface="微軟正黑體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8399" y="1792224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進階色彩學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335" y="2267712"/>
            <a:ext cx="3072384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色相、明度、彩度、色彩心理學，從理解到精準運用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487" y="1737360"/>
            <a:ext cx="34747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58487" y="1737360"/>
            <a:ext cx="3474720" cy="38404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9655" y="179222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5C66"/>
                </a:solidFill>
                <a:latin typeface="微軟正黑體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1719" y="1792224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深化理解與應用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9655" y="2267712"/>
            <a:ext cx="3072384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作品解析力，洞察色彩背後的情感與內在狀態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807" y="1737360"/>
            <a:ext cx="34747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1807" y="1737360"/>
            <a:ext cx="3474720" cy="38404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2975" y="179222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5C66"/>
                </a:solidFill>
                <a:latin typeface="微軟正黑體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5039" y="1792224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大型木器創作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2975" y="2267712"/>
            <a:ext cx="3072384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在大型八角板木器上完成一件精緻曼陀羅作品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167" y="3410712"/>
            <a:ext cx="34747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5167" y="3410712"/>
            <a:ext cx="3474720" cy="38404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6335" y="3465576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5C66"/>
                </a:solidFill>
                <a:latin typeface="微軟正黑體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8399" y="3465576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高級鑽飾裝飾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335" y="3941063"/>
            <a:ext cx="3072384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施華洛世奇水晶鑽飾貼附，提升作品至展覽水準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58487" y="3410712"/>
            <a:ext cx="34747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58487" y="3410712"/>
            <a:ext cx="3474720" cy="38404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9655" y="3465576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5C66"/>
                </a:solidFill>
                <a:latin typeface="微軟正黑體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1719" y="3465576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立體畫法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9655" y="3941063"/>
            <a:ext cx="3072384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進階筆法與層次技巧，讓圖案呈現真實立體質感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807" y="3410712"/>
            <a:ext cx="34747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61807" y="3410712"/>
            <a:ext cx="3474720" cy="38404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2975" y="3465576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5C66"/>
                </a:solidFill>
                <a:latin typeface="微軟正黑體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5039" y="3465576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教學引導訓練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2975" y="3941063"/>
            <a:ext cx="3072384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實際演練教學流程，從「會畫」躍升為「能教」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MATERIALS  PROVIDED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課程提供材料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1737360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327" y="1737360"/>
            <a:ext cx="109728" cy="109728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2367" y="1865376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95C66"/>
                </a:solidFill>
                <a:latin typeface="微軟正黑體"/>
              </a:rPr>
              <a:t>考核用大型八角板木器 ×1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655" y="2322576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符合條件者可升級為八角折疊桌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737360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4447" y="1737360"/>
            <a:ext cx="109728" cy="109728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487" y="1865376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95C66"/>
                </a:solidFill>
                <a:latin typeface="微軟正黑體"/>
              </a:rPr>
              <a:t>上課用木器 ×1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2775" y="2322576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全程使用，課後帶回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327" y="3090672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2327" y="3090672"/>
            <a:ext cx="109728" cy="109728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2367" y="3218688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95C66"/>
                </a:solidFill>
                <a:latin typeface="微軟正黑體"/>
              </a:rPr>
              <a:t>施華洛世奇鑽飾套組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0655" y="3675887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珠寶膠、沾珠筆等專業工具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3090672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4447" y="3090672"/>
            <a:ext cx="109728" cy="109728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4487" y="3218688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95C66"/>
                </a:solidFill>
                <a:latin typeface="微軟正黑體"/>
              </a:rPr>
              <a:t>高級貂毛筆套組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2775" y="3675887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橢圓筆、斜筆、勾線筆各一支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327" y="4443983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2327" y="4443983"/>
            <a:ext cx="109728" cy="109728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2367" y="4571999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95C66"/>
                </a:solidFill>
                <a:latin typeface="微軟正黑體"/>
              </a:rPr>
              <a:t>筆記本與書寫工具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0655" y="5029199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課程講義一份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4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70951_0.jpg"/>
          <p:cNvPicPr>
            <a:picLocks noChangeAspect="1"/>
          </p:cNvPicPr>
          <p:nvPr/>
        </p:nvPicPr>
        <p:blipFill>
          <a:blip r:embed="rId2"/>
          <a:srcRect l="19096" r="19096"/>
          <a:stretch>
            <a:fillRect/>
          </a:stretch>
        </p:blipFill>
        <p:spPr>
          <a:xfrm>
            <a:off x="6126480" y="0"/>
            <a:ext cx="606521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4A403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82296" cy="224028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9A96E"/>
                </a:solidFill>
                <a:latin typeface="微軟正黑體"/>
              </a:rPr>
              <a:t>PART 1  ·  COLOR 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670048"/>
            <a:ext cx="5669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微軟正黑體"/>
              </a:rPr>
              <a:t>色彩學基礎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160520"/>
            <a:ext cx="5486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BF6EF"/>
                </a:solidFill>
                <a:latin typeface="微軟正黑體"/>
              </a:rPr>
              <a:t>一切創作，從理解色彩開始——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BF6EF"/>
                </a:solidFill>
                <a:latin typeface="微軟正黑體"/>
              </a:rPr>
              <a:t>色相、明度、彩度，是曼陀羅的語言。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色彩的三大屬性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A7A6A"/>
                </a:solidFill>
                <a:latin typeface="微軟正黑體"/>
              </a:rPr>
              <a:t>任何顏色都能用三個維度描述。掌握它們，就能精準調出腦中想像的每一種色。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724912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04872"/>
            <a:ext cx="2267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95C66"/>
                </a:solidFill>
                <a:latin typeface="微軟正黑體"/>
              </a:rPr>
              <a:t>色相 Hue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52928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顏色的「相貌」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337560"/>
            <a:ext cx="377952" cy="411480"/>
          </a:xfrm>
          <a:prstGeom prst="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46632" y="3337560"/>
            <a:ext cx="377952" cy="411480"/>
          </a:xfrm>
          <a:prstGeom prst="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24584" y="3337560"/>
            <a:ext cx="377952" cy="411480"/>
          </a:xfrm>
          <a:prstGeom prst="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02536" y="3337560"/>
            <a:ext cx="377952" cy="411480"/>
          </a:xfrm>
          <a:prstGeom prst="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80488" y="3337560"/>
            <a:ext cx="377952" cy="411480"/>
          </a:xfrm>
          <a:prstGeom prst="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58440" y="3337560"/>
            <a:ext cx="377952" cy="411480"/>
          </a:xfrm>
          <a:prstGeom prst="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31920"/>
            <a:ext cx="2267712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300" b="0" i="0">
                <a:solidFill>
                  <a:srgbClr val="8A7A6A"/>
                </a:solidFill>
                <a:latin typeface="微軟正黑體"/>
              </a:rPr>
              <a:t>紅橙黃綠藍紫——</a:t>
            </a:r>
          </a:p>
          <a:p>
            <a:pPr algn="l">
              <a:lnSpc>
                <a:spcPct val="138000"/>
              </a:lnSpc>
            </a:pPr>
            <a:r>
              <a:rPr sz="1300" b="0" i="0">
                <a:solidFill>
                  <a:srgbClr val="8A7A6A"/>
                </a:solidFill>
                <a:latin typeface="微軟正黑體"/>
              </a:rPr>
              <a:t>區分顏色種類的名稱，</a:t>
            </a:r>
          </a:p>
          <a:p>
            <a:pPr algn="l">
              <a:lnSpc>
                <a:spcPct val="138000"/>
              </a:lnSpc>
            </a:pPr>
            <a:r>
              <a:rPr sz="1300" b="0" i="0">
                <a:solidFill>
                  <a:srgbClr val="8A7A6A"/>
                </a:solidFill>
                <a:latin typeface="微軟正黑體"/>
              </a:rPr>
              <a:t>對應色相環上的位置。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2724912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58184" y="2404872"/>
            <a:ext cx="2267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95C66"/>
                </a:solidFill>
                <a:latin typeface="微軟正黑體"/>
              </a:rPr>
              <a:t>明度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8184" y="2852928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顏色的明暗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8184" y="3337560"/>
            <a:ext cx="3779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36136" y="3337560"/>
            <a:ext cx="377952" cy="411480"/>
          </a:xfrm>
          <a:prstGeom prst="rect">
            <a:avLst/>
          </a:prstGeom>
          <a:solidFill>
            <a:srgbClr val="CCCCCC"/>
          </a:solidFill>
          <a:ln w="63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14088" y="3337560"/>
            <a:ext cx="377952" cy="411480"/>
          </a:xfrm>
          <a:prstGeom prst="rect">
            <a:avLst/>
          </a:prstGeom>
          <a:solidFill>
            <a:srgbClr val="999999"/>
          </a:solidFill>
          <a:ln w="63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92040" y="3337560"/>
            <a:ext cx="377952" cy="411480"/>
          </a:xfrm>
          <a:prstGeom prst="rect">
            <a:avLst/>
          </a:prstGeom>
          <a:solidFill>
            <a:srgbClr val="666666"/>
          </a:solidFill>
          <a:ln w="63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69992" y="3337560"/>
            <a:ext cx="377952" cy="411480"/>
          </a:xfrm>
          <a:prstGeom prst="rect">
            <a:avLst/>
          </a:prstGeom>
          <a:solidFill>
            <a:srgbClr val="333333"/>
          </a:solidFill>
          <a:ln w="63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47944" y="3337560"/>
            <a:ext cx="377952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58184" y="3931920"/>
            <a:ext cx="2267712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300" b="0" i="0">
                <a:solidFill>
                  <a:srgbClr val="8A7A6A"/>
                </a:solidFill>
                <a:latin typeface="微軟正黑體"/>
              </a:rPr>
              <a:t>加白色→顏色漸亮；</a:t>
            </a:r>
          </a:p>
          <a:p>
            <a:pPr algn="l">
              <a:lnSpc>
                <a:spcPct val="138000"/>
              </a:lnSpc>
            </a:pPr>
            <a:r>
              <a:rPr sz="1300" b="0" i="0">
                <a:solidFill>
                  <a:srgbClr val="8A7A6A"/>
                </a:solidFill>
                <a:latin typeface="微軟正黑體"/>
              </a:rPr>
              <a:t>加黑色→顏色漸暗。</a:t>
            </a:r>
          </a:p>
          <a:p>
            <a:pPr algn="l">
              <a:lnSpc>
                <a:spcPct val="138000"/>
              </a:lnSpc>
            </a:pPr>
            <a:r>
              <a:rPr sz="1300" b="0" i="0">
                <a:solidFill>
                  <a:srgbClr val="8A7A6A"/>
                </a:solidFill>
                <a:latin typeface="微軟正黑體"/>
              </a:rPr>
              <a:t>明度差創造畫面的層次感。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2194560"/>
            <a:ext cx="272491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7688" y="2404872"/>
            <a:ext cx="2267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95C66"/>
                </a:solidFill>
                <a:latin typeface="微軟正黑體"/>
              </a:rPr>
              <a:t>彩度 Chroma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2852928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A96E"/>
                </a:solidFill>
                <a:latin typeface="微軟正黑體"/>
              </a:rPr>
              <a:t>顏色的鮮濁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3273552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A95C66"/>
                </a:solidFill>
                <a:latin typeface="微軟正黑體"/>
              </a:rPr>
              <a:t>高彩度  鮮豔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47688" y="3529584"/>
            <a:ext cx="377952" cy="365760"/>
          </a:xfrm>
          <a:prstGeom prst="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25640" y="3529584"/>
            <a:ext cx="377952" cy="365760"/>
          </a:xfrm>
          <a:prstGeom prst="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03592" y="3529584"/>
            <a:ext cx="377952" cy="365760"/>
          </a:xfrm>
          <a:prstGeom prst="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81544" y="3529584"/>
            <a:ext cx="377952" cy="365760"/>
          </a:xfrm>
          <a:prstGeom prst="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59496" y="3529584"/>
            <a:ext cx="377952" cy="365760"/>
          </a:xfrm>
          <a:prstGeom prst="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37448" y="3529584"/>
            <a:ext cx="377952" cy="365760"/>
          </a:xfrm>
          <a:prstGeom prst="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393192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A7A6A"/>
                </a:solidFill>
                <a:latin typeface="微軟正黑體"/>
              </a:rPr>
              <a:t>低彩度  混濁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47688" y="4187952"/>
            <a:ext cx="377952" cy="365760"/>
          </a:xfrm>
          <a:prstGeom prst="rect">
            <a:avLst/>
          </a:prstGeom>
          <a:solidFill>
            <a:srgbClr val="BC6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25640" y="4187952"/>
            <a:ext cx="377952" cy="365760"/>
          </a:xfrm>
          <a:prstGeom prst="rect">
            <a:avLst/>
          </a:prstGeom>
          <a:solidFill>
            <a:srgbClr val="BC9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03592" y="4187952"/>
            <a:ext cx="377952" cy="365760"/>
          </a:xfrm>
          <a:prstGeom prst="rect">
            <a:avLst/>
          </a:prstGeom>
          <a:solidFill>
            <a:srgbClr val="BBB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81544" y="4187952"/>
            <a:ext cx="377952" cy="365760"/>
          </a:xfrm>
          <a:prstGeom prst="rect">
            <a:avLst/>
          </a:prstGeom>
          <a:solidFill>
            <a:srgbClr val="759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59496" y="4187952"/>
            <a:ext cx="377952" cy="365760"/>
          </a:xfrm>
          <a:prstGeom prst="rect">
            <a:avLst/>
          </a:prstGeom>
          <a:solidFill>
            <a:srgbClr val="6D8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37448" y="4187952"/>
            <a:ext cx="377952" cy="365760"/>
          </a:xfrm>
          <a:prstGeom prst="rect">
            <a:avLst/>
          </a:prstGeom>
          <a:solidFill>
            <a:srgbClr val="957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47688" y="4663440"/>
            <a:ext cx="2267712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300" b="0" i="0">
                <a:solidFill>
                  <a:srgbClr val="8A7A6A"/>
                </a:solidFill>
                <a:latin typeface="微軟正黑體"/>
              </a:rPr>
              <a:t>加灰或互補色後，</a:t>
            </a:r>
          </a:p>
          <a:p>
            <a:pPr algn="l">
              <a:lnSpc>
                <a:spcPct val="138000"/>
              </a:lnSpc>
            </a:pPr>
            <a:r>
              <a:rPr sz="1300" b="0" i="0">
                <a:solidFill>
                  <a:srgbClr val="8A7A6A"/>
                </a:solidFill>
                <a:latin typeface="微軟正黑體"/>
              </a:rPr>
              <a:t>色彩從鮮豔→混濁，</a:t>
            </a:r>
          </a:p>
          <a:p>
            <a:pPr algn="l">
              <a:lnSpc>
                <a:spcPct val="138000"/>
              </a:lnSpc>
            </a:pPr>
            <a:r>
              <a:rPr sz="1300" b="0" i="0">
                <a:solidFill>
                  <a:srgbClr val="8A7A6A"/>
                </a:solidFill>
                <a:latin typeface="微軟正黑體"/>
              </a:rPr>
              <a:t>整體氛圍更柔和耐看。</a:t>
            </a:r>
          </a:p>
        </p:txBody>
      </p:sp>
      <p:pic>
        <p:nvPicPr>
          <p:cNvPr id="46" name="Picture 45" descr="art1.jpg"/>
          <p:cNvPicPr>
            <a:picLocks noChangeAspect="1"/>
          </p:cNvPicPr>
          <p:nvPr/>
        </p:nvPicPr>
        <p:blipFill>
          <a:blip r:embed="rId3"/>
          <a:srcRect t="20208" b="20417"/>
          <a:stretch>
            <a:fillRect/>
          </a:stretch>
        </p:blipFill>
        <p:spPr>
          <a:xfrm>
            <a:off x="9144000" y="1508760"/>
            <a:ext cx="2651760" cy="23317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47" name="Picture 46" descr="art3.jpg"/>
          <p:cNvPicPr>
            <a:picLocks noChangeAspect="1"/>
          </p:cNvPicPr>
          <p:nvPr/>
        </p:nvPicPr>
        <p:blipFill>
          <a:blip r:embed="rId4"/>
          <a:srcRect t="25208" b="25417"/>
          <a:stretch>
            <a:fillRect/>
          </a:stretch>
        </p:blipFill>
        <p:spPr>
          <a:xfrm>
            <a:off x="9144000" y="3977639"/>
            <a:ext cx="2651760" cy="23317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sp>
        <p:nvSpPr>
          <p:cNvPr id="48" name="TextBox 47"/>
          <p:cNvSpPr txBox="1"/>
          <p:nvPr/>
        </p:nvSpPr>
        <p:spPr>
          <a:xfrm>
            <a:off x="9144000" y="4553712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8A7A6A"/>
                </a:solidFill>
                <a:latin typeface="微軟正黑體"/>
              </a:rPr>
              <a:t>▲ 真實作品中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8A7A6A"/>
                </a:solidFill>
                <a:latin typeface="微軟正黑體"/>
              </a:rPr>
              <a:t>色相・明度・彩度的層次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COLOR  WHEEL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十二色相環</a:t>
            </a:r>
          </a:p>
        </p:txBody>
      </p:sp>
      <p:sp>
        <p:nvSpPr>
          <p:cNvPr id="7" name="Oval 6"/>
          <p:cNvSpPr/>
          <p:nvPr/>
        </p:nvSpPr>
        <p:spPr>
          <a:xfrm>
            <a:off x="2916936" y="1819655"/>
            <a:ext cx="566928" cy="566928"/>
          </a:xfrm>
          <a:prstGeom prst="ellipse">
            <a:avLst/>
          </a:prstGeom>
          <a:solidFill>
            <a:srgbClr val="E8434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4630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7A6A"/>
                </a:solidFill>
                <a:latin typeface="微軟正黑體"/>
              </a:rPr>
              <a:t>紅</a:t>
            </a:r>
          </a:p>
        </p:txBody>
      </p:sp>
      <p:sp>
        <p:nvSpPr>
          <p:cNvPr id="9" name="Oval 8"/>
          <p:cNvSpPr/>
          <p:nvPr/>
        </p:nvSpPr>
        <p:spPr>
          <a:xfrm>
            <a:off x="3854196" y="2070794"/>
            <a:ext cx="566928" cy="566928"/>
          </a:xfrm>
          <a:prstGeom prst="ellipse">
            <a:avLst/>
          </a:prstGeom>
          <a:solidFill>
            <a:srgbClr val="E86A3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1781556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7A6A"/>
                </a:solidFill>
                <a:latin typeface="微軟正黑體"/>
              </a:rPr>
              <a:t>紅橙</a:t>
            </a:r>
          </a:p>
        </p:txBody>
      </p:sp>
      <p:sp>
        <p:nvSpPr>
          <p:cNvPr id="11" name="Oval 10"/>
          <p:cNvSpPr/>
          <p:nvPr/>
        </p:nvSpPr>
        <p:spPr>
          <a:xfrm>
            <a:off x="4540317" y="2756916"/>
            <a:ext cx="566928" cy="566928"/>
          </a:xfrm>
          <a:prstGeom prst="ellipse">
            <a:avLst/>
          </a:prstGeom>
          <a:solidFill>
            <a:srgbClr val="E89A3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9283" y="265176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7A6A"/>
                </a:solidFill>
                <a:latin typeface="微軟正黑體"/>
              </a:rPr>
              <a:t>橙</a:t>
            </a:r>
          </a:p>
        </p:txBody>
      </p:sp>
      <p:sp>
        <p:nvSpPr>
          <p:cNvPr id="13" name="Oval 12"/>
          <p:cNvSpPr/>
          <p:nvPr/>
        </p:nvSpPr>
        <p:spPr>
          <a:xfrm>
            <a:off x="4791456" y="3694176"/>
            <a:ext cx="566928" cy="566928"/>
          </a:xfrm>
          <a:prstGeom prst="ellipse">
            <a:avLst/>
          </a:prstGeom>
          <a:solidFill>
            <a:srgbClr val="E8C2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3840479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7A6A"/>
                </a:solidFill>
                <a:latin typeface="微軟正黑體"/>
              </a:rPr>
              <a:t>黃橙</a:t>
            </a:r>
          </a:p>
        </p:txBody>
      </p:sp>
      <p:sp>
        <p:nvSpPr>
          <p:cNvPr id="15" name="Oval 14"/>
          <p:cNvSpPr/>
          <p:nvPr/>
        </p:nvSpPr>
        <p:spPr>
          <a:xfrm>
            <a:off x="4540317" y="4631436"/>
            <a:ext cx="566928" cy="566928"/>
          </a:xfrm>
          <a:prstGeom prst="ellipse">
            <a:avLst/>
          </a:prstGeom>
          <a:solidFill>
            <a:srgbClr val="E6DA5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9283" y="5029199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7A6A"/>
                </a:solidFill>
                <a:latin typeface="微軟正黑體"/>
              </a:rPr>
              <a:t>黃</a:t>
            </a:r>
          </a:p>
        </p:txBody>
      </p:sp>
      <p:sp>
        <p:nvSpPr>
          <p:cNvPr id="17" name="Oval 16"/>
          <p:cNvSpPr/>
          <p:nvPr/>
        </p:nvSpPr>
        <p:spPr>
          <a:xfrm>
            <a:off x="3854196" y="5317557"/>
            <a:ext cx="566928" cy="566928"/>
          </a:xfrm>
          <a:prstGeom prst="ellipse">
            <a:avLst/>
          </a:prstGeom>
          <a:solidFill>
            <a:srgbClr val="A8C8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5899403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7A6A"/>
                </a:solidFill>
                <a:latin typeface="微軟正黑體"/>
              </a:rPr>
              <a:t>黃綠</a:t>
            </a:r>
          </a:p>
        </p:txBody>
      </p:sp>
      <p:sp>
        <p:nvSpPr>
          <p:cNvPr id="19" name="Oval 18"/>
          <p:cNvSpPr/>
          <p:nvPr/>
        </p:nvSpPr>
        <p:spPr>
          <a:xfrm>
            <a:off x="2916936" y="5568696"/>
            <a:ext cx="566928" cy="566928"/>
          </a:xfrm>
          <a:prstGeom prst="ellipse">
            <a:avLst/>
          </a:prstGeom>
          <a:solidFill>
            <a:srgbClr val="5AA8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6217919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7A6A"/>
                </a:solidFill>
                <a:latin typeface="微軟正黑體"/>
              </a:rPr>
              <a:t>綠</a:t>
            </a:r>
          </a:p>
        </p:txBody>
      </p:sp>
      <p:sp>
        <p:nvSpPr>
          <p:cNvPr id="21" name="Oval 20"/>
          <p:cNvSpPr/>
          <p:nvPr/>
        </p:nvSpPr>
        <p:spPr>
          <a:xfrm>
            <a:off x="1979676" y="5317557"/>
            <a:ext cx="566928" cy="566928"/>
          </a:xfrm>
          <a:prstGeom prst="ellipse">
            <a:avLst/>
          </a:prstGeom>
          <a:solidFill>
            <a:srgbClr val="4AA8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5899403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7A6A"/>
                </a:solidFill>
                <a:latin typeface="微軟正黑體"/>
              </a:rPr>
              <a:t>藍綠</a:t>
            </a:r>
          </a:p>
        </p:txBody>
      </p:sp>
      <p:sp>
        <p:nvSpPr>
          <p:cNvPr id="23" name="Oval 22"/>
          <p:cNvSpPr/>
          <p:nvPr/>
        </p:nvSpPr>
        <p:spPr>
          <a:xfrm>
            <a:off x="1293554" y="4631436"/>
            <a:ext cx="566928" cy="566928"/>
          </a:xfrm>
          <a:prstGeom prst="ellipse">
            <a:avLst/>
          </a:prstGeom>
          <a:solidFill>
            <a:srgbClr val="4A7A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436" y="5029199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7A6A"/>
                </a:solidFill>
                <a:latin typeface="微軟正黑體"/>
              </a:rPr>
              <a:t>藍</a:t>
            </a:r>
          </a:p>
        </p:txBody>
      </p:sp>
      <p:sp>
        <p:nvSpPr>
          <p:cNvPr id="25" name="Oval 24"/>
          <p:cNvSpPr/>
          <p:nvPr/>
        </p:nvSpPr>
        <p:spPr>
          <a:xfrm>
            <a:off x="1042416" y="3694176"/>
            <a:ext cx="566928" cy="566928"/>
          </a:xfrm>
          <a:prstGeom prst="ellipse">
            <a:avLst/>
          </a:prstGeom>
          <a:solidFill>
            <a:srgbClr val="6A5AB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40479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7A6A"/>
                </a:solidFill>
                <a:latin typeface="微軟正黑體"/>
              </a:rPr>
              <a:t>藍紫</a:t>
            </a:r>
          </a:p>
        </p:txBody>
      </p:sp>
      <p:sp>
        <p:nvSpPr>
          <p:cNvPr id="27" name="Oval 26"/>
          <p:cNvSpPr/>
          <p:nvPr/>
        </p:nvSpPr>
        <p:spPr>
          <a:xfrm>
            <a:off x="1293554" y="2756915"/>
            <a:ext cx="566928" cy="566928"/>
          </a:xfrm>
          <a:prstGeom prst="ellipse">
            <a:avLst/>
          </a:prstGeom>
          <a:solidFill>
            <a:srgbClr val="9A5AB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436" y="265176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7A6A"/>
                </a:solidFill>
                <a:latin typeface="微軟正黑體"/>
              </a:rPr>
              <a:t>紫</a:t>
            </a:r>
          </a:p>
        </p:txBody>
      </p:sp>
      <p:sp>
        <p:nvSpPr>
          <p:cNvPr id="29" name="Oval 28"/>
          <p:cNvSpPr/>
          <p:nvPr/>
        </p:nvSpPr>
        <p:spPr>
          <a:xfrm>
            <a:off x="1979675" y="2070794"/>
            <a:ext cx="566928" cy="566928"/>
          </a:xfrm>
          <a:prstGeom prst="ellipse">
            <a:avLst/>
          </a:prstGeom>
          <a:solidFill>
            <a:srgbClr val="C84A8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39" y="1781556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7A6A"/>
                </a:solidFill>
                <a:latin typeface="微軟正黑體"/>
              </a:rPr>
              <a:t>紅紫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3639312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A95C66"/>
                </a:solidFill>
                <a:latin typeface="微軟正黑體"/>
              </a:rPr>
              <a:t>色相環</a:t>
            </a:r>
          </a:p>
        </p:txBody>
      </p:sp>
      <p:sp>
        <p:nvSpPr>
          <p:cNvPr id="32" name="Oval 31"/>
          <p:cNvSpPr/>
          <p:nvPr/>
        </p:nvSpPr>
        <p:spPr>
          <a:xfrm>
            <a:off x="6355080" y="1901952"/>
            <a:ext cx="128016" cy="128016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2" y="1810512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三原色（原色）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212848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紅・黃・藍——無法由其他顏色調出，是一切色彩的源頭。</a:t>
            </a:r>
          </a:p>
        </p:txBody>
      </p:sp>
      <p:sp>
        <p:nvSpPr>
          <p:cNvPr id="35" name="Oval 34"/>
          <p:cNvSpPr/>
          <p:nvPr/>
        </p:nvSpPr>
        <p:spPr>
          <a:xfrm>
            <a:off x="6355080" y="3017520"/>
            <a:ext cx="128016" cy="128016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6832" y="2926079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三間色（二次色）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328415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橙（紅+黃）、綠（黃+藍）、紫（藍+紅）——兩原色等量相混。</a:t>
            </a:r>
          </a:p>
        </p:txBody>
      </p:sp>
      <p:sp>
        <p:nvSpPr>
          <p:cNvPr id="38" name="Oval 37"/>
          <p:cNvSpPr/>
          <p:nvPr/>
        </p:nvSpPr>
        <p:spPr>
          <a:xfrm>
            <a:off x="6355080" y="4133087"/>
            <a:ext cx="128016" cy="128016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4041648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複色（三次色）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443983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原色與相鄰間色相混，如紅橙、黃綠，使色相環更細緻。</a:t>
            </a:r>
          </a:p>
        </p:txBody>
      </p:sp>
      <p:sp>
        <p:nvSpPr>
          <p:cNvPr id="41" name="Oval 40"/>
          <p:cNvSpPr/>
          <p:nvPr/>
        </p:nvSpPr>
        <p:spPr>
          <a:xfrm>
            <a:off x="6355080" y="5248655"/>
            <a:ext cx="128016" cy="128016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56832" y="5157216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冷暖之分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559551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紅橙黃為暖色、藍綠紫為冷色；暖色前進、冷色後退，影響空間感。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COLOR  SCHEMES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五種經典配色法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123" y="1691640"/>
            <a:ext cx="2148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003" y="1856232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同類配色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003" y="2240280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同色相・不同明彩度</a:t>
            </a:r>
          </a:p>
        </p:txBody>
      </p:sp>
      <p:sp>
        <p:nvSpPr>
          <p:cNvPr id="10" name="Oval 9"/>
          <p:cNvSpPr/>
          <p:nvPr/>
        </p:nvSpPr>
        <p:spPr>
          <a:xfrm>
            <a:off x="486003" y="2679192"/>
            <a:ext cx="502920" cy="502920"/>
          </a:xfrm>
          <a:prstGeom prst="ellipse">
            <a:avLst/>
          </a:prstGeom>
          <a:solidFill>
            <a:srgbClr val="F0C8C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0363" y="2679192"/>
            <a:ext cx="502920" cy="502920"/>
          </a:xfrm>
          <a:prstGeom prst="ellipse">
            <a:avLst/>
          </a:prstGeom>
          <a:solidFill>
            <a:srgbClr val="C97B8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74723" y="2679192"/>
            <a:ext cx="502920" cy="502920"/>
          </a:xfrm>
          <a:prstGeom prst="ellipse">
            <a:avLst/>
          </a:prstGeom>
          <a:solidFill>
            <a:srgbClr val="8E444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3" y="331927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96E"/>
                </a:solidFill>
                <a:latin typeface="微軟正黑體"/>
              </a:rPr>
              <a:t>和諧內斂，統一氛圍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62275" y="1691640"/>
            <a:ext cx="2148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5155" y="1856232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鄰近配色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5155" y="2240280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相鄰 2–3 色</a:t>
            </a:r>
          </a:p>
        </p:txBody>
      </p:sp>
      <p:sp>
        <p:nvSpPr>
          <p:cNvPr id="17" name="Oval 16"/>
          <p:cNvSpPr/>
          <p:nvPr/>
        </p:nvSpPr>
        <p:spPr>
          <a:xfrm>
            <a:off x="2845155" y="2679192"/>
            <a:ext cx="502920" cy="502920"/>
          </a:xfrm>
          <a:prstGeom prst="ellipse">
            <a:avLst/>
          </a:prstGeom>
          <a:solidFill>
            <a:srgbClr val="4A7A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39515" y="2679192"/>
            <a:ext cx="502920" cy="502920"/>
          </a:xfrm>
          <a:prstGeom prst="ellipse">
            <a:avLst/>
          </a:prstGeom>
          <a:solidFill>
            <a:srgbClr val="6A5AB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33875" y="2679192"/>
            <a:ext cx="502920" cy="502920"/>
          </a:xfrm>
          <a:prstGeom prst="ellipse">
            <a:avLst/>
          </a:prstGeom>
          <a:solidFill>
            <a:srgbClr val="9A5AB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45155" y="331927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96E"/>
                </a:solidFill>
                <a:latin typeface="微軟正黑體"/>
              </a:rPr>
              <a:t>自然柔和，過渡流暢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1427" y="1691640"/>
            <a:ext cx="2148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4307" y="1856232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互補配色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4307" y="2240280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色環對角兩色</a:t>
            </a:r>
          </a:p>
        </p:txBody>
      </p:sp>
      <p:sp>
        <p:nvSpPr>
          <p:cNvPr id="24" name="Oval 23"/>
          <p:cNvSpPr/>
          <p:nvPr/>
        </p:nvSpPr>
        <p:spPr>
          <a:xfrm>
            <a:off x="5204307" y="2679192"/>
            <a:ext cx="502920" cy="502920"/>
          </a:xfrm>
          <a:prstGeom prst="ellipse">
            <a:avLst/>
          </a:prstGeom>
          <a:solidFill>
            <a:srgbClr val="E8434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98667" y="2679192"/>
            <a:ext cx="502920" cy="502920"/>
          </a:xfrm>
          <a:prstGeom prst="ellipse">
            <a:avLst/>
          </a:prstGeom>
          <a:solidFill>
            <a:srgbClr val="5AA8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04307" y="331927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96E"/>
                </a:solidFill>
                <a:latin typeface="微軟正黑體"/>
              </a:rPr>
              <a:t>強烈對比，最具張力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80579" y="1691640"/>
            <a:ext cx="2148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3459" y="1856232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分裂互補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3459" y="2240280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一色＋互補兩側</a:t>
            </a:r>
          </a:p>
        </p:txBody>
      </p:sp>
      <p:sp>
        <p:nvSpPr>
          <p:cNvPr id="30" name="Oval 29"/>
          <p:cNvSpPr/>
          <p:nvPr/>
        </p:nvSpPr>
        <p:spPr>
          <a:xfrm>
            <a:off x="7563459" y="2679192"/>
            <a:ext cx="502920" cy="502920"/>
          </a:xfrm>
          <a:prstGeom prst="ellipse">
            <a:avLst/>
          </a:prstGeom>
          <a:solidFill>
            <a:srgbClr val="E8434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57819" y="2679192"/>
            <a:ext cx="502920" cy="502920"/>
          </a:xfrm>
          <a:prstGeom prst="ellipse">
            <a:avLst/>
          </a:prstGeom>
          <a:solidFill>
            <a:srgbClr val="4AA8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2179" y="2679192"/>
            <a:ext cx="502920" cy="502920"/>
          </a:xfrm>
          <a:prstGeom prst="ellipse">
            <a:avLst/>
          </a:prstGeom>
          <a:solidFill>
            <a:srgbClr val="A8C8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3459" y="331927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96E"/>
                </a:solidFill>
                <a:latin typeface="微軟正黑體"/>
              </a:rPr>
              <a:t>有對比又不刺眼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39731" y="1691640"/>
            <a:ext cx="2148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2611" y="1856232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三角配色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2611" y="2240280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等距三色</a:t>
            </a:r>
          </a:p>
        </p:txBody>
      </p:sp>
      <p:sp>
        <p:nvSpPr>
          <p:cNvPr id="37" name="Oval 36"/>
          <p:cNvSpPr/>
          <p:nvPr/>
        </p:nvSpPr>
        <p:spPr>
          <a:xfrm>
            <a:off x="9922611" y="2679192"/>
            <a:ext cx="502920" cy="502920"/>
          </a:xfrm>
          <a:prstGeom prst="ellipse">
            <a:avLst/>
          </a:prstGeom>
          <a:solidFill>
            <a:srgbClr val="E8434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16971" y="2679192"/>
            <a:ext cx="502920" cy="502920"/>
          </a:xfrm>
          <a:prstGeom prst="ellipse">
            <a:avLst/>
          </a:prstGeom>
          <a:solidFill>
            <a:srgbClr val="E6DA5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111331" y="2679192"/>
            <a:ext cx="502920" cy="502920"/>
          </a:xfrm>
          <a:prstGeom prst="ellipse">
            <a:avLst/>
          </a:prstGeom>
          <a:solidFill>
            <a:srgbClr val="4A7A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22611" y="331927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96E"/>
                </a:solidFill>
                <a:latin typeface="微軟正黑體"/>
              </a:rPr>
              <a:t>活潑均衡，色彩豐富</a:t>
            </a:r>
          </a:p>
        </p:txBody>
      </p:sp>
      <p:pic>
        <p:nvPicPr>
          <p:cNvPr id="41" name="Picture 40" descr="470937_0.jpg"/>
          <p:cNvPicPr>
            <a:picLocks noChangeAspect="1"/>
          </p:cNvPicPr>
          <p:nvPr/>
        </p:nvPicPr>
        <p:blipFill>
          <a:blip r:embed="rId3"/>
          <a:srcRect t="12083" b="12292"/>
          <a:stretch>
            <a:fillRect/>
          </a:stretch>
        </p:blipFill>
        <p:spPr>
          <a:xfrm>
            <a:off x="640080" y="3977639"/>
            <a:ext cx="3474720" cy="25603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42" name="Picture 41" descr="art2.jpg"/>
          <p:cNvPicPr>
            <a:picLocks noChangeAspect="1"/>
          </p:cNvPicPr>
          <p:nvPr/>
        </p:nvPicPr>
        <p:blipFill>
          <a:blip r:embed="rId4"/>
          <a:srcRect t="29375" b="29375"/>
          <a:stretch>
            <a:fillRect/>
          </a:stretch>
        </p:blipFill>
        <p:spPr>
          <a:xfrm>
            <a:off x="4343400" y="3977639"/>
            <a:ext cx="3474720" cy="25603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43" name="Picture 42" descr="art6.jpg"/>
          <p:cNvPicPr>
            <a:picLocks noChangeAspect="1"/>
          </p:cNvPicPr>
          <p:nvPr/>
        </p:nvPicPr>
        <p:blipFill>
          <a:blip r:embed="rId5"/>
          <a:srcRect t="27917" b="27917"/>
          <a:stretch>
            <a:fillRect/>
          </a:stretch>
        </p:blipFill>
        <p:spPr>
          <a:xfrm>
            <a:off x="8046720" y="3977639"/>
            <a:ext cx="3474720" cy="25603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sp>
        <p:nvSpPr>
          <p:cNvPr id="44" name="TextBox 43"/>
          <p:cNvSpPr txBox="1"/>
          <p:nvPr/>
        </p:nvSpPr>
        <p:spPr>
          <a:xfrm>
            <a:off x="640080" y="660196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7A6A"/>
                </a:solidFill>
                <a:latin typeface="微軟正黑體"/>
              </a:rPr>
              <a:t>▲ 鄰近配色上色過程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3400" y="660196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7A6A"/>
                </a:solidFill>
                <a:latin typeface="微軟正黑體"/>
              </a:rPr>
              <a:t>▲ 互補配色完成作品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660196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7A6A"/>
                </a:solidFill>
                <a:latin typeface="微軟正黑體"/>
              </a:rPr>
              <a:t>▲ 三角配色完成作品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MIXING 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實用調色技巧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5760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109728" cy="74980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A95C66"/>
                </a:solidFill>
                <a:latin typeface="微軟正黑體"/>
              </a:rPr>
              <a:t>提高明度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36192"/>
            <a:ext cx="358444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加入白色——顏色變亮、變粉嫩，適合花瓣高光與漸層。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59152"/>
            <a:ext cx="5760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359152"/>
            <a:ext cx="109728" cy="74980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41448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A95C66"/>
                </a:solidFill>
                <a:latin typeface="微軟正黑體"/>
              </a:rPr>
              <a:t>降低明度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377440"/>
            <a:ext cx="358444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加入少量黑或深褐——加深陰影，黑色易濁，宜少量多次。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00400"/>
            <a:ext cx="5760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00400"/>
            <a:ext cx="109728" cy="74980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82696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A95C66"/>
                </a:solidFill>
                <a:latin typeface="微軟正黑體"/>
              </a:rPr>
              <a:t>降低彩度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218688"/>
            <a:ext cx="358444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加灰或加一點互補色——讓過於鮮豔的色變柔和耐看。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41648"/>
            <a:ext cx="5760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041648"/>
            <a:ext cx="109728" cy="74980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A95C66"/>
                </a:solidFill>
                <a:latin typeface="微軟正黑體"/>
              </a:rPr>
              <a:t>調出高級灰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059935"/>
            <a:ext cx="358444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互補色相混可中和成有層次的「高級灰」，勝過直接用黑灰。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82896"/>
            <a:ext cx="5760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882896"/>
            <a:ext cx="109728" cy="74980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65192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A95C66"/>
                </a:solidFill>
                <a:latin typeface="微軟正黑體"/>
              </a:rPr>
              <a:t>漸層練習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901183"/>
            <a:ext cx="358444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同色相由淺到深排出 5 階，是曼陀羅層次感的關鍵基本功。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24144"/>
            <a:ext cx="5760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724144"/>
            <a:ext cx="109728" cy="749808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806440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A95C66"/>
                </a:solidFill>
                <a:latin typeface="微軟正黑體"/>
              </a:rPr>
              <a:t>先淺後深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5742431"/>
            <a:ext cx="358444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由淺色鋪底、再疊深色——好修正，畫面也更通透乾淨。</a:t>
            </a:r>
          </a:p>
        </p:txBody>
      </p:sp>
      <p:pic>
        <p:nvPicPr>
          <p:cNvPr id="31" name="Picture 30" descr="proc1.jpg"/>
          <p:cNvPicPr>
            <a:picLocks noChangeAspect="1"/>
          </p:cNvPicPr>
          <p:nvPr/>
        </p:nvPicPr>
        <p:blipFill>
          <a:blip r:embed="rId3"/>
          <a:srcRect l="17914" r="17914"/>
          <a:stretch>
            <a:fillRect/>
          </a:stretch>
        </p:blipFill>
        <p:spPr>
          <a:xfrm>
            <a:off x="6720840" y="1517904"/>
            <a:ext cx="2560320" cy="5102352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32" name="Picture 31" descr="470938_0.jpg"/>
          <p:cNvPicPr>
            <a:picLocks noChangeAspect="1"/>
          </p:cNvPicPr>
          <p:nvPr/>
        </p:nvPicPr>
        <p:blipFill>
          <a:blip r:embed="rId4"/>
          <a:srcRect l="21792" r="22034"/>
          <a:stretch>
            <a:fillRect/>
          </a:stretch>
        </p:blipFill>
        <p:spPr>
          <a:xfrm>
            <a:off x="9464040" y="1517904"/>
            <a:ext cx="2468880" cy="5102352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6720840" y="6675120"/>
            <a:ext cx="52120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7A6A"/>
                </a:solidFill>
                <a:latin typeface="微軟正黑體"/>
              </a:rPr>
              <a:t>▲ 學員實際調色・分層上色過程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COLOR  PSYCHOLOGY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色彩心理學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A7A6A"/>
                </a:solidFill>
                <a:latin typeface="微軟正黑體"/>
              </a:rPr>
              <a:t>顏色會說話。理解色彩傳遞的情緒，讓曼陀羅不只好看，更能呼應內在。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127" y="1901952"/>
            <a:ext cx="2743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5127" y="1901952"/>
            <a:ext cx="438912" cy="1600200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4583" y="1901952"/>
            <a:ext cx="219456" cy="1600200"/>
          </a:xfrm>
          <a:prstGeom prst="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2055" y="1993392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95C66"/>
                </a:solidFill>
                <a:latin typeface="微軟正黑體"/>
              </a:rPr>
              <a:t>紅  熱情・能量・行動力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055" y="2377440"/>
            <a:ext cx="20574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激發動能、提振精神。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象徵勇氣與強烈的生命力，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使人感到興奮與躍躍欲試。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1207" y="1901952"/>
            <a:ext cx="2743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61207" y="1901952"/>
            <a:ext cx="438912" cy="1600200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0663" y="1901952"/>
            <a:ext cx="219456" cy="1600200"/>
          </a:xfrm>
          <a:prstGeom prst="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8135" y="1993392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95C66"/>
                </a:solidFill>
                <a:latin typeface="微軟正黑體"/>
              </a:rPr>
              <a:t>橙  溫暖・喜悅・社交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8135" y="2377440"/>
            <a:ext cx="20574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帶來歡快、開朗的氛圍。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有助增進人際溝通，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讓人感受到溫度與活力。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1901952"/>
            <a:ext cx="2743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7287" y="1901952"/>
            <a:ext cx="438912" cy="1600200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6743" y="1901952"/>
            <a:ext cx="219456" cy="1600200"/>
          </a:xfrm>
          <a:prstGeom prst="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54215" y="1993392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95C66"/>
                </a:solidFill>
                <a:latin typeface="微軟正黑體"/>
              </a:rPr>
              <a:t>黃  陽光・希望・自信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4215" y="2377440"/>
            <a:ext cx="20574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象徵光明與樂觀的心境。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激發創意與好奇心，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讓人充滿希望感與正能量。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13367" y="1901952"/>
            <a:ext cx="2743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13367" y="1901952"/>
            <a:ext cx="438912" cy="1600200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32823" y="1901952"/>
            <a:ext cx="219456" cy="1600200"/>
          </a:xfrm>
          <a:prstGeom prst="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80295" y="1993392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95C66"/>
                </a:solidFill>
                <a:latin typeface="微軟正黑體"/>
              </a:rPr>
              <a:t>綠  療癒・平衡・安定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0295" y="2377440"/>
            <a:ext cx="20574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自然界最和諧的色彩。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緩解壓力、平衡身心，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帶來放鬆、平靜的療癒感。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5127" y="3666744"/>
            <a:ext cx="2743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5127" y="3666744"/>
            <a:ext cx="438912" cy="1600200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4583" y="3666744"/>
            <a:ext cx="219456" cy="1600200"/>
          </a:xfrm>
          <a:prstGeom prst="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055" y="3758183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95C66"/>
                </a:solidFill>
                <a:latin typeface="微軟正黑體"/>
              </a:rPr>
              <a:t>藍  冷靜・信任・沉澱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055" y="4142231"/>
            <a:ext cx="20574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讓思緒沉澱、回歸理性。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傳遞誠信與穩重，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適合需要靜心專注的狀態。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61207" y="3666744"/>
            <a:ext cx="2743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261207" y="3666744"/>
            <a:ext cx="438912" cy="1600200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80663" y="3666744"/>
            <a:ext cx="219456" cy="1600200"/>
          </a:xfrm>
          <a:prstGeom prst="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28135" y="3758183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95C66"/>
                </a:solidFill>
                <a:latin typeface="微軟正黑體"/>
              </a:rPr>
              <a:t>紫  靈性・直覺・想像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28135" y="4142231"/>
            <a:ext cx="20574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連結內在深層意識。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象徵智慧與神秘，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喚起靈感、直覺與靈性感受。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7287" y="3666744"/>
            <a:ext cx="2743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87287" y="3666744"/>
            <a:ext cx="438912" cy="1600200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6743" y="3666744"/>
            <a:ext cx="219456" cy="1600200"/>
          </a:xfrm>
          <a:prstGeom prst="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54215" y="3758183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95C66"/>
                </a:solidFill>
                <a:latin typeface="微軟正黑體"/>
              </a:rPr>
              <a:t>粉  溫柔・愛・包容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4215" y="4142231"/>
            <a:ext cx="20574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傳遞溫柔與無條件的愛。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讓人放下防備、敞開心房，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感受被呵護與接納的溫暖。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13367" y="3666744"/>
            <a:ext cx="2743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13367" y="3666744"/>
            <a:ext cx="438912" cy="1600200"/>
          </a:xfrm>
          <a:prstGeom prst="roundRect">
            <a:avLst/>
          </a:prstGeom>
          <a:solidFill>
            <a:srgbClr val="F0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32823" y="3666744"/>
            <a:ext cx="219456" cy="1600200"/>
          </a:xfrm>
          <a:prstGeom prst="rect">
            <a:avLst/>
          </a:prstGeom>
          <a:solidFill>
            <a:srgbClr val="F0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80295" y="3758183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95C66"/>
                </a:solidFill>
                <a:latin typeface="微軟正黑體"/>
              </a:rPr>
              <a:t>白  純淨・開始・留白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80295" y="4142231"/>
            <a:ext cx="20574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象徵清白與全新的起點。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在畫面中製造「留白」，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讓其他色彩更顯呼吸與空間感。</a:t>
            </a:r>
          </a:p>
        </p:txBody>
      </p:sp>
      <p:pic>
        <p:nvPicPr>
          <p:cNvPr id="48" name="Picture 47" descr="art4.jpg"/>
          <p:cNvPicPr>
            <a:picLocks noChangeAspect="1"/>
          </p:cNvPicPr>
          <p:nvPr/>
        </p:nvPicPr>
        <p:blipFill>
          <a:blip r:embed="rId3"/>
          <a:srcRect t="25833" b="25833"/>
          <a:stretch>
            <a:fillRect/>
          </a:stretch>
        </p:blipFill>
        <p:spPr>
          <a:xfrm>
            <a:off x="640080" y="5376672"/>
            <a:ext cx="3474720" cy="1261872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49" name="Picture 48" descr="art5.jpg"/>
          <p:cNvPicPr>
            <a:picLocks noChangeAspect="1"/>
          </p:cNvPicPr>
          <p:nvPr/>
        </p:nvPicPr>
        <p:blipFill>
          <a:blip r:embed="rId4"/>
          <a:srcRect t="18333" b="18333"/>
          <a:stretch>
            <a:fillRect/>
          </a:stretch>
        </p:blipFill>
        <p:spPr>
          <a:xfrm>
            <a:off x="4343400" y="5376672"/>
            <a:ext cx="3474720" cy="1261872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50" name="Picture 49" descr="art6.jpg"/>
          <p:cNvPicPr>
            <a:picLocks noChangeAspect="1"/>
          </p:cNvPicPr>
          <p:nvPr/>
        </p:nvPicPr>
        <p:blipFill>
          <a:blip r:embed="rId5"/>
          <a:srcRect t="39167" b="39167"/>
          <a:stretch>
            <a:fillRect/>
          </a:stretch>
        </p:blipFill>
        <p:spPr>
          <a:xfrm>
            <a:off x="8046720" y="5376672"/>
            <a:ext cx="3474720" cy="1261872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sp>
        <p:nvSpPr>
          <p:cNvPr id="51" name="TextBox 50"/>
          <p:cNvSpPr txBox="1"/>
          <p:nvPr/>
        </p:nvSpPr>
        <p:spPr>
          <a:xfrm>
            <a:off x="640080" y="6675120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7A6A"/>
                </a:solidFill>
                <a:latin typeface="微軟正黑體"/>
              </a:rPr>
              <a:t>▲ 暖色系：熱情與能量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43400" y="6675120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7A6A"/>
                </a:solidFill>
                <a:latin typeface="微軟正黑體"/>
              </a:rPr>
              <a:t>▲ 冷色系：靈性與沉澱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6675120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7A6A"/>
                </a:solidFill>
                <a:latin typeface="微軟正黑體"/>
              </a:rPr>
              <a:t>▲ 多色：活力與均衡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COLOR  ENERGY  &amp;  PERSONALITY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色彩能量・個性對照表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6295" y="1572768"/>
            <a:ext cx="269748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6295" y="1572768"/>
            <a:ext cx="777240" cy="2331720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9487" y="1572768"/>
            <a:ext cx="384048" cy="2331720"/>
          </a:xfrm>
          <a:prstGeom prst="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4583" y="2487168"/>
            <a:ext cx="740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0695" y="1737360"/>
            <a:ext cx="1645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8434B"/>
                </a:solidFill>
                <a:latin typeface="微軟正黑體"/>
              </a:rPr>
              <a:t>行動 · 能量 · 熱情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50695" y="2240280"/>
            <a:ext cx="1554480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0695" y="2331720"/>
            <a:ext cx="1645920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行動力強  充滿幹勁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勇氣十足  領導氣質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3503" y="1572768"/>
            <a:ext cx="269748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43503" y="1572768"/>
            <a:ext cx="777240" cy="2331720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36695" y="1572768"/>
            <a:ext cx="384048" cy="2331720"/>
          </a:xfrm>
          <a:prstGeom prst="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1791" y="2487168"/>
            <a:ext cx="740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7903" y="1737360"/>
            <a:ext cx="1645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89A3A"/>
                </a:solidFill>
                <a:latin typeface="微軟正黑體"/>
              </a:rPr>
              <a:t>溫暖 · 社交 · 喜悅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7903" y="2240280"/>
            <a:ext cx="1554480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7903" y="2331720"/>
            <a:ext cx="1645920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外向開朗  善於溝通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活潑感染  暖化人心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0711" y="1572768"/>
            <a:ext cx="269748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D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50711" y="1572768"/>
            <a:ext cx="777240" cy="2331720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3903" y="1572768"/>
            <a:ext cx="384048" cy="2331720"/>
          </a:xfrm>
          <a:prstGeom prst="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8999" y="2487168"/>
            <a:ext cx="740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5111" y="1737360"/>
            <a:ext cx="1645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6DA55"/>
                </a:solidFill>
                <a:latin typeface="微軟正黑體"/>
              </a:rPr>
              <a:t>陽光 · 智慧 · 希望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65111" y="2240280"/>
            <a:ext cx="1554480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65111" y="2331720"/>
            <a:ext cx="1645920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積極樂觀  創意豐富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自信滿滿  活力四射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7919" y="1572768"/>
            <a:ext cx="269748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A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57919" y="1572768"/>
            <a:ext cx="777240" cy="2331720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51111" y="1572768"/>
            <a:ext cx="384048" cy="2331720"/>
          </a:xfrm>
          <a:prstGeom prst="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76207" y="2487168"/>
            <a:ext cx="740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2319" y="1737360"/>
            <a:ext cx="1645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5AA85A"/>
                </a:solidFill>
                <a:latin typeface="微軟正黑體"/>
              </a:rPr>
              <a:t>療癒 · 平衡 · 安定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2319" y="2240280"/>
            <a:ext cx="1554480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2319" y="2331720"/>
            <a:ext cx="1645920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穩重踏實  善解人意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身心放鬆  平靜舒緩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6295" y="4069080"/>
            <a:ext cx="269748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7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36295" y="4069080"/>
            <a:ext cx="777240" cy="2331720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9487" y="4069080"/>
            <a:ext cx="384048" cy="2331720"/>
          </a:xfrm>
          <a:prstGeom prst="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4583" y="4983480"/>
            <a:ext cx="740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50695" y="4233672"/>
            <a:ext cx="1645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A7AC8"/>
                </a:solidFill>
                <a:latin typeface="微軟正黑體"/>
              </a:rPr>
              <a:t>冷靜 · 信任 · 深度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50695" y="4736592"/>
            <a:ext cx="1554480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50695" y="4828032"/>
            <a:ext cx="1645920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理性分析  邏輯清晰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值得信賴  追求深度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43503" y="4069080"/>
            <a:ext cx="269748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A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343503" y="4069080"/>
            <a:ext cx="777240" cy="2331720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36695" y="4069080"/>
            <a:ext cx="384048" cy="2331720"/>
          </a:xfrm>
          <a:prstGeom prst="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61791" y="4983480"/>
            <a:ext cx="740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7903" y="4233672"/>
            <a:ext cx="1645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9A5AB8"/>
                </a:solidFill>
                <a:latin typeface="微軟正黑體"/>
              </a:rPr>
              <a:t>靈性 · 直覺 · 神秘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7903" y="4736592"/>
            <a:ext cx="1554480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57903" y="4828032"/>
            <a:ext cx="1645920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富想象力  靈性敏感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神秘獨特  直覺敏銳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50711" y="4069080"/>
            <a:ext cx="269748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A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50711" y="4069080"/>
            <a:ext cx="777240" cy="2331720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43903" y="4069080"/>
            <a:ext cx="384048" cy="2331720"/>
          </a:xfrm>
          <a:prstGeom prst="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68999" y="4983480"/>
            <a:ext cx="740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65111" y="4233672"/>
            <a:ext cx="1645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6A9C0"/>
                </a:solidFill>
                <a:latin typeface="微軟正黑體"/>
              </a:rPr>
              <a:t>溫柔 · 愛 · 包容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65111" y="4736592"/>
            <a:ext cx="1554480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65111" y="4828032"/>
            <a:ext cx="1645920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溫柔細膩  善於關懷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情感豐富  包容體貼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57919" y="4069080"/>
            <a:ext cx="269748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C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957919" y="4069080"/>
            <a:ext cx="777240" cy="2331720"/>
          </a:xfrm>
          <a:prstGeom prst="roundRect">
            <a:avLst/>
          </a:prstGeom>
          <a:solidFill>
            <a:srgbClr val="CCC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51111" y="4069080"/>
            <a:ext cx="384048" cy="2331720"/>
          </a:xfrm>
          <a:prstGeom prst="rect">
            <a:avLst/>
          </a:prstGeom>
          <a:solidFill>
            <a:srgbClr val="CCC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76207" y="4983480"/>
            <a:ext cx="740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2319" y="4233672"/>
            <a:ext cx="1645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CCCC0"/>
                </a:solidFill>
                <a:latin typeface="微軟正黑體"/>
              </a:rPr>
              <a:t>純淨 · 開始 · 留白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72319" y="4736592"/>
            <a:ext cx="1554480" cy="2743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72319" y="4828032"/>
            <a:ext cx="1645920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簡約純粹  追求完美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7A6A"/>
                </a:solidFill>
                <a:latin typeface="微軟正黑體"/>
              </a:rPr>
              <a:t>心靈通透  全新起點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COLOR  PSYCHOLOGY  ·  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403A"/>
                </a:solidFill>
                <a:latin typeface="微軟正黑體"/>
              </a:rPr>
              <a:t>色彩心理學深度解析・紅色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4983480" cy="1874519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0784"/>
            <a:ext cx="18288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微軟正黑體"/>
              </a:rPr>
              <a:t>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19933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微軟正黑體"/>
              </a:rPr>
              <a:t>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2505456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軟正黑體"/>
              </a:rPr>
              <a:t>熱情  ·  能量  ·  行動  ·  勇氣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47872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04488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3950208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3950208"/>
            <a:ext cx="3214116" cy="246888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3913632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25696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4471416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03120" y="4471416"/>
            <a:ext cx="3315614" cy="246888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4434840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46904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4992624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03120" y="4992624"/>
            <a:ext cx="507492" cy="246888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495604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68112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5513832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03120" y="5513832"/>
            <a:ext cx="2706624" cy="246888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5477256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6035040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03120" y="6035040"/>
            <a:ext cx="1014984" cy="246888"/>
          </a:xfrm>
          <a:prstGeom prst="round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5998464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645920"/>
            <a:ext cx="118872" cy="420624"/>
          </a:xfrm>
          <a:prstGeom prst="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16276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434B"/>
                </a:solidFill>
                <a:latin typeface="微軟正黑體"/>
              </a:rPr>
              <a:t>個 性 特 質</a:t>
            </a:r>
          </a:p>
        </p:txBody>
      </p:sp>
      <p:sp>
        <p:nvSpPr>
          <p:cNvPr id="34" name="Oval 33"/>
          <p:cNvSpPr/>
          <p:nvPr/>
        </p:nvSpPr>
        <p:spPr>
          <a:xfrm>
            <a:off x="5998464" y="2194560"/>
            <a:ext cx="118872" cy="118872"/>
          </a:xfrm>
          <a:prstGeom prst="ellipse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2084831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行動力強，敢於挑戰、突破現狀</a:t>
            </a:r>
          </a:p>
        </p:txBody>
      </p:sp>
      <p:sp>
        <p:nvSpPr>
          <p:cNvPr id="36" name="Oval 35"/>
          <p:cNvSpPr/>
          <p:nvPr/>
        </p:nvSpPr>
        <p:spPr>
          <a:xfrm>
            <a:off x="5998464" y="2569464"/>
            <a:ext cx="118872" cy="118872"/>
          </a:xfrm>
          <a:prstGeom prst="ellipse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4496" y="2459736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充滿熱情，能感染身邊每一個人</a:t>
            </a:r>
          </a:p>
        </p:txBody>
      </p:sp>
      <p:sp>
        <p:nvSpPr>
          <p:cNvPr id="38" name="Oval 37"/>
          <p:cNvSpPr/>
          <p:nvPr/>
        </p:nvSpPr>
        <p:spPr>
          <a:xfrm>
            <a:off x="5998464" y="2944368"/>
            <a:ext cx="118872" cy="118872"/>
          </a:xfrm>
          <a:prstGeom prst="ellipse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2834640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天生領導氣質，果斷而積極主動</a:t>
            </a:r>
          </a:p>
        </p:txBody>
      </p:sp>
      <p:sp>
        <p:nvSpPr>
          <p:cNvPr id="40" name="Oval 39"/>
          <p:cNvSpPr/>
          <p:nvPr/>
        </p:nvSpPr>
        <p:spPr>
          <a:xfrm>
            <a:off x="5998464" y="3319272"/>
            <a:ext cx="118872" cy="118872"/>
          </a:xfrm>
          <a:prstGeom prst="ellipse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3209544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對生命充滿渴望與旺盛的活力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3712463"/>
            <a:ext cx="118872" cy="420624"/>
          </a:xfrm>
          <a:prstGeom prst="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9632" y="36941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434B"/>
                </a:solidFill>
                <a:latin typeface="微軟正黑體"/>
              </a:rPr>
              <a:t>生 理 · 心 理 影 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4114800"/>
            <a:ext cx="5669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紅色刺激腎上腺素分泌，使心跳加速、呼吸加快，帶來興奮、緊迫與高度專注；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是波長最長、最能凝聚行動能量的顏色。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5010912"/>
            <a:ext cx="118872" cy="420624"/>
          </a:xfrm>
          <a:prstGeom prst="rect">
            <a:avLst/>
          </a:prstGeom>
          <a:solidFill>
            <a:srgbClr val="E8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499262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434B"/>
                </a:solidFill>
                <a:latin typeface="微軟正黑體"/>
              </a:rPr>
              <a:t>心 靈 意 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98464" y="5413248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在心靈彩繪中，紅色點燃內在火種，適合需要勇氣、突破與自我肯定的階段，幫助重拾生命熱度。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6071616"/>
            <a:ext cx="5760720" cy="71323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615391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6455664"/>
            <a:ext cx="535838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以紅作花心或主花瓣，搭配金色輪廓，展現強烈生命力；少量點綴即有畫龍點睛之效。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COLOR  PSYCHOLOGY  ·  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403A"/>
                </a:solidFill>
                <a:latin typeface="微軟正黑體"/>
              </a:rPr>
              <a:t>色彩心理學深度解析・橙色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4983480" cy="1874519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0784"/>
            <a:ext cx="18288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微軟正黑體"/>
              </a:rPr>
              <a:t>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19933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微軟正黑體"/>
              </a:rPr>
              <a:t>ORANGE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2505456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軟正黑體"/>
              </a:rPr>
              <a:t>溫暖  ·  喜悅  ·  社交  ·  創意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47872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04488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3950208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3950208"/>
            <a:ext cx="2875788" cy="246888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3913632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25696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4471416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03120" y="4471416"/>
            <a:ext cx="2977286" cy="246888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4434840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46904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4992624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03120" y="4992624"/>
            <a:ext cx="1184148" cy="246888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495604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68112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5513832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03120" y="5513832"/>
            <a:ext cx="3214116" cy="246888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5477256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6035040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03120" y="6035040"/>
            <a:ext cx="1184148" cy="246888"/>
          </a:xfrm>
          <a:prstGeom prst="round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5998464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645920"/>
            <a:ext cx="118872" cy="420624"/>
          </a:xfrm>
          <a:prstGeom prst="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16276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9A3A"/>
                </a:solidFill>
                <a:latin typeface="微軟正黑體"/>
              </a:rPr>
              <a:t>個 性 特 質</a:t>
            </a:r>
          </a:p>
        </p:txBody>
      </p:sp>
      <p:sp>
        <p:nvSpPr>
          <p:cNvPr id="34" name="Oval 33"/>
          <p:cNvSpPr/>
          <p:nvPr/>
        </p:nvSpPr>
        <p:spPr>
          <a:xfrm>
            <a:off x="5998464" y="2194560"/>
            <a:ext cx="118872" cy="118872"/>
          </a:xfrm>
          <a:prstGeom prst="ellipse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2084831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外向開朗，善於人際溝通互動</a:t>
            </a:r>
          </a:p>
        </p:txBody>
      </p:sp>
      <p:sp>
        <p:nvSpPr>
          <p:cNvPr id="36" name="Oval 35"/>
          <p:cNvSpPr/>
          <p:nvPr/>
        </p:nvSpPr>
        <p:spPr>
          <a:xfrm>
            <a:off x="5998464" y="2569464"/>
            <a:ext cx="118872" cy="118872"/>
          </a:xfrm>
          <a:prstGeom prst="ellipse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4496" y="2459736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感染力強，能帶動整體氛圍</a:t>
            </a:r>
          </a:p>
        </p:txBody>
      </p:sp>
      <p:sp>
        <p:nvSpPr>
          <p:cNvPr id="38" name="Oval 37"/>
          <p:cNvSpPr/>
          <p:nvPr/>
        </p:nvSpPr>
        <p:spPr>
          <a:xfrm>
            <a:off x="5998464" y="2944368"/>
            <a:ext cx="118872" cy="118872"/>
          </a:xfrm>
          <a:prstGeom prst="ellipse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2834640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思維活潑，富有創意與巧思</a:t>
            </a:r>
          </a:p>
        </p:txBody>
      </p:sp>
      <p:sp>
        <p:nvSpPr>
          <p:cNvPr id="40" name="Oval 39"/>
          <p:cNvSpPr/>
          <p:nvPr/>
        </p:nvSpPr>
        <p:spPr>
          <a:xfrm>
            <a:off x="5998464" y="3319272"/>
            <a:ext cx="118872" cy="118872"/>
          </a:xfrm>
          <a:prstGeom prst="ellipse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3209544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情感豐沛，自然地溫暖他人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3712463"/>
            <a:ext cx="118872" cy="420624"/>
          </a:xfrm>
          <a:prstGeom prst="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9632" y="36941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9A3A"/>
                </a:solidFill>
                <a:latin typeface="微軟正黑體"/>
              </a:rPr>
              <a:t>生 理 · 心 理 影 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4114800"/>
            <a:ext cx="5669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橙色結合紅的能量與黃的溫暖，刺激食慾、提振情緒，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帶來歡快輕鬆的心情，對低落、退縮的狀態特別有提振作用。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5010912"/>
            <a:ext cx="118872" cy="420624"/>
          </a:xfrm>
          <a:prstGeom prst="rect">
            <a:avLst/>
          </a:prstGeom>
          <a:solidFill>
            <a:srgbClr val="E8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499262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9A3A"/>
                </a:solidFill>
                <a:latin typeface="微軟正黑體"/>
              </a:rPr>
              <a:t>心 靈 意 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98464" y="5413248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橙色開啟表達與連結的能量，適合需要打開心房、增進互動與重燃熱情的時刻。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6071616"/>
            <a:ext cx="5760720" cy="71323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615391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6455664"/>
            <a:ext cx="535838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橙色用於中圈花瓣搭配黃色漸層，溫暖明亮；與藍色互補可大幅增強視覺活力。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COLOR  PSYCHOLOGY  ·  YELLOW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403A"/>
                </a:solidFill>
                <a:latin typeface="微軟正黑體"/>
              </a:rPr>
              <a:t>色彩心理學深度解析・黃色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4983480" cy="1874519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0784"/>
            <a:ext cx="18288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微軟正黑體"/>
              </a:rPr>
              <a:t>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19933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微軟正黑體"/>
              </a:rPr>
              <a:t>YELLOW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2505456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軟正黑體"/>
              </a:rPr>
              <a:t>陽光  ·  智慧  ·  希望  ·  自信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47872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04488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3950208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3950208"/>
            <a:ext cx="3044952" cy="246888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3913632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25696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4471416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03120" y="4471416"/>
            <a:ext cx="2368296" cy="246888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4434840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46904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4992624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03120" y="4992624"/>
            <a:ext cx="1353312" cy="246888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495604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68112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5513832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03120" y="5513832"/>
            <a:ext cx="2875788" cy="246888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5477256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6035040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03120" y="6035040"/>
            <a:ext cx="1522476" cy="246888"/>
          </a:xfrm>
          <a:prstGeom prst="round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5998464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45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645920"/>
            <a:ext cx="118872" cy="420624"/>
          </a:xfrm>
          <a:prstGeom prst="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16276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6DA55"/>
                </a:solidFill>
                <a:latin typeface="微軟正黑體"/>
              </a:rPr>
              <a:t>個 性 特 質</a:t>
            </a:r>
          </a:p>
        </p:txBody>
      </p:sp>
      <p:sp>
        <p:nvSpPr>
          <p:cNvPr id="34" name="Oval 33"/>
          <p:cNvSpPr/>
          <p:nvPr/>
        </p:nvSpPr>
        <p:spPr>
          <a:xfrm>
            <a:off x="5998464" y="2194560"/>
            <a:ext cx="118872" cy="118872"/>
          </a:xfrm>
          <a:prstGeom prst="ellipse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2084831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思維清晰，邏輯與分析力強</a:t>
            </a:r>
          </a:p>
        </p:txBody>
      </p:sp>
      <p:sp>
        <p:nvSpPr>
          <p:cNvPr id="36" name="Oval 35"/>
          <p:cNvSpPr/>
          <p:nvPr/>
        </p:nvSpPr>
        <p:spPr>
          <a:xfrm>
            <a:off x="5998464" y="2569464"/>
            <a:ext cx="118872" cy="118872"/>
          </a:xfrm>
          <a:prstGeom prst="ellipse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4496" y="2459736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積極向上，充滿好奇心</a:t>
            </a:r>
          </a:p>
        </p:txBody>
      </p:sp>
      <p:sp>
        <p:nvSpPr>
          <p:cNvPr id="38" name="Oval 37"/>
          <p:cNvSpPr/>
          <p:nvPr/>
        </p:nvSpPr>
        <p:spPr>
          <a:xfrm>
            <a:off x="5998464" y="2944368"/>
            <a:ext cx="118872" cy="118872"/>
          </a:xfrm>
          <a:prstGeom prst="ellipse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2834640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自信從容，樂於表達自我</a:t>
            </a:r>
          </a:p>
        </p:txBody>
      </p:sp>
      <p:sp>
        <p:nvSpPr>
          <p:cNvPr id="40" name="Oval 39"/>
          <p:cNvSpPr/>
          <p:nvPr/>
        </p:nvSpPr>
        <p:spPr>
          <a:xfrm>
            <a:off x="5998464" y="3319272"/>
            <a:ext cx="118872" cy="118872"/>
          </a:xfrm>
          <a:prstGeom prst="ellipse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3209544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散發正能量，帶動希望感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3712463"/>
            <a:ext cx="118872" cy="420624"/>
          </a:xfrm>
          <a:prstGeom prst="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9632" y="36941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6DA55"/>
                </a:solidFill>
                <a:latin typeface="微軟正黑體"/>
              </a:rPr>
              <a:t>生 理 · 心 理 影 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4114800"/>
            <a:ext cx="5669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黃色是視覺上最明亮的顏色，刺激神經系統、提升思考清晰度與注意力，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與陽光、希望、輕鬆愉快的感受緊密相連。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5010912"/>
            <a:ext cx="118872" cy="420624"/>
          </a:xfrm>
          <a:prstGeom prst="rect">
            <a:avLst/>
          </a:prstGeom>
          <a:solidFill>
            <a:srgbClr val="E6D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499262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6DA55"/>
                </a:solidFill>
                <a:latin typeface="微軟正黑體"/>
              </a:rPr>
              <a:t>心 靈 意 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98464" y="5413248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黃色是「永遠向陽」的生命力顏色，適合需要信心、樂觀與重新點亮希望的心靈狀態。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6071616"/>
            <a:ext cx="5760720" cy="71323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615391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6455664"/>
            <a:ext cx="535838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黃色與金色同頻，常用於花心發光效果；搭配紫色形成最強力的互補配色。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COLOR  PSYCHOLOGY  · 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403A"/>
                </a:solidFill>
                <a:latin typeface="微軟正黑體"/>
              </a:rPr>
              <a:t>色彩心理學深度解析・綠色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4983480" cy="1874519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0784"/>
            <a:ext cx="18288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微軟正黑體"/>
              </a:rPr>
              <a:t>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19933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微軟正黑體"/>
              </a:rPr>
              <a:t>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2505456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軟正黑體"/>
              </a:rPr>
              <a:t>療癒  ·  平衡  ·  安定  ·  自然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47872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04488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3950208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3950208"/>
            <a:ext cx="1691640" cy="246888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3913632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25696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4471416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03120" y="4471416"/>
            <a:ext cx="1522476" cy="246888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4434840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46904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4992624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03120" y="4992624"/>
            <a:ext cx="3214116" cy="246888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495604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68112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5513832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03120" y="5513832"/>
            <a:ext cx="1860804" cy="246888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5477256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6035040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03120" y="6035040"/>
            <a:ext cx="2029968" cy="246888"/>
          </a:xfrm>
          <a:prstGeom prst="round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5998464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645920"/>
            <a:ext cx="118872" cy="420624"/>
          </a:xfrm>
          <a:prstGeom prst="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16276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AA85A"/>
                </a:solidFill>
                <a:latin typeface="微軟正黑體"/>
              </a:rPr>
              <a:t>個 性 特 質</a:t>
            </a:r>
          </a:p>
        </p:txBody>
      </p:sp>
      <p:sp>
        <p:nvSpPr>
          <p:cNvPr id="34" name="Oval 33"/>
          <p:cNvSpPr/>
          <p:nvPr/>
        </p:nvSpPr>
        <p:spPr>
          <a:xfrm>
            <a:off x="5998464" y="2194560"/>
            <a:ext cx="118872" cy="118872"/>
          </a:xfrm>
          <a:prstGeom prst="ellipse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2084831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穩重踏實，重視內外和諧</a:t>
            </a:r>
          </a:p>
        </p:txBody>
      </p:sp>
      <p:sp>
        <p:nvSpPr>
          <p:cNvPr id="36" name="Oval 35"/>
          <p:cNvSpPr/>
          <p:nvPr/>
        </p:nvSpPr>
        <p:spPr>
          <a:xfrm>
            <a:off x="5998464" y="2569464"/>
            <a:ext cx="118872" cy="118872"/>
          </a:xfrm>
          <a:prstGeom prst="ellipse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4496" y="2459736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善解人意，體貼而包容</a:t>
            </a:r>
          </a:p>
        </p:txBody>
      </p:sp>
      <p:sp>
        <p:nvSpPr>
          <p:cNvPr id="38" name="Oval 37"/>
          <p:cNvSpPr/>
          <p:nvPr/>
        </p:nvSpPr>
        <p:spPr>
          <a:xfrm>
            <a:off x="5998464" y="2944368"/>
            <a:ext cx="118872" cy="118872"/>
          </a:xfrm>
          <a:prstGeom prst="ellipse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2834640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親近自然，喜愛寧靜的環境</a:t>
            </a:r>
          </a:p>
        </p:txBody>
      </p:sp>
      <p:sp>
        <p:nvSpPr>
          <p:cNvPr id="40" name="Oval 39"/>
          <p:cNvSpPr/>
          <p:nvPr/>
        </p:nvSpPr>
        <p:spPr>
          <a:xfrm>
            <a:off x="5998464" y="3319272"/>
            <a:ext cx="118872" cy="118872"/>
          </a:xfrm>
          <a:prstGeom prst="ellipse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3209544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身心容易取得平衡與安定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3712463"/>
            <a:ext cx="118872" cy="420624"/>
          </a:xfrm>
          <a:prstGeom prst="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9632" y="36941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AA85A"/>
                </a:solidFill>
                <a:latin typeface="微軟正黑體"/>
              </a:rPr>
              <a:t>生 理 · 心 理 影 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4114800"/>
            <a:ext cx="5669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綠色位於色相環中央，是眼睛最不費力辨識的顏色；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能降低血壓、放鬆眼部肌肉與神經，是最具療癒能量的波長之一。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5010912"/>
            <a:ext cx="118872" cy="420624"/>
          </a:xfrm>
          <a:prstGeom prst="rect">
            <a:avLst/>
          </a:prstGeom>
          <a:solidFill>
            <a:srgbClr val="5A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499262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AA85A"/>
                </a:solidFill>
                <a:latin typeface="微軟正黑體"/>
              </a:rPr>
              <a:t>心 靈 意 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98464" y="5413248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綠色帶來休息與重整的力量，適合疲憊、需要被安撫與回到平衡的階段。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6071616"/>
            <a:ext cx="5760720" cy="71323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615391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6455664"/>
            <a:ext cx="535838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大面積綠色搭配白色與金色細節，呈現森林療癒感；加入粉紅花朵帶來春天生機。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COLOR  PSYCHOLOGY  ·  BLUE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403A"/>
                </a:solidFill>
                <a:latin typeface="微軟正黑體"/>
              </a:rPr>
              <a:t>色彩心理學深度解析・藍色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4983480" cy="1874519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0784"/>
            <a:ext cx="18288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微軟正黑體"/>
              </a:rPr>
              <a:t>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19933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微軟正黑體"/>
              </a:rPr>
              <a:t>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2505456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軟正黑體"/>
              </a:rPr>
              <a:t>冷靜  ·  信任  ·  深度  ·  專注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47872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04488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3950208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3950208"/>
            <a:ext cx="1522476" cy="246888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3913632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25696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4471416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03120" y="4471416"/>
            <a:ext cx="1014984" cy="246888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4434840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46904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4992624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03120" y="4992624"/>
            <a:ext cx="3044952" cy="246888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495604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68112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5513832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03120" y="5513832"/>
            <a:ext cx="1353312" cy="246888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5477256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6035040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03120" y="6035040"/>
            <a:ext cx="2368296" cy="246888"/>
          </a:xfrm>
          <a:prstGeom prst="round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5998464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70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645920"/>
            <a:ext cx="118872" cy="420624"/>
          </a:xfrm>
          <a:prstGeom prst="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16276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4A7AC8"/>
                </a:solidFill>
                <a:latin typeface="微軟正黑體"/>
              </a:rPr>
              <a:t>個 性 特 質</a:t>
            </a:r>
          </a:p>
        </p:txBody>
      </p:sp>
      <p:sp>
        <p:nvSpPr>
          <p:cNvPr id="34" name="Oval 33"/>
          <p:cNvSpPr/>
          <p:nvPr/>
        </p:nvSpPr>
        <p:spPr>
          <a:xfrm>
            <a:off x="5998464" y="2194560"/>
            <a:ext cx="118872" cy="118872"/>
          </a:xfrm>
          <a:prstGeom prst="ellipse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2084831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理性分析，思維邏輯清晰</a:t>
            </a:r>
          </a:p>
        </p:txBody>
      </p:sp>
      <p:sp>
        <p:nvSpPr>
          <p:cNvPr id="36" name="Oval 35"/>
          <p:cNvSpPr/>
          <p:nvPr/>
        </p:nvSpPr>
        <p:spPr>
          <a:xfrm>
            <a:off x="5998464" y="2569464"/>
            <a:ext cx="118872" cy="118872"/>
          </a:xfrm>
          <a:prstGeom prst="ellipse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4496" y="2459736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值得信賴，誠實而穩重</a:t>
            </a:r>
          </a:p>
        </p:txBody>
      </p:sp>
      <p:sp>
        <p:nvSpPr>
          <p:cNvPr id="38" name="Oval 37"/>
          <p:cNvSpPr/>
          <p:nvPr/>
        </p:nvSpPr>
        <p:spPr>
          <a:xfrm>
            <a:off x="5998464" y="2944368"/>
            <a:ext cx="118872" cy="118872"/>
          </a:xfrm>
          <a:prstGeom prst="ellipse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2834640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追求深度，不甘流於表面</a:t>
            </a:r>
          </a:p>
        </p:txBody>
      </p:sp>
      <p:sp>
        <p:nvSpPr>
          <p:cNvPr id="40" name="Oval 39"/>
          <p:cNvSpPr/>
          <p:nvPr/>
        </p:nvSpPr>
        <p:spPr>
          <a:xfrm>
            <a:off x="5998464" y="3319272"/>
            <a:ext cx="118872" cy="118872"/>
          </a:xfrm>
          <a:prstGeom prst="ellipse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3209544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靜心沉澱後能爆發創意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3712463"/>
            <a:ext cx="118872" cy="420624"/>
          </a:xfrm>
          <a:prstGeom prst="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9632" y="36941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4A7AC8"/>
                </a:solidFill>
                <a:latin typeface="微軟正黑體"/>
              </a:rPr>
              <a:t>生 理 · 心 理 影 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4114800"/>
            <a:ext cx="5669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藍色降低心跳速率與血壓，幫助神經進入放鬆狀態；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研究顯示藍色環境能提升專注、效率與被信任感。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5010912"/>
            <a:ext cx="118872" cy="420624"/>
          </a:xfrm>
          <a:prstGeom prst="rect">
            <a:avLst/>
          </a:prstGeom>
          <a:solidFill>
            <a:srgbClr val="4A7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499262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4A7AC8"/>
                </a:solidFill>
                <a:latin typeface="微軟正黑體"/>
              </a:rPr>
              <a:t>心 靈 意 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98464" y="5413248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藍色是沉澱心靈最有效的顏色，適合需要冷靜、沉思與回歸理性秩序的時刻。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6071616"/>
            <a:ext cx="5760720" cy="71323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615391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6455664"/>
            <a:ext cx="535838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深淺藍漸層表現寧靜與深度；搭配橙色互補，讓冷靜中帶有活力的點綴。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COLOR  PSYCHOLOGY  ·  PURPLE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403A"/>
                </a:solidFill>
                <a:latin typeface="微軟正黑體"/>
              </a:rPr>
              <a:t>色彩心理學深度解析・紫色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4983480" cy="1874519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0784"/>
            <a:ext cx="18288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微軟正黑體"/>
              </a:rPr>
              <a:t>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19933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微軟正黑體"/>
              </a:rPr>
              <a:t>PURPLE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2505456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軟正黑體"/>
              </a:rPr>
              <a:t>靈性  ·  直覺  ·  神秘  ·  智慧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47872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04488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3950208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3950208"/>
            <a:ext cx="1860804" cy="246888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3913632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25696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4471416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03120" y="4471416"/>
            <a:ext cx="1691640" cy="246888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4434840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46904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4992624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03120" y="4992624"/>
            <a:ext cx="2199132" cy="246888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495604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68112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5513832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03120" y="5513832"/>
            <a:ext cx="1522476" cy="246888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5477256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6035040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03120" y="6035040"/>
            <a:ext cx="3315614" cy="246888"/>
          </a:xfrm>
          <a:prstGeom prst="round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5998464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98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645920"/>
            <a:ext cx="118872" cy="420624"/>
          </a:xfrm>
          <a:prstGeom prst="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16276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9A5AB8"/>
                </a:solidFill>
                <a:latin typeface="微軟正黑體"/>
              </a:rPr>
              <a:t>個 性 特 質</a:t>
            </a:r>
          </a:p>
        </p:txBody>
      </p:sp>
      <p:sp>
        <p:nvSpPr>
          <p:cNvPr id="34" name="Oval 33"/>
          <p:cNvSpPr/>
          <p:nvPr/>
        </p:nvSpPr>
        <p:spPr>
          <a:xfrm>
            <a:off x="5998464" y="2194560"/>
            <a:ext cx="118872" cy="118872"/>
          </a:xfrm>
          <a:prstGeom prst="ellipse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2084831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靈性敏感，直覺力豐富</a:t>
            </a:r>
          </a:p>
        </p:txBody>
      </p:sp>
      <p:sp>
        <p:nvSpPr>
          <p:cNvPr id="36" name="Oval 35"/>
          <p:cNvSpPr/>
          <p:nvPr/>
        </p:nvSpPr>
        <p:spPr>
          <a:xfrm>
            <a:off x="5998464" y="2569464"/>
            <a:ext cx="118872" cy="118872"/>
          </a:xfrm>
          <a:prstGeom prst="ellipse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4496" y="2459736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想像力強，思維獨特深邃</a:t>
            </a:r>
          </a:p>
        </p:txBody>
      </p:sp>
      <p:sp>
        <p:nvSpPr>
          <p:cNvPr id="38" name="Oval 37"/>
          <p:cNvSpPr/>
          <p:nvPr/>
        </p:nvSpPr>
        <p:spPr>
          <a:xfrm>
            <a:off x="5998464" y="2944368"/>
            <a:ext cx="118872" cy="118872"/>
          </a:xfrm>
          <a:prstGeom prst="ellipse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2834640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追求生命意義，喜愛自省</a:t>
            </a:r>
          </a:p>
        </p:txBody>
      </p:sp>
      <p:sp>
        <p:nvSpPr>
          <p:cNvPr id="40" name="Oval 39"/>
          <p:cNvSpPr/>
          <p:nvPr/>
        </p:nvSpPr>
        <p:spPr>
          <a:xfrm>
            <a:off x="5998464" y="3319272"/>
            <a:ext cx="118872" cy="118872"/>
          </a:xfrm>
          <a:prstGeom prst="ellipse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3209544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散發神秘魅力，引人入勝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3712463"/>
            <a:ext cx="118872" cy="420624"/>
          </a:xfrm>
          <a:prstGeom prst="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9632" y="36941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9A5AB8"/>
                </a:solidFill>
                <a:latin typeface="微軟正黑體"/>
              </a:rPr>
              <a:t>生 理 · 心 理 影 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4114800"/>
            <a:ext cx="5669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紫色融合紅的熱情與藍的冷靜，形成獨特而高頻的靈性波長；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自古與高貴、神秘、智慧相連，能誘發冥想與深層感受。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5010912"/>
            <a:ext cx="118872" cy="420624"/>
          </a:xfrm>
          <a:prstGeom prst="rect">
            <a:avLst/>
          </a:prstGeom>
          <a:solidFill>
            <a:srgbClr val="9A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499262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9A5AB8"/>
                </a:solidFill>
                <a:latin typeface="微軟正黑體"/>
              </a:rPr>
              <a:t>心 靈 意 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98464" y="5413248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紫色連結高層意識與靈感泉源，是冥想與心靈藝術中能量最強的顏色。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6071616"/>
            <a:ext cx="5760720" cy="71323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615391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6455664"/>
            <a:ext cx="535838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紫色搭配金色展現高貴靈性感；淺到深紫漸層在花心創造神秘而深邃的效果。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COLOR  PSYCHOLOGY  ·  PINK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403A"/>
                </a:solidFill>
                <a:latin typeface="微軟正黑體"/>
              </a:rPr>
              <a:t>色彩心理學深度解析・粉色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4983480" cy="1874519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0784"/>
            <a:ext cx="18288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微軟正黑體"/>
              </a:rPr>
              <a:t>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19933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微軟正黑體"/>
              </a:rPr>
              <a:t>PINK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2505456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軟正黑體"/>
              </a:rPr>
              <a:t>溫柔  ·  愛  ·  包容  ·  呵護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47872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04488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3950208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3950208"/>
            <a:ext cx="1860804" cy="246888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3913632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25696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4471416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03120" y="4471416"/>
            <a:ext cx="2537460" cy="246888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4434840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46904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4992624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03120" y="4992624"/>
            <a:ext cx="2368296" cy="246888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495604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68112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5513832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03120" y="5513832"/>
            <a:ext cx="2368296" cy="246888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5477256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6035040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03120" y="6035040"/>
            <a:ext cx="2029968" cy="246888"/>
          </a:xfrm>
          <a:prstGeom prst="round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5998464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645920"/>
            <a:ext cx="118872" cy="420624"/>
          </a:xfrm>
          <a:prstGeom prst="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16276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6A9C0"/>
                </a:solidFill>
                <a:latin typeface="微軟正黑體"/>
              </a:rPr>
              <a:t>個 性 特 質</a:t>
            </a:r>
          </a:p>
        </p:txBody>
      </p:sp>
      <p:sp>
        <p:nvSpPr>
          <p:cNvPr id="34" name="Oval 33"/>
          <p:cNvSpPr/>
          <p:nvPr/>
        </p:nvSpPr>
        <p:spPr>
          <a:xfrm>
            <a:off x="5998464" y="2194560"/>
            <a:ext cx="118872" cy="118872"/>
          </a:xfrm>
          <a:prstGeom prst="ellipse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2084831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溫柔細膩，善於關懷他人</a:t>
            </a:r>
          </a:p>
        </p:txBody>
      </p:sp>
      <p:sp>
        <p:nvSpPr>
          <p:cNvPr id="36" name="Oval 35"/>
          <p:cNvSpPr/>
          <p:nvPr/>
        </p:nvSpPr>
        <p:spPr>
          <a:xfrm>
            <a:off x="5998464" y="2569464"/>
            <a:ext cx="118872" cy="118872"/>
          </a:xfrm>
          <a:prstGeom prst="ellipse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4496" y="2459736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情感豐富，易感受他人情緒</a:t>
            </a:r>
          </a:p>
        </p:txBody>
      </p:sp>
      <p:sp>
        <p:nvSpPr>
          <p:cNvPr id="38" name="Oval 37"/>
          <p:cNvSpPr/>
          <p:nvPr/>
        </p:nvSpPr>
        <p:spPr>
          <a:xfrm>
            <a:off x="5998464" y="2944368"/>
            <a:ext cx="118872" cy="118872"/>
          </a:xfrm>
          <a:prstGeom prst="ellipse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2834640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包容體諒，不輕易批判他人</a:t>
            </a:r>
          </a:p>
        </p:txBody>
      </p:sp>
      <p:sp>
        <p:nvSpPr>
          <p:cNvPr id="40" name="Oval 39"/>
          <p:cNvSpPr/>
          <p:nvPr/>
        </p:nvSpPr>
        <p:spPr>
          <a:xfrm>
            <a:off x="5998464" y="3319272"/>
            <a:ext cx="118872" cy="118872"/>
          </a:xfrm>
          <a:prstGeom prst="ellipse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3209544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傳遞溫暖，讓人卸下防備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3712463"/>
            <a:ext cx="118872" cy="420624"/>
          </a:xfrm>
          <a:prstGeom prst="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9632" y="36941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6A9C0"/>
                </a:solidFill>
                <a:latin typeface="微軟正黑體"/>
              </a:rPr>
              <a:t>生 理 · 心 理 影 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4114800"/>
            <a:ext cx="5669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粉色是紅色柔化後的版本，保留愛的能量卻去除攻擊性；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研究顯示粉色環境能平息激動情緒、降低敵意，帶來安全感。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5010912"/>
            <a:ext cx="118872" cy="420624"/>
          </a:xfrm>
          <a:prstGeom prst="rect">
            <a:avLst/>
          </a:prstGeom>
          <a:solidFill>
            <a:srgbClr val="E6A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499262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6A9C0"/>
                </a:solidFill>
                <a:latin typeface="微軟正黑體"/>
              </a:rPr>
              <a:t>心 靈 意 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98464" y="5413248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粉色開啟自我疼惜與被愛的能量，適合需要溫柔對待自己、修復情感的階段。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6071616"/>
            <a:ext cx="5760720" cy="71323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615391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6455664"/>
            <a:ext cx="535838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粉色搭配白色與玫瑰金，呈現浪漫溫柔基調；加入少許紫色，可提升靈性層次。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COLOR  PSYCHOLOGY  ·  WHITE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403A"/>
                </a:solidFill>
                <a:latin typeface="微軟正黑體"/>
              </a:rPr>
              <a:t>色彩心理學深度解析・白色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4983480" cy="1874519"/>
          </a:xfrm>
          <a:prstGeom prst="round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0784"/>
            <a:ext cx="18288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微軟正黑體"/>
              </a:rPr>
              <a:t>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19933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微軟正黑體"/>
              </a:rPr>
              <a:t>WHITE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2505456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軟正黑體"/>
              </a:rPr>
              <a:t>純淨  ·  開始  ·  留白  ·  整合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47872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95C66"/>
                </a:solidFill>
                <a:latin typeface="微軟正黑體"/>
              </a:rPr>
              <a:t>能量 · 個性指數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04488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能量 · 活力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3950208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3950208"/>
            <a:ext cx="1353312" cy="246888"/>
          </a:xfrm>
          <a:prstGeom prst="round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3913632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25696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熱情 · 溫度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4471416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03120" y="4471416"/>
            <a:ext cx="1184148" cy="246888"/>
          </a:xfrm>
          <a:prstGeom prst="round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4434840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46904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平靜 · 穩定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4992624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03120" y="4992624"/>
            <a:ext cx="3112617" cy="246888"/>
          </a:xfrm>
          <a:prstGeom prst="round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495604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68112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社交 · 外向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5513832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03120" y="5513832"/>
            <a:ext cx="1522476" cy="246888"/>
          </a:xfrm>
          <a:prstGeom prst="round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5477256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03A"/>
                </a:solidFill>
                <a:latin typeface="微軟正黑體"/>
              </a:rPr>
              <a:t>靈性 · 直覺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6035040"/>
            <a:ext cx="3383280" cy="246888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03120" y="6035040"/>
            <a:ext cx="2706624" cy="246888"/>
          </a:xfrm>
          <a:prstGeom prst="round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5998464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A7A6A"/>
                </a:solidFill>
                <a:latin typeface="微軟正黑體"/>
              </a:rPr>
              <a:t>80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645920"/>
            <a:ext cx="118872" cy="420624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16276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8A7A6A"/>
                </a:solidFill>
                <a:latin typeface="微軟正黑體"/>
              </a:rPr>
              <a:t>個 性 特 質</a:t>
            </a:r>
          </a:p>
        </p:txBody>
      </p:sp>
      <p:sp>
        <p:nvSpPr>
          <p:cNvPr id="34" name="Oval 33"/>
          <p:cNvSpPr/>
          <p:nvPr/>
        </p:nvSpPr>
        <p:spPr>
          <a:xfrm>
            <a:off x="5998464" y="2194560"/>
            <a:ext cx="118872" cy="118872"/>
          </a:xfrm>
          <a:prstGeom prst="ellips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2084831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追求完美，注重每一個細節</a:t>
            </a:r>
          </a:p>
        </p:txBody>
      </p:sp>
      <p:sp>
        <p:nvSpPr>
          <p:cNvPr id="36" name="Oval 35"/>
          <p:cNvSpPr/>
          <p:nvPr/>
        </p:nvSpPr>
        <p:spPr>
          <a:xfrm>
            <a:off x="5998464" y="2569464"/>
            <a:ext cx="118872" cy="118872"/>
          </a:xfrm>
          <a:prstGeom prst="ellips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4496" y="2459736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心靈通透，格局開闊包容</a:t>
            </a:r>
          </a:p>
        </p:txBody>
      </p:sp>
      <p:sp>
        <p:nvSpPr>
          <p:cNvPr id="38" name="Oval 37"/>
          <p:cNvSpPr/>
          <p:nvPr/>
        </p:nvSpPr>
        <p:spPr>
          <a:xfrm>
            <a:off x="5998464" y="2944368"/>
            <a:ext cx="118872" cy="118872"/>
          </a:xfrm>
          <a:prstGeom prst="ellips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2834640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懂得留白，擅於取捨化簡</a:t>
            </a:r>
          </a:p>
        </p:txBody>
      </p:sp>
      <p:sp>
        <p:nvSpPr>
          <p:cNvPr id="40" name="Oval 39"/>
          <p:cNvSpPr/>
          <p:nvPr/>
        </p:nvSpPr>
        <p:spPr>
          <a:xfrm>
            <a:off x="5998464" y="3319272"/>
            <a:ext cx="118872" cy="118872"/>
          </a:xfrm>
          <a:prstGeom prst="ellips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3209544"/>
            <a:ext cx="5394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有整合能力，化繁為簡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3712463"/>
            <a:ext cx="118872" cy="420624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9632" y="36941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8A7A6A"/>
                </a:solidFill>
                <a:latin typeface="微軟正黑體"/>
              </a:rPr>
              <a:t>生 理 · 心 理 影 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4114800"/>
            <a:ext cx="5669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白色涵蓋所有光的波長，象徵完整與純粹；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在視覺上製造空間與呼吸感，心理上帶來清晰與重新開始的期許。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5010912"/>
            <a:ext cx="118872" cy="420624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499262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8A7A6A"/>
                </a:solidFill>
                <a:latin typeface="微軟正黑體"/>
              </a:rPr>
              <a:t>心 靈 意 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98464" y="5413248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白色是「重置」心靈最有效的顏色，適合需要放下、清空與迎接全新開始的時刻。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6071616"/>
            <a:ext cx="5760720" cy="71323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615391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96E"/>
                </a:solidFill>
                <a:latin typeface="微軟正黑體"/>
              </a:rPr>
              <a:t>✦  曼陀羅應用建議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6455664"/>
            <a:ext cx="535838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白色作底色或高光點，讓其他顏色更透亮；中心留白的設計，給觀者呼吸與冥想的空間。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4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70950_0.jpg"/>
          <p:cNvPicPr>
            <a:picLocks noChangeAspect="1"/>
          </p:cNvPicPr>
          <p:nvPr/>
        </p:nvPicPr>
        <p:blipFill>
          <a:blip r:embed="rId2"/>
          <a:srcRect l="21351" r="21351"/>
          <a:stretch>
            <a:fillRect/>
          </a:stretch>
        </p:blipFill>
        <p:spPr>
          <a:xfrm>
            <a:off x="6126480" y="0"/>
            <a:ext cx="606521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4A403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82296" cy="224028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9A96E"/>
                </a:solidFill>
                <a:latin typeface="微軟正黑體"/>
              </a:rPr>
              <a:t>PART 2  ·  MANDALA 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670048"/>
            <a:ext cx="5669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微軟正黑體"/>
              </a:rPr>
              <a:t>曼陀羅圖案設計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160520"/>
            <a:ext cx="5486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BF6EF"/>
                </a:solidFill>
                <a:latin typeface="微軟正黑體"/>
              </a:rPr>
              <a:t>Mandala，梵語意為「圓」。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BF6EF"/>
                </a:solidFill>
                <a:latin typeface="微軟正黑體"/>
              </a:rPr>
              <a:t>從一個圓心，向外綻放出秩序與美。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MEANING  &amp;  ORIGIN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曼陀羅的意涵與起源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62179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「Mandala」源自古印度梵語，原義為「圓」與「中心」，是宇宙、圓滿與內在完整的象徵。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在藏傳佛教中，曼陀羅是宇宙地圖，也是修行者凝神入定的工具。沙畫曼陀羅完成後即行抹去，象徵無常與當下。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在現代心靈藝術中，繪製曼陀羅是「專注當下」的靜心歷程——由圓心出發，一筆一畫安放自己的心，每一件作品都是創作者內在的鏡子。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297680"/>
            <a:ext cx="109728" cy="512064"/>
          </a:xfrm>
          <a:prstGeom prst="rect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315968"/>
            <a:ext cx="2560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A95C66"/>
                </a:solidFill>
                <a:latin typeface="微軟正黑體"/>
              </a:rPr>
              <a:t>圓滿・完整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645152"/>
            <a:ext cx="4937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從圓心向外，象徵生命由核心向外擴展的力量。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937760"/>
            <a:ext cx="109728" cy="512064"/>
          </a:xfrm>
          <a:prstGeom prst="rect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956048"/>
            <a:ext cx="2560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A95C66"/>
                </a:solidFill>
                <a:latin typeface="微軟正黑體"/>
              </a:rPr>
              <a:t>秩序・和諧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285232"/>
            <a:ext cx="4937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等分對稱讓視覺平衡，呼應內在對秩序的渴望。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577840"/>
            <a:ext cx="109728" cy="512064"/>
          </a:xfrm>
          <a:prstGeom prst="rect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596128"/>
            <a:ext cx="2560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A95C66"/>
                </a:solidFill>
                <a:latin typeface="微軟正黑體"/>
              </a:rPr>
              <a:t>靜心・療癒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5925312"/>
            <a:ext cx="4937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創作過程即冥想，讓雜念沉澱、專注回歸當下。</a:t>
            </a:r>
          </a:p>
        </p:txBody>
      </p:sp>
      <p:pic>
        <p:nvPicPr>
          <p:cNvPr id="17" name="Picture 16" descr="art4.jpg"/>
          <p:cNvPicPr>
            <a:picLocks noChangeAspect="1"/>
          </p:cNvPicPr>
          <p:nvPr/>
        </p:nvPicPr>
        <p:blipFill>
          <a:blip r:embed="rId3"/>
          <a:srcRect l="15937" r="15938"/>
          <a:stretch>
            <a:fillRect/>
          </a:stretch>
        </p:blipFill>
        <p:spPr>
          <a:xfrm>
            <a:off x="7223760" y="1508760"/>
            <a:ext cx="4572000" cy="502920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曼陀羅的四大結構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120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109728" cy="987552"/>
          </a:xfrm>
          <a:prstGeom prst="rect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3852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A95C66"/>
                </a:solidFill>
                <a:latin typeface="微軟正黑體"/>
              </a:rPr>
              <a:t>圓心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1865376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一切的起點，視覺與能量的核心。所有圖案由此向外生長。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44368"/>
            <a:ext cx="5120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944368"/>
            <a:ext cx="109728" cy="987552"/>
          </a:xfrm>
          <a:prstGeom prst="rect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54096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A95C66"/>
                </a:solidFill>
                <a:latin typeface="微軟正黑體"/>
              </a:rPr>
              <a:t>放射 Radial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980944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圖案由圓心向外發散，如光芒、花瓣，引導視線流動。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59935"/>
            <a:ext cx="5120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059935"/>
            <a:ext cx="109728" cy="987552"/>
          </a:xfrm>
          <a:prstGeom prst="rect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69663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A95C66"/>
                </a:solidFill>
                <a:latin typeface="微軟正黑體"/>
              </a:rPr>
              <a:t>對稱 Symmetry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4096511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以對稱軸重複，產生穩定有秩序之美；常見 8／12 等分。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175503"/>
            <a:ext cx="5120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175503"/>
            <a:ext cx="109728" cy="987552"/>
          </a:xfrm>
          <a:prstGeom prst="rect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285231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A95C66"/>
                </a:solidFill>
                <a:latin typeface="微軟正黑體"/>
              </a:rPr>
              <a:t>層次 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2" y="5212079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由內而外一圈圈堆疊，節奏感與豐富度同步提升。</a:t>
            </a:r>
          </a:p>
        </p:txBody>
      </p:sp>
      <p:pic>
        <p:nvPicPr>
          <p:cNvPr id="23" name="Picture 22" descr="structur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26480" y="1554480"/>
            <a:ext cx="2743200" cy="2743200"/>
          </a:xfrm>
          <a:prstGeom prst="rect">
            <a:avLst/>
          </a:prstGeom>
          <a:ln>
            <a:noFill/>
          </a:ln>
        </p:spPr>
      </p:pic>
      <p:pic>
        <p:nvPicPr>
          <p:cNvPr id="24" name="Picture 23" descr="art6.jpg"/>
          <p:cNvPicPr>
            <a:picLocks noChangeAspect="1"/>
          </p:cNvPicPr>
          <p:nvPr/>
        </p:nvPicPr>
        <p:blipFill>
          <a:blip r:embed="rId4"/>
          <a:srcRect l="2431" r="2778"/>
          <a:stretch>
            <a:fillRect/>
          </a:stretch>
        </p:blipFill>
        <p:spPr>
          <a:xfrm>
            <a:off x="9006840" y="1554480"/>
            <a:ext cx="2834640" cy="498348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6126480" y="4352544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7A6A"/>
                </a:solidFill>
                <a:latin typeface="微軟正黑體"/>
              </a:rPr>
              <a:t>▲ 圓心・放射・對稱・層次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幾何基礎：對稱與分割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曼陀羅之美，建立在「等分」之上。將圓平均分割，畫出對稱輔助線，圖案自然工整。</a:t>
            </a:r>
          </a:p>
        </p:txBody>
      </p:sp>
      <p:pic>
        <p:nvPicPr>
          <p:cNvPr id="8" name="Picture 7" descr="_mandala_div_4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" y="2286000"/>
            <a:ext cx="1920240" cy="1920240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1005840" y="4279392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A95C66"/>
                </a:solidFill>
                <a:latin typeface="微軟正黑體"/>
              </a:rPr>
              <a:t>4 等分</a:t>
            </a:r>
          </a:p>
        </p:txBody>
      </p:sp>
      <p:pic>
        <p:nvPicPr>
          <p:cNvPr id="10" name="Picture 9" descr="_mandala_div_6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57600" y="2286000"/>
            <a:ext cx="1920240" cy="1920240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3703320" y="4279392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A95C66"/>
                </a:solidFill>
                <a:latin typeface="微軟正黑體"/>
              </a:rPr>
              <a:t>6 等分</a:t>
            </a:r>
          </a:p>
        </p:txBody>
      </p:sp>
      <p:pic>
        <p:nvPicPr>
          <p:cNvPr id="12" name="Picture 11" descr="_mandala_div_8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355080" y="2286000"/>
            <a:ext cx="1920240" cy="1920240"/>
          </a:xfrm>
          <a:prstGeom prst="rect">
            <a:avLst/>
          </a:prstGeom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6400800" y="4279392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A95C66"/>
                </a:solidFill>
                <a:latin typeface="微軟正黑體"/>
              </a:rPr>
              <a:t>8 等分</a:t>
            </a:r>
          </a:p>
        </p:txBody>
      </p:sp>
      <p:pic>
        <p:nvPicPr>
          <p:cNvPr id="14" name="Picture 13" descr="_mandala_div_12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052560" y="2286000"/>
            <a:ext cx="1920240" cy="1920240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9098280" y="4279392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A95C66"/>
                </a:solidFill>
                <a:latin typeface="微軟正黑體"/>
              </a:rPr>
              <a:t>12 等分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83480"/>
            <a:ext cx="106070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・分割數越多，圖案越繁複細緻。初學常用 8 等分，與八角板的造型相呼應。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・先以鉛筆淡淡畫出同心圓與放射線當「輔助線」，再沿線設計，完成後可擦除或覆蓋。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・只要在一個扇形區塊設計好圖案，再依對稱重複到每一等分，整體就會自然和諧。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DESIGN  ELEMENTS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常見圖案元素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8A7A6A"/>
                </a:solidFill>
                <a:latin typeface="微軟正黑體"/>
              </a:rPr>
              <a:t>曼陀羅由幾種基本「語彙」組合而成。熟悉每種元素的畫法，就能靈活搭配、自由創作。</a:t>
            </a:r>
          </a:p>
        </p:txBody>
      </p:sp>
      <p:pic>
        <p:nvPicPr>
          <p:cNvPr id="8" name="Picture 7" descr="el_dots.png"/>
          <p:cNvPicPr>
            <a:picLocks noChangeAspect="1"/>
          </p:cNvPicPr>
          <p:nvPr/>
        </p:nvPicPr>
        <p:blipFill>
          <a:blip r:embed="rId3"/>
          <a:srcRect t="4000" b="4000"/>
          <a:stretch>
            <a:fillRect/>
          </a:stretch>
        </p:blipFill>
        <p:spPr>
          <a:xfrm>
            <a:off x="594360" y="2011680"/>
            <a:ext cx="1371600" cy="1261872"/>
          </a:xfrm>
          <a:prstGeom prst="rect">
            <a:avLst/>
          </a:prstGeom>
          <a:ln>
            <a:noFill/>
          </a:ln>
        </p:spPr>
      </p:pic>
      <p:sp>
        <p:nvSpPr>
          <p:cNvPr id="9" name="Rounded Rectangle 8"/>
          <p:cNvSpPr/>
          <p:nvPr/>
        </p:nvSpPr>
        <p:spPr>
          <a:xfrm>
            <a:off x="2057400" y="2011680"/>
            <a:ext cx="40690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2121408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圓點 Dots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2560320"/>
            <a:ext cx="3657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由大到小排列出律動感，是最基本也最萬用的元素。</a:t>
            </a:r>
          </a:p>
        </p:txBody>
      </p:sp>
      <p:pic>
        <p:nvPicPr>
          <p:cNvPr id="12" name="Picture 11" descr="el_petals.png"/>
          <p:cNvPicPr>
            <a:picLocks noChangeAspect="1"/>
          </p:cNvPicPr>
          <p:nvPr/>
        </p:nvPicPr>
        <p:blipFill>
          <a:blip r:embed="rId4"/>
          <a:srcRect t="4000" b="4000"/>
          <a:stretch>
            <a:fillRect/>
          </a:stretch>
        </p:blipFill>
        <p:spPr>
          <a:xfrm>
            <a:off x="7040880" y="2011680"/>
            <a:ext cx="1371600" cy="1261872"/>
          </a:xfrm>
          <a:prstGeom prst="rect">
            <a:avLst/>
          </a:prstGeom>
          <a:ln>
            <a:noFill/>
          </a:ln>
        </p:spPr>
      </p:pic>
      <p:sp>
        <p:nvSpPr>
          <p:cNvPr id="13" name="Rounded Rectangle 12"/>
          <p:cNvSpPr/>
          <p:nvPr/>
        </p:nvSpPr>
        <p:spPr>
          <a:xfrm>
            <a:off x="8503919" y="2011680"/>
            <a:ext cx="40690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2121408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花瓣 Petals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2560320"/>
            <a:ext cx="3657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水滴形、橢圓形組合成花朵，是最常見的主視覺元素。</a:t>
            </a:r>
          </a:p>
        </p:txBody>
      </p:sp>
      <p:pic>
        <p:nvPicPr>
          <p:cNvPr id="16" name="Picture 15" descr="el_leaves.png"/>
          <p:cNvPicPr>
            <a:picLocks noChangeAspect="1"/>
          </p:cNvPicPr>
          <p:nvPr/>
        </p:nvPicPr>
        <p:blipFill>
          <a:blip r:embed="rId5"/>
          <a:srcRect t="4000" b="4000"/>
          <a:stretch>
            <a:fillRect/>
          </a:stretch>
        </p:blipFill>
        <p:spPr>
          <a:xfrm>
            <a:off x="594360" y="3474720"/>
            <a:ext cx="1371600" cy="1261872"/>
          </a:xfrm>
          <a:prstGeom prst="rect">
            <a:avLst/>
          </a:prstGeom>
          <a:ln>
            <a:noFill/>
          </a:ln>
        </p:spPr>
      </p:pic>
      <p:sp>
        <p:nvSpPr>
          <p:cNvPr id="17" name="Rounded Rectangle 16"/>
          <p:cNvSpPr/>
          <p:nvPr/>
        </p:nvSpPr>
        <p:spPr>
          <a:xfrm>
            <a:off x="2057400" y="3474720"/>
            <a:ext cx="40690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8568" y="3584448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葉形 Leaves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4023359"/>
            <a:ext cx="3657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尖葉、羽葉穿插花朵之間，增添自然生氣與流動感。</a:t>
            </a:r>
          </a:p>
        </p:txBody>
      </p:sp>
      <p:pic>
        <p:nvPicPr>
          <p:cNvPr id="20" name="Picture 19" descr="el_teardrop.png"/>
          <p:cNvPicPr>
            <a:picLocks noChangeAspect="1"/>
          </p:cNvPicPr>
          <p:nvPr/>
        </p:nvPicPr>
        <p:blipFill>
          <a:blip r:embed="rId6"/>
          <a:srcRect t="4000" b="4000"/>
          <a:stretch>
            <a:fillRect/>
          </a:stretch>
        </p:blipFill>
        <p:spPr>
          <a:xfrm>
            <a:off x="7040880" y="3474720"/>
            <a:ext cx="1371600" cy="1261872"/>
          </a:xfrm>
          <a:prstGeom prst="rect">
            <a:avLst/>
          </a:prstGeom>
          <a:ln>
            <a:noFill/>
          </a:ln>
        </p:spPr>
      </p:pic>
      <p:sp>
        <p:nvSpPr>
          <p:cNvPr id="21" name="Rounded Rectangle 20"/>
          <p:cNvSpPr/>
          <p:nvPr/>
        </p:nvSpPr>
        <p:spPr>
          <a:xfrm>
            <a:off x="8503919" y="3474720"/>
            <a:ext cx="40690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3584448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水滴 Teardrop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4023359"/>
            <a:ext cx="3657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一頭圓一頭尖，可放射、可串連，變化萬千。</a:t>
            </a:r>
          </a:p>
        </p:txBody>
      </p:sp>
      <p:pic>
        <p:nvPicPr>
          <p:cNvPr id="24" name="Picture 23" descr="el_lines.png"/>
          <p:cNvPicPr>
            <a:picLocks noChangeAspect="1"/>
          </p:cNvPicPr>
          <p:nvPr/>
        </p:nvPicPr>
        <p:blipFill>
          <a:blip r:embed="rId7"/>
          <a:srcRect t="4000" b="4000"/>
          <a:stretch>
            <a:fillRect/>
          </a:stretch>
        </p:blipFill>
        <p:spPr>
          <a:xfrm>
            <a:off x="594360" y="4937760"/>
            <a:ext cx="1371600" cy="1261872"/>
          </a:xfrm>
          <a:prstGeom prst="rect">
            <a:avLst/>
          </a:prstGeom>
          <a:ln>
            <a:noFill/>
          </a:ln>
        </p:spPr>
      </p:pic>
      <p:sp>
        <p:nvSpPr>
          <p:cNvPr id="25" name="Rounded Rectangle 24"/>
          <p:cNvSpPr/>
          <p:nvPr/>
        </p:nvSpPr>
        <p:spPr>
          <a:xfrm>
            <a:off x="2057400" y="4937760"/>
            <a:ext cx="40690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58568" y="5047488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線條 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58568" y="5486400"/>
            <a:ext cx="3657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直線、波浪線、卷草串起各層，引導視線流動。</a:t>
            </a:r>
          </a:p>
        </p:txBody>
      </p:sp>
      <p:pic>
        <p:nvPicPr>
          <p:cNvPr id="28" name="Picture 27" descr="el_geometry.png"/>
          <p:cNvPicPr>
            <a:picLocks noChangeAspect="1"/>
          </p:cNvPicPr>
          <p:nvPr/>
        </p:nvPicPr>
        <p:blipFill>
          <a:blip r:embed="rId8"/>
          <a:srcRect t="4000" b="4000"/>
          <a:stretch>
            <a:fillRect/>
          </a:stretch>
        </p:blipFill>
        <p:spPr>
          <a:xfrm>
            <a:off x="7040880" y="4937760"/>
            <a:ext cx="1371600" cy="1261872"/>
          </a:xfrm>
          <a:prstGeom prst="rect">
            <a:avLst/>
          </a:prstGeom>
          <a:ln>
            <a:noFill/>
          </a:ln>
        </p:spPr>
      </p:pic>
      <p:sp>
        <p:nvSpPr>
          <p:cNvPr id="29" name="Rounded Rectangle 28"/>
          <p:cNvSpPr/>
          <p:nvPr/>
        </p:nvSpPr>
        <p:spPr>
          <a:xfrm>
            <a:off x="8503919" y="4937760"/>
            <a:ext cx="40690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5088" y="5047488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5C66"/>
                </a:solidFill>
                <a:latin typeface="微軟正黑體"/>
              </a:rPr>
              <a:t>幾何 Shapes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8" y="5486400"/>
            <a:ext cx="3657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7A6A"/>
                </a:solidFill>
                <a:latin typeface="微軟正黑體"/>
              </a:rPr>
              <a:t>三角、菱形、弧形構成骨架，穩定整體結構。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STEP  BY 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曼陀羅設計六步驟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887" y="178308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3767" y="2093976"/>
            <a:ext cx="603504" cy="60350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767" y="2148840"/>
            <a:ext cx="6035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1007" y="19659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95C66"/>
                </a:solidFill>
                <a:latin typeface="微軟正黑體"/>
              </a:rPr>
              <a:t>定圓心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9295" y="2404872"/>
            <a:ext cx="4069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在板面正中央定出圓心，這是整個曼陀羅的核心。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78308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61607" y="2093976"/>
            <a:ext cx="603504" cy="60350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2148840"/>
            <a:ext cx="6035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847" y="19659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95C66"/>
                </a:solidFill>
                <a:latin typeface="微軟正黑體"/>
              </a:rPr>
              <a:t>畫輔助線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7135" y="2404872"/>
            <a:ext cx="4069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以鉛筆淡淡畫出同心圓與放射對稱線，建立骨架。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887" y="324612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3767" y="3557015"/>
            <a:ext cx="603504" cy="60350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767" y="3611879"/>
            <a:ext cx="6035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1007" y="342900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95C66"/>
                </a:solidFill>
                <a:latin typeface="微軟正黑體"/>
              </a:rPr>
              <a:t>設計核心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9295" y="3867911"/>
            <a:ext cx="4069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從圓心開始設計第一層主圖（如花心），奠定主題。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324612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61607" y="3557015"/>
            <a:ext cx="603504" cy="60350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1607" y="3611879"/>
            <a:ext cx="6035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8847" y="342900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95C66"/>
                </a:solidFill>
                <a:latin typeface="微軟正黑體"/>
              </a:rPr>
              <a:t>由內而外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7135" y="3867911"/>
            <a:ext cx="4069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一層一層向外擴展，注意每層的大小與間距節奏。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0887" y="470916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3767" y="5020056"/>
            <a:ext cx="603504" cy="60350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3767" y="5074920"/>
            <a:ext cx="6035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1007" y="48920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95C66"/>
                </a:solidFill>
                <a:latin typeface="微軟正黑體"/>
              </a:rPr>
              <a:t>對稱重複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79295" y="5330952"/>
            <a:ext cx="4069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在一個扇形設計好，再對稱複製到每一等分。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8727" y="470916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61607" y="5020056"/>
            <a:ext cx="603504" cy="60350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1607" y="5074920"/>
            <a:ext cx="6035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8847" y="48920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95C66"/>
                </a:solidFill>
                <a:latin typeface="微軟正黑體"/>
              </a:rPr>
              <a:t>配色點綴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7135" y="5330952"/>
            <a:ext cx="4069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依色彩學配色上色，最後以圓點與鑽飾點睛收尾。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4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70937_0.jpg"/>
          <p:cNvPicPr>
            <a:picLocks noChangeAspect="1"/>
          </p:cNvPicPr>
          <p:nvPr/>
        </p:nvPicPr>
        <p:blipFill>
          <a:blip r:embed="rId2"/>
          <a:srcRect l="6897" r="7099"/>
          <a:stretch>
            <a:fillRect/>
          </a:stretch>
        </p:blipFill>
        <p:spPr>
          <a:xfrm>
            <a:off x="6126480" y="0"/>
            <a:ext cx="606521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4A403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82296" cy="224028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9A96E"/>
                </a:solidFill>
                <a:latin typeface="微軟正黑體"/>
              </a:rPr>
              <a:t>PART 3  ·  COURSE 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670048"/>
            <a:ext cx="5669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微軟正黑體"/>
              </a:rPr>
              <a:t>課程流程總覽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160520"/>
            <a:ext cx="5486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BF6EF"/>
                </a:solidFill>
                <a:latin typeface="微軟正黑體"/>
              </a:rPr>
              <a:t>兩天，把色彩、設計與教學力一次練成。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COURSE 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課程總覽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8A7A6A"/>
                </a:solidFill>
                <a:latin typeface="微軟正黑體"/>
              </a:rPr>
              <a:t>連續兩天密集班——從進階色彩學、設計規劃，到大型八角板創作與貼鑽完成，最後進入作品解析與教學技巧引導。從「會畫」到「能教」，一次到位。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6587" y="315468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6587" y="347472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C97B84"/>
                </a:solidFill>
                <a:latin typeface="微軟正黑體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587" y="4462272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96E"/>
                </a:solidFill>
                <a:latin typeface="微軟正黑體"/>
              </a:rPr>
              <a:t>小時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587" y="489204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兩日密集實作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1227" y="315468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347472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C97B84"/>
                </a:solidFill>
                <a:latin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4462272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96E"/>
                </a:solidFill>
                <a:latin typeface="微軟正黑體"/>
              </a:rPr>
              <a:t>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489204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色彩×設計×教學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5867" y="315468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5867" y="347472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C97B84"/>
                </a:solidFill>
                <a:latin typeface="微軟正黑體"/>
              </a:rPr>
              <a:t>≤10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5867" y="4462272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96E"/>
                </a:solidFill>
                <a:latin typeface="微軟正黑體"/>
              </a:rPr>
              <a:t>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5867" y="489204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小班精緻教學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0507" y="315468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0507" y="347472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C97B84"/>
                </a:solidFill>
                <a:latin typeface="微軟正黑體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0507" y="4462272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96E"/>
                </a:solidFill>
                <a:latin typeface="微軟正黑體"/>
              </a:rPr>
              <a:t>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0507" y="489204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免費無限複訓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DAY 1  · 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403A"/>
                </a:solidFill>
                <a:latin typeface="微軟正黑體"/>
              </a:rPr>
              <a:t>第一天：打底與色彩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10512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A95C66"/>
                </a:solidFill>
                <a:latin typeface="微軟正黑體"/>
              </a:rPr>
              <a:t>進階色彩學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8600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複習並深化調色、配色原理，導入色彩心理學，建立自己的用色語言。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00400"/>
            <a:ext cx="640080" cy="640080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82112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A95C66"/>
                </a:solidFill>
                <a:latin typeface="微軟正黑體"/>
              </a:rPr>
              <a:t>構圖與設計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5760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規劃曼陀羅對稱結構與層次，於大型八角板上完成精準底稿。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572000"/>
            <a:ext cx="640080" cy="640080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53712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A95C66"/>
                </a:solidFill>
                <a:latin typeface="微軟正黑體"/>
              </a:rPr>
              <a:t>分層上色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02920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由底色到主視覺逐層堆疊，掌握漸層、暈染與層次處理。</a:t>
            </a:r>
          </a:p>
        </p:txBody>
      </p:sp>
      <p:pic>
        <p:nvPicPr>
          <p:cNvPr id="19" name="Picture 18" descr="470935_0.jpg"/>
          <p:cNvPicPr>
            <a:picLocks noChangeAspect="1"/>
          </p:cNvPicPr>
          <p:nvPr/>
        </p:nvPicPr>
        <p:blipFill>
          <a:blip r:embed="rId3"/>
          <a:srcRect l="13552" r="13758"/>
          <a:stretch>
            <a:fillRect/>
          </a:stretch>
        </p:blipFill>
        <p:spPr>
          <a:xfrm>
            <a:off x="6400800" y="1828800"/>
            <a:ext cx="2697480" cy="365760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20" name="Picture 19" descr="470938_0.jpg"/>
          <p:cNvPicPr>
            <a:picLocks noChangeAspect="1"/>
          </p:cNvPicPr>
          <p:nvPr/>
        </p:nvPicPr>
        <p:blipFill>
          <a:blip r:embed="rId4"/>
          <a:srcRect l="7022" r="7264"/>
          <a:stretch>
            <a:fillRect/>
          </a:stretch>
        </p:blipFill>
        <p:spPr>
          <a:xfrm>
            <a:off x="9235440" y="1828800"/>
            <a:ext cx="2697480" cy="365760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4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oup3.jpg"/>
          <p:cNvPicPr>
            <a:picLocks noChangeAspect="1"/>
          </p:cNvPicPr>
          <p:nvPr/>
        </p:nvPicPr>
        <p:blipFill>
          <a:blip r:embed="rId2"/>
          <a:srcRect t="5208" b="541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403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0" cy="6858000"/>
          </a:xfrm>
          <a:prstGeom prst="rect">
            <a:avLst/>
          </a:prstGeom>
          <a:solidFill>
            <a:srgbClr val="4A403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82296" cy="2423160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03120"/>
            <a:ext cx="7315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9A96E"/>
                </a:solidFill>
                <a:latin typeface="微軟正黑體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670048"/>
            <a:ext cx="7315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微軟正黑體"/>
              </a:rPr>
              <a:t>完成・貼鑽・解析・教學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33087"/>
            <a:ext cx="6858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BF6EF"/>
                </a:solidFill>
                <a:latin typeface="微軟正黑體"/>
              </a:rPr>
              <a:t>作品完成  ×  施華洛世奇貼鑽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BF6EF"/>
                </a:solidFill>
                <a:latin typeface="微軟正黑體"/>
              </a:rPr>
              <a:t>15 件作品解析  ×  教學引導訓練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DAY 2  · 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403A"/>
                </a:solidFill>
                <a:latin typeface="微軟正黑體"/>
              </a:rPr>
              <a:t>第二天：完成與教學力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56231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1051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立體畫法與完成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4028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8A7A6A"/>
                </a:solidFill>
                <a:latin typeface="微軟正黑體"/>
              </a:rPr>
              <a:t>以立體畫法強化層次張力，細修細節，邁向完成。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07791"/>
            <a:ext cx="548640" cy="54864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35223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89503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施華洛世奇貼鑽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19272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8A7A6A"/>
                </a:solidFill>
                <a:latin typeface="微軟正黑體"/>
              </a:rPr>
              <a:t>以珠寶膠、沾珠筆鑲嵌鑽飾，質感提升至參展水準。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986783"/>
            <a:ext cx="548640" cy="54864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14215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68496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作品解析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398264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8A7A6A"/>
                </a:solidFill>
                <a:latin typeface="微軟正黑體"/>
              </a:rPr>
              <a:t>解析 15 件作品範例，培養對色彩與內在狀態的洞察力。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065775"/>
            <a:ext cx="548640" cy="54864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93207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4748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教學引導訓練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477255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8A7A6A"/>
                </a:solidFill>
                <a:latin typeface="微軟正黑體"/>
              </a:rPr>
              <a:t>團體創作演練與教學引導，為開班授課做足準備。</a:t>
            </a:r>
          </a:p>
        </p:txBody>
      </p:sp>
      <p:pic>
        <p:nvPicPr>
          <p:cNvPr id="23" name="Picture 22" descr="470948_0.jpg"/>
          <p:cNvPicPr>
            <a:picLocks noChangeAspect="1"/>
          </p:cNvPicPr>
          <p:nvPr/>
        </p:nvPicPr>
        <p:blipFill>
          <a:blip r:embed="rId3"/>
          <a:srcRect l="2674" r="2674"/>
          <a:stretch>
            <a:fillRect/>
          </a:stretch>
        </p:blipFill>
        <p:spPr>
          <a:xfrm>
            <a:off x="6400800" y="1828800"/>
            <a:ext cx="2697480" cy="365760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24" name="Picture 23" descr="470947_0.jpg"/>
          <p:cNvPicPr>
            <a:picLocks noChangeAspect="1"/>
          </p:cNvPicPr>
          <p:nvPr/>
        </p:nvPicPr>
        <p:blipFill>
          <a:blip r:embed="rId4"/>
          <a:srcRect l="2674" r="2674"/>
          <a:stretch>
            <a:fillRect/>
          </a:stretch>
        </p:blipFill>
        <p:spPr>
          <a:xfrm>
            <a:off x="9235440" y="1828800"/>
            <a:ext cx="2697480" cy="365760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IN  THE  CLASSROOM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403A"/>
                </a:solidFill>
                <a:latin typeface="微軟正黑體"/>
              </a:rPr>
              <a:t>創作現場・第一屆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團體共學的氛圍裡，每一筆都是與自己對話的過程。</a:t>
            </a:r>
          </a:p>
        </p:txBody>
      </p:sp>
      <p:pic>
        <p:nvPicPr>
          <p:cNvPr id="7" name="Picture 6" descr="proc1.jpg"/>
          <p:cNvPicPr>
            <a:picLocks noChangeAspect="1"/>
          </p:cNvPicPr>
          <p:nvPr/>
        </p:nvPicPr>
        <p:blipFill>
          <a:blip r:embed="rId3"/>
          <a:srcRect t="5208" b="5208"/>
          <a:stretch>
            <a:fillRect/>
          </a:stretch>
        </p:blipFill>
        <p:spPr>
          <a:xfrm>
            <a:off x="403707" y="2057400"/>
            <a:ext cx="3611880" cy="41605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8" name="Picture 7" descr="proc2.jpg"/>
          <p:cNvPicPr>
            <a:picLocks noChangeAspect="1"/>
          </p:cNvPicPr>
          <p:nvPr/>
        </p:nvPicPr>
        <p:blipFill>
          <a:blip r:embed="rId4"/>
          <a:srcRect t="15833" b="16042"/>
          <a:stretch>
            <a:fillRect/>
          </a:stretch>
        </p:blipFill>
        <p:spPr>
          <a:xfrm>
            <a:off x="4289907" y="2057400"/>
            <a:ext cx="3611880" cy="41605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9" name="Picture 8" descr="group1.jpg"/>
          <p:cNvPicPr>
            <a:picLocks noChangeAspect="1"/>
          </p:cNvPicPr>
          <p:nvPr/>
        </p:nvPicPr>
        <p:blipFill>
          <a:blip r:embed="rId5"/>
          <a:srcRect l="25671" r="25788"/>
          <a:stretch>
            <a:fillRect/>
          </a:stretch>
        </p:blipFill>
        <p:spPr>
          <a:xfrm>
            <a:off x="8176107" y="2057400"/>
            <a:ext cx="3611880" cy="41605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IN  THE  CLASSROOM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403A"/>
                </a:solidFill>
                <a:latin typeface="微軟正黑體"/>
              </a:rPr>
              <a:t>創作現場・第二屆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從打底、上色到細節堆疊——專注，是最美的姿態。</a:t>
            </a:r>
          </a:p>
        </p:txBody>
      </p:sp>
      <p:pic>
        <p:nvPicPr>
          <p:cNvPr id="7" name="Picture 6" descr="470935_0.jpg"/>
          <p:cNvPicPr>
            <a:picLocks noChangeAspect="1"/>
          </p:cNvPicPr>
          <p:nvPr/>
        </p:nvPicPr>
        <p:blipFill>
          <a:blip r:embed="rId3"/>
          <a:srcRect l="7187" r="7392"/>
          <a:stretch>
            <a:fillRect/>
          </a:stretch>
        </p:blipFill>
        <p:spPr>
          <a:xfrm>
            <a:off x="403707" y="2057400"/>
            <a:ext cx="3611880" cy="41605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8" name="Picture 7" descr="470939_0.jpg"/>
          <p:cNvPicPr>
            <a:picLocks noChangeAspect="1"/>
          </p:cNvPicPr>
          <p:nvPr/>
        </p:nvPicPr>
        <p:blipFill>
          <a:blip r:embed="rId4"/>
          <a:srcRect t="2500" b="2500"/>
          <a:stretch>
            <a:fillRect/>
          </a:stretch>
        </p:blipFill>
        <p:spPr>
          <a:xfrm>
            <a:off x="4289907" y="2057400"/>
            <a:ext cx="3611880" cy="41605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9" name="Picture 8" descr="470943_0.jpg"/>
          <p:cNvPicPr>
            <a:picLocks noChangeAspect="1"/>
          </p:cNvPicPr>
          <p:nvPr/>
        </p:nvPicPr>
        <p:blipFill>
          <a:blip r:embed="rId5"/>
          <a:srcRect t="8542" b="8542"/>
          <a:stretch>
            <a:fillRect/>
          </a:stretch>
        </p:blipFill>
        <p:spPr>
          <a:xfrm>
            <a:off x="8176107" y="2057400"/>
            <a:ext cx="3611880" cy="41605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IN  THE  CLASSROOM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403A"/>
                </a:solidFill>
                <a:latin typeface="微軟正黑體"/>
              </a:rPr>
              <a:t>創作現場・第三屆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大型八角板上的曼陀羅，在指尖與色彩間慢慢綻放。</a:t>
            </a:r>
          </a:p>
        </p:txBody>
      </p:sp>
      <p:pic>
        <p:nvPicPr>
          <p:cNvPr id="7" name="Picture 6" descr="470944_0.jpg"/>
          <p:cNvPicPr>
            <a:picLocks noChangeAspect="1"/>
          </p:cNvPicPr>
          <p:nvPr/>
        </p:nvPicPr>
        <p:blipFill>
          <a:blip r:embed="rId3"/>
          <a:srcRect t="7292" b="7292"/>
          <a:stretch>
            <a:fillRect/>
          </a:stretch>
        </p:blipFill>
        <p:spPr>
          <a:xfrm>
            <a:off x="403707" y="2057400"/>
            <a:ext cx="3611880" cy="41605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8" name="Picture 7" descr="470945_0.jpg"/>
          <p:cNvPicPr>
            <a:picLocks noChangeAspect="1"/>
          </p:cNvPicPr>
          <p:nvPr/>
        </p:nvPicPr>
        <p:blipFill>
          <a:blip r:embed="rId4"/>
          <a:srcRect l="3146" r="3371"/>
          <a:stretch>
            <a:fillRect/>
          </a:stretch>
        </p:blipFill>
        <p:spPr>
          <a:xfrm>
            <a:off x="4289907" y="2057400"/>
            <a:ext cx="3611880" cy="41605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9" name="Picture 8" descr="470946_0.jpg"/>
          <p:cNvPicPr>
            <a:picLocks noChangeAspect="1"/>
          </p:cNvPicPr>
          <p:nvPr/>
        </p:nvPicPr>
        <p:blipFill>
          <a:blip r:embed="rId5"/>
          <a:srcRect t="7917" b="8125"/>
          <a:stretch>
            <a:fillRect/>
          </a:stretch>
        </p:blipFill>
        <p:spPr>
          <a:xfrm>
            <a:off x="8176107" y="2057400"/>
            <a:ext cx="3611880" cy="41605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CERTIFICATION 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一級講師考核必備技巧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272887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84048" cy="80467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7" y="1600200"/>
            <a:ext cx="182880" cy="8046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34747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95C66"/>
                </a:solidFill>
                <a:latin typeface="微軟正黑體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673352"/>
            <a:ext cx="465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95C66"/>
                </a:solidFill>
                <a:latin typeface="微軟正黑體"/>
              </a:rPr>
              <a:t>素材全平面打底上色技法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2057400"/>
            <a:ext cx="461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整塊素材以平塗方式均勻上色，色層飽和、不露白底。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14600"/>
            <a:ext cx="5272887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514600"/>
            <a:ext cx="384048" cy="80467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7" y="2514600"/>
            <a:ext cx="182880" cy="8046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715768"/>
            <a:ext cx="34747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95C66"/>
                </a:solidFill>
                <a:latin typeface="微軟正黑體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2587752"/>
            <a:ext cx="465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95C66"/>
                </a:solidFill>
                <a:latin typeface="微軟正黑體"/>
              </a:rPr>
              <a:t>原創設計構圖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2971800"/>
            <a:ext cx="461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自行設計曼陀羅構圖，展示個人創作能力與設計思維。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29000"/>
            <a:ext cx="5272887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429000"/>
            <a:ext cx="384048" cy="80467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7" y="3429000"/>
            <a:ext cx="182880" cy="8046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30168"/>
            <a:ext cx="34747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95C66"/>
                </a:solidFill>
                <a:latin typeface="微軟正黑體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3502152"/>
            <a:ext cx="465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95C66"/>
                </a:solidFill>
                <a:latin typeface="微軟正黑體"/>
              </a:rPr>
              <a:t>圖案設計平塗打底技法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3886200"/>
            <a:ext cx="461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在圖案色塊內以平塗技法完整打底（位置不限，需出現）。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43400"/>
            <a:ext cx="5272887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343400"/>
            <a:ext cx="384048" cy="80467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7" y="4343400"/>
            <a:ext cx="182880" cy="8046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544568"/>
            <a:ext cx="34747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95C66"/>
                </a:solidFill>
                <a:latin typeface="微軟正黑體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" y="4416552"/>
            <a:ext cx="465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95C66"/>
                </a:solidFill>
                <a:latin typeface="微軟正黑體"/>
              </a:rPr>
              <a:t>大的平頭筆圓點技法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4800600"/>
            <a:ext cx="461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使用平頭筆製作大圓點，點型要圓潤飽滿、大小一致。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257800"/>
            <a:ext cx="5272887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5257800"/>
            <a:ext cx="384048" cy="80467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7" y="5257800"/>
            <a:ext cx="182880" cy="8046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458968"/>
            <a:ext cx="34747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95C66"/>
                </a:solidFill>
                <a:latin typeface="微軟正黑體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5330952"/>
            <a:ext cx="465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95C66"/>
                </a:solidFill>
                <a:latin typeface="微軟正黑體"/>
              </a:rPr>
              <a:t>大圓點上方重疊技法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" y="5715000"/>
            <a:ext cx="461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在大圓點上疊加其他圖案或多色，展現豐富層次感。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78727" y="1600200"/>
            <a:ext cx="5272887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78727" y="1600200"/>
            <a:ext cx="384048" cy="80467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79895" y="1600200"/>
            <a:ext cx="182880" cy="8046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7015" y="1801368"/>
            <a:ext cx="34747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95C66"/>
                </a:solidFill>
                <a:latin typeface="微軟正黑體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72503" y="1673352"/>
            <a:ext cx="465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95C66"/>
                </a:solidFill>
                <a:latin typeface="微軟正黑體"/>
              </a:rPr>
              <a:t>圓珠筆由大到小圓點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0791" y="2057400"/>
            <a:ext cx="461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以圓珠筆排列由大到小漸變圓點，間距均勻、過渡自然。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78727" y="2514600"/>
            <a:ext cx="5272887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78727" y="2514600"/>
            <a:ext cx="384048" cy="80467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79895" y="2514600"/>
            <a:ext cx="182880" cy="8046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7015" y="2715768"/>
            <a:ext cx="34747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95C66"/>
                </a:solidFill>
                <a:latin typeface="微軟正黑體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72503" y="2587752"/>
            <a:ext cx="465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95C66"/>
                </a:solidFill>
                <a:latin typeface="微軟正黑體"/>
              </a:rPr>
              <a:t>圓珠筆均勻圓點技法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90791" y="2971800"/>
            <a:ext cx="461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以圓珠筆點出大小一致、排列整齊的均勻圓點。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78727" y="3429000"/>
            <a:ext cx="5272887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78727" y="3429000"/>
            <a:ext cx="384048" cy="80467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79895" y="3429000"/>
            <a:ext cx="182880" cy="8046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7015" y="3630168"/>
            <a:ext cx="34747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95C66"/>
                </a:solidFill>
                <a:latin typeface="微軟正黑體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72503" y="3502152"/>
            <a:ext cx="465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95C66"/>
                </a:solidFill>
                <a:latin typeface="微軟正黑體"/>
              </a:rPr>
              <a:t>圓珠筆逗點技法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90791" y="3886200"/>
            <a:ext cx="461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以圓珠筆拉出頭圓尾尖的逗點形狀，方向一致。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78727" y="4343400"/>
            <a:ext cx="5272887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278727" y="4343400"/>
            <a:ext cx="384048" cy="80467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79895" y="4343400"/>
            <a:ext cx="182880" cy="8046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7015" y="4544568"/>
            <a:ext cx="34747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95C66"/>
                </a:solidFill>
                <a:latin typeface="微軟正黑體"/>
              </a:rPr>
              <a:t>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72503" y="4416552"/>
            <a:ext cx="465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95C66"/>
                </a:solidFill>
                <a:latin typeface="微軟正黑體"/>
              </a:rPr>
              <a:t>長線筆逗點技法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90791" y="4800600"/>
            <a:ext cx="461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以長線筆拉出修長優雅的逗點線條，流暢不斷。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78727" y="5257800"/>
            <a:ext cx="5272887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278727" y="5257800"/>
            <a:ext cx="384048" cy="804672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79895" y="5257800"/>
            <a:ext cx="182880" cy="804672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97015" y="5458968"/>
            <a:ext cx="34747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95C66"/>
                </a:solidFill>
                <a:latin typeface="微軟正黑體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72503" y="5330952"/>
            <a:ext cx="465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95C66"/>
                </a:solidFill>
                <a:latin typeface="微軟正黑體"/>
              </a:rPr>
              <a:t>保護漆平塗技法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90791" y="5715000"/>
            <a:ext cx="461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微軟正黑體"/>
              </a:rPr>
              <a:t>作品完成後均勻塗抹保護漆，不留筆痕、全面覆蓋。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6172200"/>
            <a:ext cx="10911535" cy="594360"/>
          </a:xfrm>
          <a:prstGeom prst="round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6217920"/>
            <a:ext cx="105457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考核規定：上課結束當天起三個月內完成考核作品　　照片：素色背景，提供正面、側面、中央側面特寫三個角度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A403A"/>
                </a:solidFill>
                <a:latin typeface="微軟正黑體"/>
              </a:rPr>
              <a:t>證書費用：三個月內繳交 NT$3,500　　逾期繳交 NT$4,200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CERTIFICATION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一級講師・證書考核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2212848"/>
            <a:ext cx="548640" cy="548640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5856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0312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完成課程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54203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完成 22 小時完整課程訓練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9184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3584448"/>
            <a:ext cx="548640" cy="548640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3016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47472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提交作品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91363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提交一幅曼陀羅作品，展示課程所學技法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6344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4956048"/>
            <a:ext cx="548640" cy="548640"/>
          </a:xfrm>
          <a:prstGeom prst="ellipse">
            <a:avLst/>
          </a:prstGeom>
          <a:solidFill>
            <a:srgbClr val="C97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00176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84632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95C66"/>
                </a:solidFill>
                <a:latin typeface="微軟正黑體"/>
              </a:rPr>
              <a:t>通過考核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285231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7A6A"/>
                </a:solidFill>
                <a:latin typeface="微軟正黑體"/>
              </a:rPr>
              <a:t>作品經評核通過，取得一級講師資格</a:t>
            </a:r>
          </a:p>
        </p:txBody>
      </p:sp>
      <p:pic>
        <p:nvPicPr>
          <p:cNvPr id="22" name="Picture 21" descr="470949_0.jpg"/>
          <p:cNvPicPr>
            <a:picLocks noChangeAspect="1"/>
          </p:cNvPicPr>
          <p:nvPr/>
        </p:nvPicPr>
        <p:blipFill>
          <a:blip r:embed="rId3"/>
          <a:srcRect l="9892" r="10027"/>
          <a:stretch>
            <a:fillRect/>
          </a:stretch>
        </p:blipFill>
        <p:spPr>
          <a:xfrm>
            <a:off x="6492240" y="1920240"/>
            <a:ext cx="4846320" cy="39319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大型八角板・設計應用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8A7A6A"/>
                </a:solidFill>
                <a:latin typeface="微軟正黑體"/>
              </a:rPr>
              <a:t>一級課程的考核作品，是在「大型八角板」上完成的曼陀羅。八角的外形與 8 等分的放射結構天然契合，讓設計更顯大器。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273552"/>
            <a:ext cx="146304" cy="14630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72968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依八角造型，採 8 或 16 等分配置主結構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840480"/>
            <a:ext cx="146304" cy="14630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739896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主視覺集中於中心，四角與邊緣以小元素呼應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407408"/>
            <a:ext cx="146304" cy="14630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306824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善用明度漸層，讓中心向外自然遞變、富立體感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974336"/>
            <a:ext cx="146304" cy="14630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73752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鄰近色鋪底＋互補色點睛，凸顯中心焦點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541264"/>
            <a:ext cx="146304" cy="146304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4406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最後鑲嵌施華洛世奇鑽飾，提升質感與光澤</a:t>
            </a:r>
          </a:p>
        </p:txBody>
      </p:sp>
      <p:pic>
        <p:nvPicPr>
          <p:cNvPr id="18" name="Picture 17" descr="art_octagon_hq.jpg"/>
          <p:cNvPicPr>
            <a:picLocks noChangeAspect="1"/>
          </p:cNvPicPr>
          <p:nvPr/>
        </p:nvPicPr>
        <p:blipFill>
          <a:blip r:embed="rId3"/>
          <a:srcRect l="260" r="313"/>
          <a:stretch>
            <a:fillRect/>
          </a:stretch>
        </p:blipFill>
        <p:spPr>
          <a:xfrm>
            <a:off x="6675120" y="1600200"/>
            <a:ext cx="4663440" cy="457200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GRADUATION 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403A"/>
                </a:solidFill>
                <a:latin typeface="微軟正黑體"/>
              </a:rPr>
              <a:t>考核通過作品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完成 22 小時課程並通過考核——八角板木器 × 施華洛世奇鑽飾。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90575" y="1719072"/>
            <a:ext cx="3566160" cy="242316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t1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53314" y="1719072"/>
            <a:ext cx="1640681" cy="242316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4312767" y="1719072"/>
            <a:ext cx="3566160" cy="242316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rt2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14333" y="1719072"/>
            <a:ext cx="1363027" cy="242316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8134959" y="1719072"/>
            <a:ext cx="3566160" cy="242316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rt3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236525" y="1719072"/>
            <a:ext cx="1363027" cy="242316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490575" y="4251960"/>
            <a:ext cx="3566160" cy="242316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rt4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58215" y="4251960"/>
            <a:ext cx="3230880" cy="242316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4312767" y="4251960"/>
            <a:ext cx="3566160" cy="242316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rt5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312767" y="4442205"/>
            <a:ext cx="3566160" cy="2042669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7" name="Rectangle 16"/>
          <p:cNvSpPr/>
          <p:nvPr/>
        </p:nvSpPr>
        <p:spPr>
          <a:xfrm>
            <a:off x="8134959" y="4251960"/>
            <a:ext cx="3566160" cy="242316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rt6.jp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191091" y="4251960"/>
            <a:ext cx="1453895" cy="242316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GRADUATION  PRIDE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A403A"/>
                </a:solidFill>
                <a:latin typeface="微軟正黑體"/>
              </a:rPr>
              <a:t>學員成果・第一屆驕傲時刻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從一張底板，到捧在手心的完成作品——這是屬於你的里程碑。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90575" y="1719072"/>
            <a:ext cx="3566160" cy="242316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d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10404" y="1719072"/>
            <a:ext cx="1726501" cy="242316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4312767" y="1719072"/>
            <a:ext cx="3566160" cy="242316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d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194734" y="1719072"/>
            <a:ext cx="1802225" cy="242316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8134959" y="1719072"/>
            <a:ext cx="3566160" cy="242316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nd4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18486" y="1719072"/>
            <a:ext cx="1999106" cy="242316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490575" y="4251960"/>
            <a:ext cx="3566160" cy="242316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nst2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32751" y="4251960"/>
            <a:ext cx="2281808" cy="242316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4312767" y="4251960"/>
            <a:ext cx="3566160" cy="242316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nst3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081149" y="4251960"/>
            <a:ext cx="2029396" cy="242316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7" name="Rectangle 16"/>
          <p:cNvSpPr/>
          <p:nvPr/>
        </p:nvSpPr>
        <p:spPr>
          <a:xfrm>
            <a:off x="8134959" y="4251960"/>
            <a:ext cx="3566160" cy="242316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nst4.jp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661025" y="4251960"/>
            <a:ext cx="2514028" cy="242316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IN  THE  CLASSROOM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A403A"/>
                </a:solidFill>
                <a:latin typeface="微軟正黑體"/>
              </a:rPr>
              <a:t>學員成果・第二屆驕傲時刻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專注凝神的每一筆，化為最驕傲的一刻。</a:t>
            </a:r>
          </a:p>
        </p:txBody>
      </p:sp>
      <p:pic>
        <p:nvPicPr>
          <p:cNvPr id="7" name="Picture 6" descr="470940_0.jpg"/>
          <p:cNvPicPr>
            <a:picLocks noChangeAspect="1"/>
          </p:cNvPicPr>
          <p:nvPr/>
        </p:nvPicPr>
        <p:blipFill>
          <a:blip r:embed="rId3"/>
          <a:srcRect t="6042" b="6250"/>
          <a:stretch>
            <a:fillRect/>
          </a:stretch>
        </p:blipFill>
        <p:spPr>
          <a:xfrm>
            <a:off x="403707" y="2057400"/>
            <a:ext cx="3611880" cy="41605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8" name="Picture 7" descr="470941_0.jpg"/>
          <p:cNvPicPr>
            <a:picLocks noChangeAspect="1"/>
          </p:cNvPicPr>
          <p:nvPr/>
        </p:nvPicPr>
        <p:blipFill>
          <a:blip r:embed="rId4"/>
          <a:srcRect t="6667" b="6875"/>
          <a:stretch>
            <a:fillRect/>
          </a:stretch>
        </p:blipFill>
        <p:spPr>
          <a:xfrm>
            <a:off x="4289907" y="2057400"/>
            <a:ext cx="3611880" cy="41605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9" name="Picture 8" descr="470942_0.jpg"/>
          <p:cNvPicPr>
            <a:picLocks noChangeAspect="1"/>
          </p:cNvPicPr>
          <p:nvPr/>
        </p:nvPicPr>
        <p:blipFill>
          <a:blip r:embed="rId5"/>
          <a:srcRect t="10208" b="10208"/>
          <a:stretch>
            <a:fillRect/>
          </a:stretch>
        </p:blipFill>
        <p:spPr>
          <a:xfrm>
            <a:off x="8176107" y="2057400"/>
            <a:ext cx="3611880" cy="41605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GRADUATION  PRIDE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A403A"/>
                </a:solidFill>
                <a:latin typeface="微軟正黑體"/>
              </a:rPr>
              <a:t>學員成果・第三屆驕傲時刻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7A6A"/>
                </a:solidFill>
                <a:latin typeface="微軟正黑體"/>
              </a:rPr>
              <a:t>用色彩寫下屬於自己的美麗故事。</a:t>
            </a:r>
          </a:p>
        </p:txBody>
      </p:sp>
      <p:pic>
        <p:nvPicPr>
          <p:cNvPr id="7" name="Picture 6" descr="470952_0.jpg"/>
          <p:cNvPicPr>
            <a:picLocks noChangeAspect="1"/>
          </p:cNvPicPr>
          <p:nvPr/>
        </p:nvPicPr>
        <p:blipFill>
          <a:blip r:embed="rId3"/>
          <a:srcRect l="28846" r="28984"/>
          <a:stretch>
            <a:fillRect/>
          </a:stretch>
        </p:blipFill>
        <p:spPr>
          <a:xfrm>
            <a:off x="220827" y="2011680"/>
            <a:ext cx="2697480" cy="420624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8" name="Picture 7" descr="470954_0.jpg"/>
          <p:cNvPicPr>
            <a:picLocks noChangeAspect="1"/>
          </p:cNvPicPr>
          <p:nvPr/>
        </p:nvPicPr>
        <p:blipFill>
          <a:blip r:embed="rId4"/>
          <a:srcRect l="5764" r="5764"/>
          <a:stretch>
            <a:fillRect/>
          </a:stretch>
        </p:blipFill>
        <p:spPr>
          <a:xfrm>
            <a:off x="3238347" y="2011680"/>
            <a:ext cx="2697480" cy="420624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9" name="Picture 8" descr="470955_0.jpg"/>
          <p:cNvPicPr>
            <a:picLocks noChangeAspect="1"/>
          </p:cNvPicPr>
          <p:nvPr/>
        </p:nvPicPr>
        <p:blipFill>
          <a:blip r:embed="rId5"/>
          <a:srcRect l="1031" r="1134"/>
          <a:stretch>
            <a:fillRect/>
          </a:stretch>
        </p:blipFill>
        <p:spPr>
          <a:xfrm>
            <a:off x="6255867" y="2011680"/>
            <a:ext cx="2697480" cy="420624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10" name="Picture 9" descr="470956_0.jpg"/>
          <p:cNvPicPr>
            <a:picLocks noChangeAspect="1"/>
          </p:cNvPicPr>
          <p:nvPr/>
        </p:nvPicPr>
        <p:blipFill>
          <a:blip r:embed="rId6"/>
          <a:srcRect l="8401" r="8401"/>
          <a:stretch>
            <a:fillRect/>
          </a:stretch>
        </p:blipFill>
        <p:spPr>
          <a:xfrm>
            <a:off x="9273387" y="2011680"/>
            <a:ext cx="2697480" cy="420624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watercol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3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96E"/>
                </a:solidFill>
                <a:latin typeface="微軟正黑體"/>
              </a:rPr>
              <a:t>AFTER  GRADUATION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403A"/>
                </a:solidFill>
                <a:latin typeface="微軟正黑體"/>
              </a:rPr>
              <a:t>結業後・持續陪伴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2066543"/>
            <a:ext cx="256032" cy="256032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1783080"/>
            <a:ext cx="4389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免費教學輔導，陪你站穩講台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8892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3072384"/>
            <a:ext cx="256032" cy="256032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2788920"/>
            <a:ext cx="4389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以講師價進貨材料，適用教學販售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078224"/>
            <a:ext cx="256032" cy="256032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3794760"/>
            <a:ext cx="4389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三年內免學費複訓（僅收場地材料餐費）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0060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5084064"/>
            <a:ext cx="256032" cy="256032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81328" y="4800600"/>
            <a:ext cx="4389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教學助教機會，累積實戰經驗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78308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60" y="2066543"/>
            <a:ext cx="256032" cy="256032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1783080"/>
            <a:ext cx="4389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專屬師資群組即時支援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78892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37960" y="3072384"/>
            <a:ext cx="256032" cy="256032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2788920"/>
            <a:ext cx="4389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一級升級講師培訓考核通過，可教授二級講師培訓課程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79476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37960" y="4078224"/>
            <a:ext cx="256032" cy="256032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8" y="3794760"/>
            <a:ext cx="4389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課程已納入公務人員終身學習認證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80060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37960" y="5084064"/>
            <a:ext cx="256032" cy="256032"/>
          </a:xfrm>
          <a:prstGeom prst="ellipse">
            <a:avLst/>
          </a:prstGeom>
          <a:solidFill>
            <a:srgbClr val="9C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7728" y="4800600"/>
            <a:ext cx="4389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A403A"/>
                </a:solidFill>
                <a:latin typeface="微軟正黑體"/>
              </a:rPr>
              <a:t>年度師生成果展，增加曝光與資歷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1828800" y="1892808"/>
            <a:ext cx="853135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A95C66"/>
                </a:solidFill>
                <a:latin typeface="微軟正黑體"/>
              </a:rPr>
              <a:t>一起，從會畫到能教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81528"/>
            <a:ext cx="853135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A403A"/>
                </a:solidFill>
                <a:latin typeface="微軟正黑體"/>
              </a:rPr>
              <a:t>曼陀羅心靈彩繪・第十七屆一級講師課程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21608"/>
            <a:ext cx="85313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95C66"/>
                </a:solidFill>
                <a:latin typeface="微軟正黑體"/>
              </a:rPr>
              <a:t>台中・平日班　6/15（一）、6/16（二）　09:00–21:00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51960"/>
            <a:ext cx="85313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7A6A"/>
                </a:solidFill>
                <a:latin typeface="微軟正黑體"/>
              </a:rPr>
              <a:t>上課地點：台中市西屯區中康街 7 號（瑞恩悅琚）・小班制不超過 10 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